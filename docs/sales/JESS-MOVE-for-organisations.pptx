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constraints, not three features. Say them in order and stop — the next slide proves the first one. Do not open by explaining that we are pre-launch; that lands on slide nine as the terms of a deal, not as an apology.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wins or loses the room. Every competitor answers this question with a policy; we answer it with a missing field. Offer to let their engineers verify it live before you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recognise their own last purchase in one of these three cards, then make the architecture point. No borrowed industry statistics — every number in this deck is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Calendar titles carry client names, medical appointments and disciplinary meetings. This is the slide for the works council, the union and anybody who has been burned by a badge-and-app rollout.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 workforce spanning apprentices to people working past 65, this is usually the differentiator that decides it. Most step-count programmes are designed for the 18-39 band; 40-64 is where sedentary risk actually bites and it is usually a large part of the payroll.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Never let the right-hand column be heard as shipped. Say the words: these four are not built, and a design partner decides the order. Then say the small-organisation limitation out loud — a buyer who finds it after signing feels sold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Offer to run these live, on their laptop, in the meeting. It turns a trust conversation into a demonstration and almost no vendor in this category can do it. GET /api/system is a fifth if they want the platform invariants in one response.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this to their security lead early rather than defending it late. Closest gap to closing is the export archive — the data is already readable through the member endpoints and needs an archive wrapped around them. On the age gap: it bites a school far harder than an employer, and it is listed rather than argued away for exactly that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close, eight slides early. Do not promise a testimonial before there is a result to describe — the exchange is feedback now and a reference later, and only if it worked. The week-twelve exit is the line that gets this approved without a procurement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ten seats this is a £20 invoice, which is why the ten-seat minimum exists rather than being a sales preference. If they push on price, push back with the twelve-week exit instead of discounting.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weeks is short enough to approve without a procurement cycle and long enough to see whether behaviour changed. The exit clause is what makes it a small decision — lead with it if they hesitate.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ask, not on the product. The clinical boundary stays on the slide because it signals seriousness to a health-adjacent buyer rather than reading as a disclaimer.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A43"/>
        </a:solidFill>
      </p:bgPr>
    </p:bg>
    <p:spTree>
      <p:nvGrpSpPr>
        <p:cNvPr id="1" name=""/>
        <p:cNvGrpSpPr/>
        <p:nvPr/>
      </p:nvGrpSpPr>
      <p:grpSpPr>
        <a:xfrm>
          <a:off x="0" y="0"/>
          <a:ext cx="0" cy="0"/>
          <a:chOff x="0" y="0"/>
          <a:chExt cx="0" cy="0"/>
        </a:xfrm>
      </p:grpSpPr>
      <p:sp>
        <p:nvSpPr>
          <p:cNvPr id="2" name="Shape 0"/>
          <p:cNvSpPr/>
          <p:nvPr/>
        </p:nvSpPr>
        <p:spPr>
          <a:xfrm>
            <a:off x="731520" y="1234440"/>
            <a:ext cx="201168" cy="201168"/>
          </a:xfrm>
          <a:prstGeom prst="ellipse">
            <a:avLst/>
          </a:prstGeom>
          <a:solidFill>
            <a:srgbClr val="00A99D"/>
          </a:solidFill>
          <a:ln/>
        </p:spPr>
      </p:sp>
      <p:sp>
        <p:nvSpPr>
          <p:cNvPr id="3" name="Text 1"/>
          <p:cNvSpPr txBox="1"/>
          <p:nvPr/>
        </p:nvSpPr>
        <p:spPr>
          <a:xfrm>
            <a:off x="1078992" y="1170432"/>
            <a:ext cx="7315200" cy="365760"/>
          </a:xfrm>
          <a:prstGeom prst="rect">
            <a:avLst/>
          </a:prstGeom>
          <a:noFill/>
          <a:ln/>
        </p:spPr>
        <p:txBody>
          <a:bodyPr wrap="square" lIns="0" tIns="0" rIns="0" bIns="0" rtlCol="0" anchor="ctr"/>
          <a:lstStyle/>
          <a:p>
            <a:pPr indent="0" marL="0">
              <a:buNone/>
            </a:pPr>
            <a:r>
              <a:rPr lang="en-US" sz="1700" b="1" spc="500" kern="0" dirty="0">
                <a:solidFill>
                  <a:srgbClr val="FFFFFF"/>
                </a:solidFill>
                <a:latin typeface="Arial" pitchFamily="34" charset="0"/>
                <a:ea typeface="Arial" pitchFamily="34" charset="-122"/>
                <a:cs typeface="Arial" pitchFamily="34" charset="-120"/>
              </a:rPr>
              <a:t>JESS MOVE</a:t>
            </a:r>
            <a:endParaRPr lang="en-US" sz="1700" dirty="0"/>
          </a:p>
        </p:txBody>
      </p:sp>
      <p:sp>
        <p:nvSpPr>
          <p:cNvPr id="4" name="Text 2"/>
          <p:cNvSpPr txBox="1"/>
          <p:nvPr/>
        </p:nvSpPr>
        <p:spPr>
          <a:xfrm>
            <a:off x="731520" y="1783080"/>
            <a:ext cx="8778240" cy="2834640"/>
          </a:xfrm>
          <a:prstGeom prst="rect">
            <a:avLst/>
          </a:prstGeom>
          <a:noFill/>
          <a:ln/>
        </p:spPr>
        <p:txBody>
          <a:bodyPr wrap="square" lIns="0" tIns="0" rIns="0" bIns="0" rtlCol="0" anchor="ctr"/>
          <a:lstStyle/>
          <a:p>
            <a:pPr indent="0" marL="0">
              <a:lnSpc>
                <a:spcPts val="6000"/>
              </a:lnSpc>
              <a:buNone/>
            </a:pPr>
            <a:r>
              <a:rPr lang="en-US" sz="5400" b="1" dirty="0">
                <a:solidFill>
                  <a:srgbClr val="FFFFFF"/>
                </a:solidFill>
                <a:latin typeface="Cambria" pitchFamily="34" charset="0"/>
                <a:ea typeface="Cambria" pitchFamily="34" charset="-122"/>
                <a:cs typeface="Cambria" pitchFamily="34" charset="-120"/>
              </a:rPr>
              <a:t>Can’t spy.</a:t>
            </a:r>
            <a:endParaRPr lang="en-US" sz="5400" dirty="0"/>
          </a:p>
          <a:p>
            <a:pPr indent="0" marL="0">
              <a:lnSpc>
                <a:spcPts val="6000"/>
              </a:lnSpc>
              <a:buNone/>
            </a:pPr>
            <a:r>
              <a:rPr lang="en-US" sz="5400" b="1" dirty="0">
                <a:solidFill>
                  <a:srgbClr val="FFFFFF"/>
                </a:solidFill>
                <a:latin typeface="Cambria" pitchFamily="34" charset="0"/>
                <a:ea typeface="Cambria" pitchFamily="34" charset="-122"/>
                <a:cs typeface="Cambria" pitchFamily="34" charset="-120"/>
              </a:rPr>
              <a:t>Can’t nag.</a:t>
            </a:r>
            <a:endParaRPr lang="en-US" sz="5400" dirty="0"/>
          </a:p>
          <a:p>
            <a:pPr indent="0" marL="0">
              <a:lnSpc>
                <a:spcPts val="6000"/>
              </a:lnSpc>
              <a:buNone/>
            </a:pPr>
            <a:r>
              <a:rPr lang="en-US" sz="5400" b="1" dirty="0">
                <a:solidFill>
                  <a:srgbClr val="FFFFFF"/>
                </a:solidFill>
                <a:latin typeface="Cambria" pitchFamily="34" charset="0"/>
                <a:ea typeface="Cambria" pitchFamily="34" charset="-122"/>
                <a:cs typeface="Cambria" pitchFamily="34" charset="-120"/>
              </a:rPr>
              <a:t>Can’t exclude.</a:t>
            </a:r>
            <a:endParaRPr lang="en-US" sz="5400" dirty="0"/>
          </a:p>
        </p:txBody>
      </p:sp>
      <p:sp>
        <p:nvSpPr>
          <p:cNvPr id="5" name="Text 3"/>
          <p:cNvSpPr txBox="1"/>
          <p:nvPr/>
        </p:nvSpPr>
        <p:spPr>
          <a:xfrm>
            <a:off x="731520" y="4754880"/>
            <a:ext cx="7315200" cy="365760"/>
          </a:xfrm>
          <a:prstGeom prst="rect">
            <a:avLst/>
          </a:prstGeom>
          <a:noFill/>
          <a:ln/>
        </p:spPr>
        <p:txBody>
          <a:bodyPr wrap="square" lIns="0" tIns="0" rIns="0" bIns="0" rtlCol="0" anchor="ctr"/>
          <a:lstStyle/>
          <a:p>
            <a:pPr indent="0" marL="0">
              <a:buNone/>
            </a:pPr>
            <a:r>
              <a:rPr lang="en-US" sz="1800" i="1" dirty="0">
                <a:solidFill>
                  <a:srgbClr val="B7E436"/>
                </a:solidFill>
                <a:latin typeface="Calibri" pitchFamily="34" charset="0"/>
                <a:ea typeface="Calibri" pitchFamily="34" charset="-122"/>
                <a:cs typeface="Calibri" pitchFamily="34" charset="-120"/>
              </a:rPr>
              <a:t>Small Moves. Powerful Change.</a:t>
            </a:r>
            <a:endParaRPr lang="en-US" sz="1800" dirty="0"/>
          </a:p>
        </p:txBody>
      </p:sp>
      <p:sp>
        <p:nvSpPr>
          <p:cNvPr id="6" name="Text 4"/>
          <p:cNvSpPr txBox="1"/>
          <p:nvPr/>
        </p:nvSpPr>
        <p:spPr>
          <a:xfrm>
            <a:off x="731520" y="5303520"/>
            <a:ext cx="9509760" cy="822960"/>
          </a:xfrm>
          <a:prstGeom prst="rect">
            <a:avLst/>
          </a:prstGeom>
          <a:noFill/>
          <a:ln/>
        </p:spPr>
        <p:txBody>
          <a:bodyPr wrap="square" lIns="0" tIns="0" rIns="0" bIns="0" rtlCol="0" anchor="ctr"/>
          <a:lstStyle/>
          <a:p>
            <a:pPr indent="0" marL="0">
              <a:lnSpc>
                <a:spcPts val="2200"/>
              </a:lnSpc>
              <a:buNone/>
            </a:pPr>
            <a:r>
              <a:rPr lang="en-US" sz="1400" dirty="0">
                <a:solidFill>
                  <a:srgbClr val="B8C6D1"/>
                </a:solidFill>
                <a:latin typeface="Calibri" pitchFamily="34" charset="0"/>
                <a:ea typeface="Calibri" pitchFamily="34" charset="-122"/>
                <a:cs typeface="Calibri" pitchFamily="34" charset="-120"/>
              </a:rPr>
              <a:t>A movement and food-intelligence platform for your workforce. Those three are in the code, not the contract — and your engineers can check all three before you sign anything.</a:t>
            </a:r>
            <a:endParaRPr lang="en-US" sz="1400" dirty="0"/>
          </a:p>
        </p:txBody>
      </p:sp>
      <p:sp>
        <p:nvSpPr>
          <p:cNvPr id="7" name="Text 5"/>
          <p:cNvSpPr txBox="1"/>
          <p:nvPr/>
        </p:nvSpPr>
        <p:spPr>
          <a:xfrm>
            <a:off x="731520" y="6263640"/>
            <a:ext cx="7315200" cy="274320"/>
          </a:xfrm>
          <a:prstGeom prst="rect">
            <a:avLst/>
          </a:prstGeom>
          <a:noFill/>
          <a:ln/>
        </p:spPr>
        <p:txBody>
          <a:bodyPr wrap="square" lIns="0" tIns="0" rIns="0" bIns="0" rtlCol="0" anchor="ctr"/>
          <a:lstStyle/>
          <a:p>
            <a:pPr indent="0" marL="0">
              <a:buNone/>
            </a:pPr>
            <a:r>
              <a:rPr lang="en-US" sz="1100" spc="100" kern="0" dirty="0">
                <a:solidFill>
                  <a:srgbClr val="A7B8C6"/>
                </a:solidFill>
                <a:latin typeface="Arial" pitchFamily="34" charset="0"/>
                <a:ea typeface="Arial" pitchFamily="34" charset="-122"/>
                <a:cs typeface="Arial" pitchFamily="34" charset="-120"/>
              </a:rPr>
              <a:t>Design partner programme ·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02A43"/>
        </a:solidFill>
      </p:bgPr>
    </p:bg>
    <p:spTree>
      <p:nvGrpSpPr>
        <p:cNvPr id="1" name=""/>
        <p:cNvGrpSpPr/>
        <p:nvPr/>
      </p:nvGrpSpPr>
      <p:grpSpPr>
        <a:xfrm>
          <a:off x="0" y="0"/>
          <a:ext cx="0" cy="0"/>
          <a:chOff x="0" y="0"/>
          <a:chExt cx="0" cy="0"/>
        </a:xfrm>
      </p:grpSpPr>
      <p:sp>
        <p:nvSpPr>
          <p:cNvPr id="2" name="Shape 0"/>
          <p:cNvSpPr/>
          <p:nvPr/>
        </p:nvSpPr>
        <p:spPr>
          <a:xfrm>
            <a:off x="731520" y="690372"/>
            <a:ext cx="118872" cy="118872"/>
          </a:xfrm>
          <a:prstGeom prst="ellipse">
            <a:avLst/>
          </a:prstGeom>
          <a:solidFill>
            <a:srgbClr val="B7E436"/>
          </a:solidFill>
          <a:ln/>
        </p:spPr>
      </p:sp>
      <p:sp>
        <p:nvSpPr>
          <p:cNvPr id="3" name="Text 1"/>
          <p:cNvSpPr txBox="1"/>
          <p:nvPr/>
        </p:nvSpPr>
        <p:spPr>
          <a:xfrm>
            <a:off x="969264" y="640080"/>
            <a:ext cx="7315200" cy="274320"/>
          </a:xfrm>
          <a:prstGeom prst="rect">
            <a:avLst/>
          </a:prstGeom>
          <a:noFill/>
          <a:ln/>
        </p:spPr>
        <p:txBody>
          <a:bodyPr wrap="square" lIns="0" tIns="0" rIns="0" bIns="0" rtlCol="0" anchor="ctr"/>
          <a:lstStyle/>
          <a:p>
            <a:pPr indent="0" marL="0">
              <a:buNone/>
            </a:pPr>
            <a:r>
              <a:rPr lang="en-US" sz="1200" b="1" spc="200" kern="0" dirty="0">
                <a:solidFill>
                  <a:srgbClr val="B7E436"/>
                </a:solidFill>
                <a:latin typeface="Arial" pitchFamily="34" charset="0"/>
                <a:ea typeface="Arial" pitchFamily="34" charset="-122"/>
                <a:cs typeface="Arial" pitchFamily="34" charset="-120"/>
              </a:rPr>
              <a:t>THE QUESTION YOUR PEOPLE WILL ASK</a:t>
            </a:r>
            <a:endParaRPr lang="en-US" sz="1200" dirty="0"/>
          </a:p>
        </p:txBody>
      </p:sp>
      <p:sp>
        <p:nvSpPr>
          <p:cNvPr id="4" name="Text 2"/>
          <p:cNvSpPr txBox="1"/>
          <p:nvPr/>
        </p:nvSpPr>
        <p:spPr>
          <a:xfrm>
            <a:off x="731520" y="1051560"/>
            <a:ext cx="10698480" cy="100584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Can my employer see</a:t>
            </a:r>
            <a:endParaRPr lang="en-US" sz="3800" dirty="0"/>
          </a:p>
          <a:p>
            <a:pPr indent="0" marL="0">
              <a:buNone/>
            </a:pPr>
            <a:r>
              <a:rPr lang="en-US" sz="3800" b="1" dirty="0">
                <a:solidFill>
                  <a:srgbClr val="FFFFFF"/>
                </a:solidFill>
                <a:latin typeface="Cambria" pitchFamily="34" charset="0"/>
                <a:ea typeface="Cambria" pitchFamily="34" charset="-122"/>
                <a:cs typeface="Cambria" pitchFamily="34" charset="-120"/>
              </a:rPr>
              <a:t>what I did today?</a:t>
            </a:r>
            <a:endParaRPr lang="en-US" sz="3800" dirty="0"/>
          </a:p>
        </p:txBody>
      </p:sp>
      <p:sp>
        <p:nvSpPr>
          <p:cNvPr id="5" name="Text 3"/>
          <p:cNvSpPr txBox="1"/>
          <p:nvPr/>
        </p:nvSpPr>
        <p:spPr>
          <a:xfrm>
            <a:off x="731520" y="2697480"/>
            <a:ext cx="2743200" cy="1188720"/>
          </a:xfrm>
          <a:prstGeom prst="rect">
            <a:avLst/>
          </a:prstGeom>
          <a:noFill/>
          <a:ln/>
        </p:spPr>
        <p:txBody>
          <a:bodyPr wrap="square" lIns="0" tIns="0" rIns="0" bIns="0" rtlCol="0" anchor="ctr"/>
          <a:lstStyle/>
          <a:p>
            <a:pPr indent="0" marL="0">
              <a:buNone/>
            </a:pPr>
            <a:r>
              <a:rPr lang="en-US" sz="9200" b="1" dirty="0">
                <a:solidFill>
                  <a:srgbClr val="B7E436"/>
                </a:solidFill>
                <a:latin typeface="Cambria" pitchFamily="34" charset="0"/>
                <a:ea typeface="Cambria" pitchFamily="34" charset="-122"/>
                <a:cs typeface="Cambria" pitchFamily="34" charset="-120"/>
              </a:rPr>
              <a:t>No.</a:t>
            </a:r>
            <a:endParaRPr lang="en-US" sz="9200" dirty="0"/>
          </a:p>
        </p:txBody>
      </p:sp>
      <p:sp>
        <p:nvSpPr>
          <p:cNvPr id="6" name="Text 4"/>
          <p:cNvSpPr txBox="1"/>
          <p:nvPr/>
        </p:nvSpPr>
        <p:spPr>
          <a:xfrm>
            <a:off x="731520" y="3886200"/>
            <a:ext cx="4754880" cy="731520"/>
          </a:xfrm>
          <a:prstGeom prst="rect">
            <a:avLst/>
          </a:prstGeom>
          <a:noFill/>
          <a:ln/>
        </p:spPr>
        <p:txBody>
          <a:bodyPr wrap="square" lIns="0" tIns="0" rIns="0" bIns="0" rtlCol="0" anchor="ctr"/>
          <a:lstStyle/>
          <a:p>
            <a:pPr indent="0" marL="0">
              <a:lnSpc>
                <a:spcPts val="2200"/>
              </a:lnSpc>
              <a:buNone/>
            </a:pPr>
            <a:r>
              <a:rPr lang="en-US" sz="1500" dirty="0">
                <a:solidFill>
                  <a:srgbClr val="FFFFFF"/>
                </a:solidFill>
                <a:latin typeface="Calibri" pitchFamily="34" charset="0"/>
                <a:ea typeface="Calibri" pitchFamily="34" charset="-122"/>
                <a:cs typeface="Calibri" pitchFamily="34" charset="-120"/>
              </a:rPr>
              <a:t>Not restricted. Not audited. Not switchable by a super-admin. Absent.</a:t>
            </a:r>
            <a:endParaRPr lang="en-US" sz="1500" dirty="0"/>
          </a:p>
        </p:txBody>
      </p:sp>
      <p:sp>
        <p:nvSpPr>
          <p:cNvPr id="7" name="Text 5"/>
          <p:cNvSpPr txBox="1"/>
          <p:nvPr/>
        </p:nvSpPr>
        <p:spPr>
          <a:xfrm>
            <a:off x="731520" y="4892040"/>
            <a:ext cx="4206240" cy="274320"/>
          </a:xfrm>
          <a:prstGeom prst="rect">
            <a:avLst/>
          </a:prstGeom>
          <a:noFill/>
          <a:ln/>
        </p:spPr>
        <p:txBody>
          <a:bodyPr wrap="square" lIns="0" tIns="0" rIns="0" bIns="0" rtlCol="0" anchor="ctr"/>
          <a:lstStyle/>
          <a:p>
            <a:pPr indent="0" marL="0">
              <a:buNone/>
            </a:pPr>
            <a:r>
              <a:rPr lang="en-US" sz="1300" b="1" dirty="0">
                <a:solidFill>
                  <a:srgbClr val="B7E436"/>
                </a:solidFill>
                <a:latin typeface="Courier New" pitchFamily="34" charset="0"/>
                <a:ea typeface="Courier New" pitchFamily="34" charset="-122"/>
                <a:cs typeface="Courier New" pitchFamily="34" charset="-120"/>
              </a:rPr>
              <a:t>OrganisationReport</a:t>
            </a:r>
            <a:endParaRPr lang="en-US" sz="1300" dirty="0"/>
          </a:p>
        </p:txBody>
      </p:sp>
      <p:sp>
        <p:nvSpPr>
          <p:cNvPr id="8" name="Text 6"/>
          <p:cNvSpPr txBox="1"/>
          <p:nvPr/>
        </p:nvSpPr>
        <p:spPr>
          <a:xfrm>
            <a:off x="731520" y="5230368"/>
            <a:ext cx="4754880" cy="548640"/>
          </a:xfrm>
          <a:prstGeom prst="rect">
            <a:avLst/>
          </a:prstGeom>
          <a:noFill/>
          <a:ln/>
        </p:spPr>
        <p:txBody>
          <a:bodyPr wrap="square" lIns="0" tIns="0" rIns="0" bIns="0" rtlCol="0" anchor="ctr"/>
          <a:lstStyle/>
          <a:p>
            <a:pPr indent="0" marL="0">
              <a:lnSpc>
                <a:spcPts val="1800"/>
              </a:lnSpc>
              <a:buNone/>
            </a:pPr>
            <a:r>
              <a:rPr lang="en-US" sz="1200" dirty="0">
                <a:solidFill>
                  <a:srgbClr val="B8C6D1"/>
                </a:solidFill>
                <a:latin typeface="Calibri" pitchFamily="34" charset="0"/>
                <a:ea typeface="Calibri" pitchFamily="34" charset="-122"/>
                <a:cs typeface="Calibri" pitchFamily="34" charset="-120"/>
              </a:rPr>
              <a:t>apps/backend/src/groups/groups.logic.ts — the type your</a:t>
            </a:r>
            <a:endParaRPr lang="en-US" sz="1200" dirty="0"/>
          </a:p>
          <a:p>
            <a:pPr indent="0" marL="0">
              <a:lnSpc>
                <a:spcPts val="1800"/>
              </a:lnSpc>
              <a:buNone/>
            </a:pPr>
            <a:r>
              <a:rPr lang="en-US" sz="1200" dirty="0">
                <a:solidFill>
                  <a:srgbClr val="B8C6D1"/>
                </a:solidFill>
                <a:latin typeface="Calibri" pitchFamily="34" charset="0"/>
                <a:ea typeface="Calibri" pitchFamily="34" charset="-122"/>
                <a:cs typeface="Calibri" pitchFamily="34" charset="-120"/>
              </a:rPr>
              <a:t>engineers can read in five minutes.</a:t>
            </a:r>
            <a:endParaRPr lang="en-US" sz="1200" dirty="0"/>
          </a:p>
        </p:txBody>
      </p:sp>
      <p:sp>
        <p:nvSpPr>
          <p:cNvPr id="9" name="Shape 7"/>
          <p:cNvSpPr/>
          <p:nvPr/>
        </p:nvSpPr>
        <p:spPr>
          <a:xfrm>
            <a:off x="5760720" y="2377440"/>
            <a:ext cx="5669280" cy="3566160"/>
          </a:xfrm>
          <a:prstGeom prst="roundRect">
            <a:avLst>
              <a:gd name="adj" fmla="val 2051"/>
            </a:avLst>
          </a:prstGeom>
          <a:solidFill>
            <a:srgbClr val="1B3A54"/>
          </a:solidFill>
          <a:ln w="12700">
            <a:solidFill>
              <a:srgbClr val="1B3A54"/>
            </a:solidFill>
            <a:prstDash val="solid"/>
          </a:ln>
          <a:effectLst>
            <a:outerShdw sx="100000" sy="100000" kx="0" ky="0" algn="bl" rotWithShape="0" blurRad="127000" dist="508" dir="5400000">
              <a:srgbClr val="9AA8B4">
                <a:alpha val="25000"/>
              </a:srgbClr>
            </a:outerShdw>
          </a:effectLst>
        </p:spPr>
      </p:sp>
      <p:sp>
        <p:nvSpPr>
          <p:cNvPr id="10" name="Text 8"/>
          <p:cNvSpPr txBox="1"/>
          <p:nvPr/>
        </p:nvSpPr>
        <p:spPr>
          <a:xfrm>
            <a:off x="6172200" y="2651760"/>
            <a:ext cx="4846320" cy="320040"/>
          </a:xfrm>
          <a:prstGeom prst="rect">
            <a:avLst/>
          </a:prstGeom>
          <a:noFill/>
          <a:ln/>
        </p:spPr>
        <p:txBody>
          <a:bodyPr wrap="square" lIns="0" tIns="0" rIns="0" bIns="0" rtlCol="0" anchor="ctr"/>
          <a:lstStyle/>
          <a:p>
            <a:pPr indent="0" marL="0">
              <a:buNone/>
            </a:pPr>
            <a:r>
              <a:rPr lang="en-US" sz="1500" b="1" dirty="0">
                <a:solidFill>
                  <a:srgbClr val="B7E436"/>
                </a:solidFill>
                <a:latin typeface="Arial" pitchFamily="34" charset="0"/>
                <a:ea typeface="Arial" pitchFamily="34" charset="-122"/>
                <a:cs typeface="Arial" pitchFamily="34" charset="-120"/>
              </a:rPr>
              <a:t>Why that answer holds</a:t>
            </a:r>
            <a:endParaRPr lang="en-US" sz="1500" dirty="0"/>
          </a:p>
        </p:txBody>
      </p:sp>
      <p:sp>
        <p:nvSpPr>
          <p:cNvPr id="11" name="Text 9"/>
          <p:cNvSpPr txBox="1"/>
          <p:nvPr/>
        </p:nvSpPr>
        <p:spPr>
          <a:xfrm>
            <a:off x="6217920" y="3154680"/>
            <a:ext cx="4754880" cy="2560320"/>
          </a:xfrm>
          <a:prstGeom prst="rect">
            <a:avLst/>
          </a:prstGeom>
          <a:noFill/>
          <a:ln/>
        </p:spPr>
        <p:txBody>
          <a:bodyPr wrap="square" lIns="0" tIns="0" rIns="0" bIns="0" rtlCol="0" anchor="t"/>
          <a:lstStyle/>
          <a:p>
            <a:pPr marL="342900" indent="-342900">
              <a:lnSpc>
                <a:spcPts val="1700"/>
              </a:lnSpc>
              <a:spcAft>
                <a:spcPts val="1200"/>
              </a:spcAft>
              <a:buSzPct val="100000"/>
              <a:buChar char="•"/>
            </a:pPr>
            <a:r>
              <a:rPr lang="en-US" sz="1200" dirty="0">
                <a:solidFill>
                  <a:srgbClr val="D6E2EA"/>
                </a:solidFill>
                <a:latin typeface="Calibri" pitchFamily="34" charset="0"/>
                <a:ea typeface="Calibri" pitchFamily="34" charset="-122"/>
                <a:cs typeface="Calibri" pitchFamily="34" charset="-120"/>
              </a:rPr>
              <a:t>The report type has no field for a person. Size, participation, active count, median, suppression flag. A client asking for a name does not compile.</a:t>
            </a:r>
            <a:endParaRPr lang="en-US" sz="1200" dirty="0"/>
          </a:p>
          <a:p>
            <a:pPr marL="342900" indent="-342900">
              <a:lnSpc>
                <a:spcPts val="1700"/>
              </a:lnSpc>
              <a:spcAft>
                <a:spcPts val="1200"/>
              </a:spcAft>
              <a:buSzPct val="100000"/>
              <a:buChar char="•"/>
            </a:pPr>
            <a:r>
              <a:rPr lang="en-US" sz="1200" dirty="0">
                <a:solidFill>
                  <a:srgbClr val="D6E2EA"/>
                </a:solidFill>
                <a:latin typeface="Calibri" pitchFamily="34" charset="0"/>
                <a:ea typeface="Calibri" pitchFamily="34" charset="-122"/>
                <a:cs typeface="Calibri" pitchFamily="34" charset="-120"/>
              </a:rPr>
              <a:t>Permissions get granted when somebody senior asks. There is no permission to grant. Adding one means a schema change, a migration and a code review.</a:t>
            </a:r>
            <a:endParaRPr lang="en-US" sz="1200" dirty="0"/>
          </a:p>
          <a:p>
            <a:pPr marL="342900" indent="-342900">
              <a:lnSpc>
                <a:spcPts val="1700"/>
              </a:lnSpc>
              <a:buSzPct val="100000"/>
              <a:buChar char="•"/>
            </a:pPr>
            <a:r>
              <a:rPr lang="en-US" sz="1200" dirty="0">
                <a:solidFill>
                  <a:srgbClr val="D6E2EA"/>
                </a:solidFill>
                <a:latin typeface="Calibri" pitchFamily="34" charset="0"/>
                <a:ea typeface="Calibri" pitchFamily="34" charset="-122"/>
                <a:cs typeface="Calibri" pitchFamily="34" charset="-120"/>
              </a:rPr>
              <a:t>A cohort figure needs 8 contributing people. Below that it is null — not rounded, not estimated, not "approximately".</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31520" y="690372"/>
            <a:ext cx="118872" cy="118872"/>
          </a:xfrm>
          <a:prstGeom prst="ellipse">
            <a:avLst/>
          </a:prstGeom>
          <a:solidFill>
            <a:srgbClr val="00A99D"/>
          </a:solidFill>
          <a:ln/>
        </p:spPr>
      </p:sp>
      <p:sp>
        <p:nvSpPr>
          <p:cNvPr id="3" name="Text 1"/>
          <p:cNvSpPr txBox="1"/>
          <p:nvPr/>
        </p:nvSpPr>
        <p:spPr>
          <a:xfrm>
            <a:off x="969264" y="640080"/>
            <a:ext cx="7315200" cy="274320"/>
          </a:xfrm>
          <a:prstGeom prst="rect">
            <a:avLst/>
          </a:prstGeom>
          <a:noFill/>
          <a:ln/>
        </p:spPr>
        <p:txBody>
          <a:bodyPr wrap="square" lIns="0" tIns="0" rIns="0" bIns="0" rtlCol="0" anchor="ctr"/>
          <a:lstStyle/>
          <a:p>
            <a:pPr indent="0" marL="0">
              <a:buNone/>
            </a:pPr>
            <a:r>
              <a:rPr lang="en-US" sz="1200" b="1" spc="200" kern="0" dirty="0">
                <a:solidFill>
                  <a:srgbClr val="00A99D"/>
                </a:solidFill>
                <a:latin typeface="Arial" pitchFamily="34" charset="0"/>
                <a:ea typeface="Arial" pitchFamily="34" charset="-122"/>
                <a:cs typeface="Arial" pitchFamily="34" charset="-120"/>
              </a:rPr>
              <a:t>WHY THE LAST ONE FAILED</a:t>
            </a:r>
            <a:endParaRPr lang="en-US" sz="1200" dirty="0"/>
          </a:p>
        </p:txBody>
      </p:sp>
      <p:sp>
        <p:nvSpPr>
          <p:cNvPr id="4" name="Text 2"/>
          <p:cNvSpPr txBox="1"/>
          <p:nvPr/>
        </p:nvSpPr>
        <p:spPr>
          <a:xfrm>
            <a:off x="731520" y="1051560"/>
            <a:ext cx="10698480" cy="1005840"/>
          </a:xfrm>
          <a:prstGeom prst="rect">
            <a:avLst/>
          </a:prstGeom>
          <a:noFill/>
          <a:ln/>
        </p:spPr>
        <p:txBody>
          <a:bodyPr wrap="square" lIns="0" tIns="0" rIns="0" bIns="0" rtlCol="0" anchor="ctr"/>
          <a:lstStyle/>
          <a:p>
            <a:pPr indent="0" marL="0">
              <a:buNone/>
            </a:pPr>
            <a:r>
              <a:rPr lang="en-US" sz="3800" b="1" dirty="0">
                <a:solidFill>
                  <a:srgbClr val="102A43"/>
                </a:solidFill>
                <a:latin typeface="Cambria" pitchFamily="34" charset="0"/>
                <a:ea typeface="Cambria" pitchFamily="34" charset="-122"/>
                <a:cs typeface="Cambria" pitchFamily="34" charset="-120"/>
              </a:rPr>
              <a:t>You have bought this before.</a:t>
            </a:r>
            <a:endParaRPr lang="en-US" sz="3800" dirty="0"/>
          </a:p>
        </p:txBody>
      </p:sp>
      <p:sp>
        <p:nvSpPr>
          <p:cNvPr id="5" name="Shape 3"/>
          <p:cNvSpPr/>
          <p:nvPr/>
        </p:nvSpPr>
        <p:spPr>
          <a:xfrm>
            <a:off x="731520" y="2377440"/>
            <a:ext cx="3502152" cy="2377440"/>
          </a:xfrm>
          <a:prstGeom prst="roundRect">
            <a:avLst>
              <a:gd name="adj" fmla="val 3077"/>
            </a:avLst>
          </a:prstGeom>
          <a:solidFill>
            <a:srgbClr val="F4F7F9"/>
          </a:solidFill>
          <a:ln w="12700">
            <a:solidFill>
              <a:srgbClr val="F4F7F9"/>
            </a:solidFill>
            <a:prstDash val="solid"/>
          </a:ln>
          <a:effectLst>
            <a:outerShdw sx="100000" sy="100000" kx="0" ky="0" algn="bl" rotWithShape="0" blurRad="127000" dist="508" dir="5400000">
              <a:srgbClr val="9AA8B4">
                <a:alpha val="25000"/>
              </a:srgbClr>
            </a:outerShdw>
          </a:effectLst>
        </p:spPr>
      </p:sp>
      <p:sp>
        <p:nvSpPr>
          <p:cNvPr id="6" name="Text 4"/>
          <p:cNvSpPr txBox="1"/>
          <p:nvPr/>
        </p:nvSpPr>
        <p:spPr>
          <a:xfrm>
            <a:off x="1051560" y="2651760"/>
            <a:ext cx="2880360" cy="411480"/>
          </a:xfrm>
          <a:prstGeom prst="rect">
            <a:avLst/>
          </a:prstGeom>
          <a:noFill/>
          <a:ln/>
        </p:spPr>
        <p:txBody>
          <a:bodyPr wrap="square" lIns="0" tIns="0" rIns="0" bIns="0" rtlCol="0" anchor="ctr"/>
          <a:lstStyle/>
          <a:p>
            <a:pPr indent="0" marL="0">
              <a:buNone/>
            </a:pPr>
            <a:r>
              <a:rPr lang="en-US" sz="1800" b="1" dirty="0">
                <a:solidFill>
                  <a:srgbClr val="102A43"/>
                </a:solidFill>
                <a:latin typeface="Cambria" pitchFamily="34" charset="0"/>
                <a:ea typeface="Cambria" pitchFamily="34" charset="-122"/>
                <a:cs typeface="Cambria" pitchFamily="34" charset="-120"/>
              </a:rPr>
              <a:t>Nobody opened it</a:t>
            </a:r>
            <a:endParaRPr lang="en-US" sz="1800" dirty="0"/>
          </a:p>
        </p:txBody>
      </p:sp>
      <p:sp>
        <p:nvSpPr>
          <p:cNvPr id="7" name="Text 5"/>
          <p:cNvSpPr txBox="1"/>
          <p:nvPr/>
        </p:nvSpPr>
        <p:spPr>
          <a:xfrm>
            <a:off x="1051560" y="3200400"/>
            <a:ext cx="2880360" cy="1371600"/>
          </a:xfrm>
          <a:prstGeom prst="rect">
            <a:avLst/>
          </a:prstGeom>
          <a:noFill/>
          <a:ln/>
        </p:spPr>
        <p:txBody>
          <a:bodyPr wrap="square" lIns="0" tIns="0" rIns="0" bIns="0" rtlCol="0" anchor="t"/>
          <a:lstStyle/>
          <a:p>
            <a:pPr indent="0" marL="0">
              <a:lnSpc>
                <a:spcPts val="1900"/>
              </a:lnSpc>
              <a:buNone/>
            </a:pPr>
            <a:r>
              <a:rPr lang="en-US" sz="1250" dirty="0">
                <a:solidFill>
                  <a:srgbClr val="475663"/>
                </a:solidFill>
                <a:latin typeface="Calibri" pitchFamily="34" charset="0"/>
                <a:ea typeface="Calibri" pitchFamily="34" charset="-122"/>
                <a:cs typeface="Calibri" pitchFamily="34" charset="-120"/>
              </a:rPr>
              <a:t>Bought, announced, used enthusiastically for a fortnight, quietly abandoned. Renewal becomes a conversation about why.</a:t>
            </a:r>
            <a:endParaRPr lang="en-US" sz="1250" dirty="0"/>
          </a:p>
        </p:txBody>
      </p:sp>
      <p:sp>
        <p:nvSpPr>
          <p:cNvPr id="8" name="Shape 6"/>
          <p:cNvSpPr/>
          <p:nvPr/>
        </p:nvSpPr>
        <p:spPr>
          <a:xfrm>
            <a:off x="4389120" y="2377440"/>
            <a:ext cx="3502152" cy="2377440"/>
          </a:xfrm>
          <a:prstGeom prst="roundRect">
            <a:avLst>
              <a:gd name="adj" fmla="val 3077"/>
            </a:avLst>
          </a:prstGeom>
          <a:solidFill>
            <a:srgbClr val="F4F7F9"/>
          </a:solidFill>
          <a:ln w="12700">
            <a:solidFill>
              <a:srgbClr val="F4F7F9"/>
            </a:solidFill>
            <a:prstDash val="solid"/>
          </a:ln>
          <a:effectLst>
            <a:outerShdw sx="100000" sy="100000" kx="0" ky="0" algn="bl" rotWithShape="0" blurRad="127000" dist="508" dir="5400000">
              <a:srgbClr val="9AA8B4">
                <a:alpha val="25000"/>
              </a:srgbClr>
            </a:outerShdw>
          </a:effectLst>
        </p:spPr>
      </p:sp>
      <p:sp>
        <p:nvSpPr>
          <p:cNvPr id="9" name="Text 7"/>
          <p:cNvSpPr txBox="1"/>
          <p:nvPr/>
        </p:nvSpPr>
        <p:spPr>
          <a:xfrm>
            <a:off x="4709160" y="2651760"/>
            <a:ext cx="2880360" cy="411480"/>
          </a:xfrm>
          <a:prstGeom prst="rect">
            <a:avLst/>
          </a:prstGeom>
          <a:noFill/>
          <a:ln/>
        </p:spPr>
        <p:txBody>
          <a:bodyPr wrap="square" lIns="0" tIns="0" rIns="0" bIns="0" rtlCol="0" anchor="ctr"/>
          <a:lstStyle/>
          <a:p>
            <a:pPr indent="0" marL="0">
              <a:buNone/>
            </a:pPr>
            <a:r>
              <a:rPr lang="en-US" sz="1800" b="1" dirty="0">
                <a:solidFill>
                  <a:srgbClr val="102A43"/>
                </a:solidFill>
                <a:latin typeface="Cambria" pitchFamily="34" charset="0"/>
                <a:ea typeface="Cambria" pitchFamily="34" charset="-122"/>
                <a:cs typeface="Cambria" pitchFamily="34" charset="-120"/>
              </a:rPr>
              <a:t>Nobody trusted it</a:t>
            </a:r>
            <a:endParaRPr lang="en-US" sz="1800" dirty="0"/>
          </a:p>
        </p:txBody>
      </p:sp>
      <p:sp>
        <p:nvSpPr>
          <p:cNvPr id="10" name="Text 8"/>
          <p:cNvSpPr txBox="1"/>
          <p:nvPr/>
        </p:nvSpPr>
        <p:spPr>
          <a:xfrm>
            <a:off x="4709160" y="3200400"/>
            <a:ext cx="2880360" cy="1371600"/>
          </a:xfrm>
          <a:prstGeom prst="rect">
            <a:avLst/>
          </a:prstGeom>
          <a:noFill/>
          <a:ln/>
        </p:spPr>
        <p:txBody>
          <a:bodyPr wrap="square" lIns="0" tIns="0" rIns="0" bIns="0" rtlCol="0" anchor="t"/>
          <a:lstStyle/>
          <a:p>
            <a:pPr indent="0" marL="0">
              <a:lnSpc>
                <a:spcPts val="1900"/>
              </a:lnSpc>
              <a:buNone/>
            </a:pPr>
            <a:r>
              <a:rPr lang="en-US" sz="1250" dirty="0">
                <a:solidFill>
                  <a:srgbClr val="475663"/>
                </a:solidFill>
                <a:latin typeface="Calibri" pitchFamily="34" charset="0"/>
                <a:ea typeface="Calibri" pitchFamily="34" charset="-122"/>
                <a:cs typeface="Calibri" pitchFamily="34" charset="-120"/>
              </a:rPr>
              <a:t>Anything that can show an employer one person’s activity eventually will. Your people assume that, and behave accordingly.</a:t>
            </a:r>
            <a:endParaRPr lang="en-US" sz="1250" dirty="0"/>
          </a:p>
        </p:txBody>
      </p:sp>
      <p:sp>
        <p:nvSpPr>
          <p:cNvPr id="11" name="Shape 9"/>
          <p:cNvSpPr/>
          <p:nvPr/>
        </p:nvSpPr>
        <p:spPr>
          <a:xfrm>
            <a:off x="8046720" y="2377440"/>
            <a:ext cx="3502152" cy="2377440"/>
          </a:xfrm>
          <a:prstGeom prst="roundRect">
            <a:avLst>
              <a:gd name="adj" fmla="val 3077"/>
            </a:avLst>
          </a:prstGeom>
          <a:solidFill>
            <a:srgbClr val="F4F7F9"/>
          </a:solidFill>
          <a:ln w="12700">
            <a:solidFill>
              <a:srgbClr val="F4F7F9"/>
            </a:solidFill>
            <a:prstDash val="solid"/>
          </a:ln>
          <a:effectLst>
            <a:outerShdw sx="100000" sy="100000" kx="0" ky="0" algn="bl" rotWithShape="0" blurRad="127000" dist="508" dir="5400000">
              <a:srgbClr val="9AA8B4">
                <a:alpha val="25000"/>
              </a:srgbClr>
            </a:outerShdw>
          </a:effectLst>
        </p:spPr>
      </p:sp>
      <p:sp>
        <p:nvSpPr>
          <p:cNvPr id="12" name="Text 10"/>
          <p:cNvSpPr txBox="1"/>
          <p:nvPr/>
        </p:nvSpPr>
        <p:spPr>
          <a:xfrm>
            <a:off x="8366760" y="2651760"/>
            <a:ext cx="2880360" cy="411480"/>
          </a:xfrm>
          <a:prstGeom prst="rect">
            <a:avLst/>
          </a:prstGeom>
          <a:noFill/>
          <a:ln/>
        </p:spPr>
        <p:txBody>
          <a:bodyPr wrap="square" lIns="0" tIns="0" rIns="0" bIns="0" rtlCol="0" anchor="ctr"/>
          <a:lstStyle/>
          <a:p>
            <a:pPr indent="0" marL="0">
              <a:buNone/>
            </a:pPr>
            <a:r>
              <a:rPr lang="en-US" sz="1800" b="1" dirty="0">
                <a:solidFill>
                  <a:srgbClr val="102A43"/>
                </a:solidFill>
                <a:latin typeface="Cambria" pitchFamily="34" charset="0"/>
                <a:ea typeface="Cambria" pitchFamily="34" charset="-122"/>
                <a:cs typeface="Cambria" pitchFamily="34" charset="-120"/>
              </a:rPr>
              <a:t>It paid the already-fit</a:t>
            </a:r>
            <a:endParaRPr lang="en-US" sz="1800" dirty="0"/>
          </a:p>
        </p:txBody>
      </p:sp>
      <p:sp>
        <p:nvSpPr>
          <p:cNvPr id="13" name="Text 11"/>
          <p:cNvSpPr txBox="1"/>
          <p:nvPr/>
        </p:nvSpPr>
        <p:spPr>
          <a:xfrm>
            <a:off x="8366760" y="3200400"/>
            <a:ext cx="2880360" cy="1371600"/>
          </a:xfrm>
          <a:prstGeom prst="rect">
            <a:avLst/>
          </a:prstGeom>
          <a:noFill/>
          <a:ln/>
        </p:spPr>
        <p:txBody>
          <a:bodyPr wrap="square" lIns="0" tIns="0" rIns="0" bIns="0" rtlCol="0" anchor="t"/>
          <a:lstStyle/>
          <a:p>
            <a:pPr indent="0" marL="0">
              <a:lnSpc>
                <a:spcPts val="1900"/>
              </a:lnSpc>
              <a:buNone/>
            </a:pPr>
            <a:r>
              <a:rPr lang="en-US" sz="1250" dirty="0">
                <a:solidFill>
                  <a:srgbClr val="475663"/>
                </a:solidFill>
                <a:latin typeface="Calibri" pitchFamily="34" charset="0"/>
                <a:ea typeface="Calibri" pitchFamily="34" charset="-122"/>
                <a:cs typeface="Calibri" pitchFamily="34" charset="-120"/>
              </a:rPr>
              <a:t>Step challenges reward the people who needed them least. The employee who needed it most could not take part.</a:t>
            </a:r>
            <a:endParaRPr lang="en-US" sz="1250" dirty="0"/>
          </a:p>
        </p:txBody>
      </p:sp>
      <p:sp>
        <p:nvSpPr>
          <p:cNvPr id="14" name="Shape 12"/>
          <p:cNvSpPr/>
          <p:nvPr/>
        </p:nvSpPr>
        <p:spPr>
          <a:xfrm>
            <a:off x="731520" y="5029200"/>
            <a:ext cx="10698480" cy="1005840"/>
          </a:xfrm>
          <a:prstGeom prst="roundRect">
            <a:avLst>
              <a:gd name="adj" fmla="val 7273"/>
            </a:avLst>
          </a:prstGeom>
          <a:solidFill>
            <a:srgbClr val="102A43"/>
          </a:solidFill>
          <a:ln w="12700">
            <a:solidFill>
              <a:srgbClr val="102A43"/>
            </a:solidFill>
            <a:prstDash val="solid"/>
          </a:ln>
          <a:effectLst>
            <a:outerShdw sx="100000" sy="100000" kx="0" ky="0" algn="bl" rotWithShape="0" blurRad="127000" dist="508" dir="5400000">
              <a:srgbClr val="9AA8B4">
                <a:alpha val="25000"/>
              </a:srgbClr>
            </a:outerShdw>
          </a:effectLst>
        </p:spPr>
      </p:sp>
      <p:sp>
        <p:nvSpPr>
          <p:cNvPr id="15" name="Text 13"/>
          <p:cNvSpPr txBox="1"/>
          <p:nvPr/>
        </p:nvSpPr>
        <p:spPr>
          <a:xfrm>
            <a:off x="1097280" y="5285232"/>
            <a:ext cx="9966960" cy="548640"/>
          </a:xfrm>
          <a:prstGeom prst="rect">
            <a:avLst/>
          </a:prstGeom>
          <a:noFill/>
          <a:ln/>
        </p:spPr>
        <p:txBody>
          <a:bodyPr wrap="square" lIns="0" tIns="0" rIns="0" bIns="0" rtlCol="0" anchor="ctr"/>
          <a:lstStyle/>
          <a:p>
            <a:pPr indent="0" marL="0">
              <a:lnSpc>
                <a:spcPts val="2000"/>
              </a:lnSpc>
              <a:buNone/>
            </a:pPr>
            <a:r>
              <a:rPr lang="en-US" sz="1400" dirty="0">
                <a:solidFill>
                  <a:srgbClr val="FFFFFF"/>
                </a:solidFill>
                <a:latin typeface="Calibri" pitchFamily="34" charset="0"/>
                <a:ea typeface="Calibri" pitchFamily="34" charset="-122"/>
                <a:cs typeface="Calibri" pitchFamily="34" charset="-120"/>
              </a:rPr>
              <a:t>The second and third are architecture, not effort. No amount of internal comms fixes either one, and both were decided before a line of interface was written.</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31520" y="690372"/>
            <a:ext cx="118872" cy="118872"/>
          </a:xfrm>
          <a:prstGeom prst="ellipse">
            <a:avLst/>
          </a:prstGeom>
          <a:solidFill>
            <a:srgbClr val="00A99D"/>
          </a:solidFill>
          <a:ln/>
        </p:spPr>
      </p:sp>
      <p:sp>
        <p:nvSpPr>
          <p:cNvPr id="3" name="Text 1"/>
          <p:cNvSpPr txBox="1"/>
          <p:nvPr/>
        </p:nvSpPr>
        <p:spPr>
          <a:xfrm>
            <a:off x="969264" y="640080"/>
            <a:ext cx="7315200" cy="274320"/>
          </a:xfrm>
          <a:prstGeom prst="rect">
            <a:avLst/>
          </a:prstGeom>
          <a:noFill/>
          <a:ln/>
        </p:spPr>
        <p:txBody>
          <a:bodyPr wrap="square" lIns="0" tIns="0" rIns="0" bIns="0" rtlCol="0" anchor="ctr"/>
          <a:lstStyle/>
          <a:p>
            <a:pPr indent="0" marL="0">
              <a:buNone/>
            </a:pPr>
            <a:r>
              <a:rPr lang="en-US" sz="1200" b="1" spc="200" kern="0" dirty="0">
                <a:solidFill>
                  <a:srgbClr val="00A99D"/>
                </a:solidFill>
                <a:latin typeface="Arial" pitchFamily="34" charset="0"/>
                <a:ea typeface="Arial" pitchFamily="34" charset="-122"/>
                <a:cs typeface="Arial" pitchFamily="34" charset="-120"/>
              </a:rPr>
              <a:t>WHY ENGAGEMENT DOES NOT DECAY</a:t>
            </a:r>
            <a:endParaRPr lang="en-US" sz="1200" dirty="0"/>
          </a:p>
        </p:txBody>
      </p:sp>
      <p:sp>
        <p:nvSpPr>
          <p:cNvPr id="4" name="Text 2"/>
          <p:cNvSpPr txBox="1"/>
          <p:nvPr/>
        </p:nvSpPr>
        <p:spPr>
          <a:xfrm>
            <a:off x="731520" y="1051560"/>
            <a:ext cx="10698480" cy="1005840"/>
          </a:xfrm>
          <a:prstGeom prst="rect">
            <a:avLst/>
          </a:prstGeom>
          <a:noFill/>
          <a:ln/>
        </p:spPr>
        <p:txBody>
          <a:bodyPr wrap="square" lIns="0" tIns="0" rIns="0" bIns="0" rtlCol="0" anchor="ctr"/>
          <a:lstStyle/>
          <a:p>
            <a:pPr indent="0" marL="0">
              <a:buNone/>
            </a:pPr>
            <a:r>
              <a:rPr lang="en-US" sz="3800" b="1" dirty="0">
                <a:solidFill>
                  <a:srgbClr val="102A43"/>
                </a:solidFill>
                <a:latin typeface="Cambria" pitchFamily="34" charset="0"/>
                <a:ea typeface="Cambria" pitchFamily="34" charset="-122"/>
                <a:cs typeface="Cambria" pitchFamily="34" charset="-120"/>
              </a:rPr>
              <a:t>It knows when to say nothing.</a:t>
            </a:r>
            <a:endParaRPr lang="en-US" sz="3800" dirty="0"/>
          </a:p>
        </p:txBody>
      </p:sp>
      <p:sp>
        <p:nvSpPr>
          <p:cNvPr id="5" name="Text 3"/>
          <p:cNvSpPr txBox="1"/>
          <p:nvPr/>
        </p:nvSpPr>
        <p:spPr>
          <a:xfrm>
            <a:off x="731520" y="2103120"/>
            <a:ext cx="5669280" cy="1371600"/>
          </a:xfrm>
          <a:prstGeom prst="rect">
            <a:avLst/>
          </a:prstGeom>
          <a:noFill/>
          <a:ln/>
        </p:spPr>
        <p:txBody>
          <a:bodyPr wrap="square" lIns="0" tIns="0" rIns="0" bIns="0" rtlCol="0" anchor="ctr"/>
          <a:lstStyle/>
          <a:p>
            <a:pPr indent="0" marL="0">
              <a:lnSpc>
                <a:spcPts val="2300"/>
              </a:lnSpc>
              <a:buNone/>
            </a:pPr>
            <a:r>
              <a:rPr lang="en-US" sz="1450" dirty="0">
                <a:solidFill>
                  <a:srgbClr val="475663"/>
                </a:solidFill>
                <a:latin typeface="Calibri" pitchFamily="34" charset="0"/>
                <a:ea typeface="Calibri" pitchFamily="34" charset="-122"/>
                <a:cs typeface="Calibri" pitchFamily="34" charset="-120"/>
              </a:rPr>
              <a:t>A prompt delivered while somebody is driving costs attention, then trust, then the notification switch. After that the programme is over however good the advice was. So a block counts here as a success, not a failed delivery.</a:t>
            </a:r>
            <a:endParaRPr lang="en-US" sz="1450" dirty="0"/>
          </a:p>
        </p:txBody>
      </p:sp>
      <p:sp>
        <p:nvSpPr>
          <p:cNvPr id="6" name="Text 4"/>
          <p:cNvSpPr txBox="1"/>
          <p:nvPr/>
        </p:nvSpPr>
        <p:spPr>
          <a:xfrm>
            <a:off x="731520" y="3657600"/>
            <a:ext cx="5486400" cy="365760"/>
          </a:xfrm>
          <a:prstGeom prst="rect">
            <a:avLst/>
          </a:prstGeom>
          <a:noFill/>
          <a:ln/>
        </p:spPr>
        <p:txBody>
          <a:bodyPr wrap="square" lIns="0" tIns="0" rIns="0" bIns="0" rtlCol="0" anchor="ctr"/>
          <a:lstStyle/>
          <a:p>
            <a:pPr indent="0" marL="0">
              <a:buNone/>
            </a:pPr>
            <a:r>
              <a:rPr lang="en-US" sz="1500" b="1" dirty="0">
                <a:solidFill>
                  <a:srgbClr val="102A43"/>
                </a:solidFill>
                <a:latin typeface="Arial" pitchFamily="34" charset="0"/>
                <a:ea typeface="Arial" pitchFamily="34" charset="-122"/>
                <a:cs typeface="Arial" pitchFamily="34" charset="-120"/>
              </a:rPr>
              <a:t>What silences a prompt</a:t>
            </a:r>
            <a:endParaRPr lang="en-US" sz="1500" dirty="0"/>
          </a:p>
        </p:txBody>
      </p:sp>
      <p:sp>
        <p:nvSpPr>
          <p:cNvPr id="7" name="Text 5"/>
          <p:cNvSpPr txBox="1"/>
          <p:nvPr/>
        </p:nvSpPr>
        <p:spPr>
          <a:xfrm>
            <a:off x="731520" y="4069080"/>
            <a:ext cx="5577840" cy="17830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475663"/>
                </a:solidFill>
                <a:latin typeface="Calibri" pitchFamily="34" charset="0"/>
                <a:ea typeface="Calibri" pitchFamily="34" charset="-122"/>
                <a:cs typeface="Calibri" pitchFamily="34" charset="-120"/>
              </a:rPr>
              <a:t>Driving, from motion state rather than location</a:t>
            </a:r>
            <a:endParaRPr lang="en-US" sz="1300" dirty="0"/>
          </a:p>
          <a:p>
            <a:pPr marL="342900" indent="-342900">
              <a:spcAft>
                <a:spcPts val="600"/>
              </a:spcAft>
              <a:buSzPct val="100000"/>
              <a:buChar char="•"/>
            </a:pPr>
            <a:r>
              <a:rPr lang="en-US" sz="1300" dirty="0">
                <a:solidFill>
                  <a:srgbClr val="475663"/>
                </a:solidFill>
                <a:latin typeface="Calibri" pitchFamily="34" charset="0"/>
                <a:ea typeface="Calibri" pitchFamily="34" charset="-122"/>
                <a:cs typeface="Calibri" pitchFamily="34" charset="-120"/>
              </a:rPr>
              <a:t>On a call, in a lesson, or notifications turned off</a:t>
            </a:r>
            <a:endParaRPr lang="en-US" sz="1300" dirty="0"/>
          </a:p>
          <a:p>
            <a:pPr marL="342900" indent="-342900">
              <a:spcAft>
                <a:spcPts val="600"/>
              </a:spcAft>
              <a:buSzPct val="100000"/>
              <a:buChar char="•"/>
            </a:pPr>
            <a:r>
              <a:rPr lang="en-US" sz="1300" dirty="0">
                <a:solidFill>
                  <a:srgbClr val="475663"/>
                </a:solidFill>
                <a:latin typeface="Calibri" pitchFamily="34" charset="0"/>
                <a:ea typeface="Calibri" pitchFamily="34" charset="-122"/>
                <a:cs typeface="Calibri" pitchFamily="34" charset="-120"/>
              </a:rPr>
              <a:t>The daily cap, which differs by age band</a:t>
            </a:r>
            <a:endParaRPr lang="en-US" sz="1300" dirty="0"/>
          </a:p>
          <a:p>
            <a:pPr marL="342900" indent="-342900">
              <a:spcAft>
                <a:spcPts val="600"/>
              </a:spcAft>
              <a:buSzPct val="100000"/>
              <a:buChar char="•"/>
            </a:pPr>
            <a:r>
              <a:rPr lang="en-US" sz="1300" dirty="0">
                <a:solidFill>
                  <a:srgbClr val="475663"/>
                </a:solidFill>
                <a:latin typeface="Calibri" pitchFamily="34" charset="0"/>
                <a:ea typeface="Calibri" pitchFamily="34" charset="-122"/>
                <a:cs typeface="Calibri" pitchFamily="34" charset="-120"/>
              </a:rPr>
              <a:t>Quiet hours, the sleep window, or an active cooldown</a:t>
            </a:r>
            <a:endParaRPr lang="en-US" sz="1300" dirty="0"/>
          </a:p>
          <a:p>
            <a:pPr marL="342900" indent="-342900">
              <a:buSzPct val="100000"/>
              <a:buChar char="•"/>
            </a:pPr>
            <a:r>
              <a:rPr lang="en-US" sz="1300" dirty="0">
                <a:solidFill>
                  <a:srgbClr val="475663"/>
                </a:solidFill>
                <a:latin typeface="Calibri" pitchFamily="34" charset="0"/>
                <a:ea typeface="Calibri" pitchFamily="34" charset="-122"/>
                <a:cs typeface="Calibri" pitchFamily="34" charset="-120"/>
              </a:rPr>
              <a:t>A clinical rest flag, a safeguarding hold or a bereavement hold</a:t>
            </a:r>
            <a:endParaRPr lang="en-US" sz="1300" dirty="0"/>
          </a:p>
        </p:txBody>
      </p:sp>
      <p:sp>
        <p:nvSpPr>
          <p:cNvPr id="8" name="Shape 6"/>
          <p:cNvSpPr/>
          <p:nvPr/>
        </p:nvSpPr>
        <p:spPr>
          <a:xfrm>
            <a:off x="6675120" y="2103120"/>
            <a:ext cx="4754880" cy="3749040"/>
          </a:xfrm>
          <a:prstGeom prst="roundRect">
            <a:avLst>
              <a:gd name="adj" fmla="val 1951"/>
            </a:avLst>
          </a:prstGeom>
          <a:solidFill>
            <a:srgbClr val="102A43"/>
          </a:solidFill>
          <a:ln w="12700">
            <a:solidFill>
              <a:srgbClr val="102A43"/>
            </a:solidFill>
            <a:prstDash val="solid"/>
          </a:ln>
          <a:effectLst>
            <a:outerShdw sx="100000" sy="100000" kx="0" ky="0" algn="bl" rotWithShape="0" blurRad="127000" dist="508" dir="5400000">
              <a:srgbClr val="9AA8B4">
                <a:alpha val="25000"/>
              </a:srgbClr>
            </a:outerShdw>
          </a:effectLst>
        </p:spPr>
      </p:sp>
      <p:sp>
        <p:nvSpPr>
          <p:cNvPr id="9" name="Text 7"/>
          <p:cNvSpPr txBox="1"/>
          <p:nvPr/>
        </p:nvSpPr>
        <p:spPr>
          <a:xfrm>
            <a:off x="7040880" y="2423160"/>
            <a:ext cx="4114800" cy="822960"/>
          </a:xfrm>
          <a:prstGeom prst="rect">
            <a:avLst/>
          </a:prstGeom>
          <a:noFill/>
          <a:ln/>
        </p:spPr>
        <p:txBody>
          <a:bodyPr wrap="square" lIns="0" tIns="0" rIns="0" bIns="0" rtlCol="0" anchor="ctr"/>
          <a:lstStyle/>
          <a:p>
            <a:pPr indent="0" marL="0">
              <a:lnSpc>
                <a:spcPts val="2600"/>
              </a:lnSpc>
              <a:buNone/>
            </a:pPr>
            <a:r>
              <a:rPr lang="en-US" sz="2000" b="1" dirty="0">
                <a:solidFill>
                  <a:srgbClr val="FFFFFF"/>
                </a:solidFill>
                <a:latin typeface="Cambria" pitchFamily="34" charset="0"/>
                <a:ea typeface="Cambria" pitchFamily="34" charset="-122"/>
                <a:cs typeface="Cambria" pitchFamily="34" charset="-120"/>
              </a:rPr>
              <a:t>We read the calendar</a:t>
            </a:r>
            <a:endParaRPr lang="en-US" sz="2000" dirty="0"/>
          </a:p>
          <a:p>
            <a:pPr indent="0" marL="0">
              <a:lnSpc>
                <a:spcPts val="2600"/>
              </a:lnSpc>
              <a:buNone/>
            </a:pPr>
            <a:r>
              <a:rPr lang="en-US" sz="2000" b="1" dirty="0">
                <a:solidFill>
                  <a:srgbClr val="FFFFFF"/>
                </a:solidFill>
                <a:latin typeface="Cambria" pitchFamily="34" charset="0"/>
                <a:ea typeface="Cambria" pitchFamily="34" charset="-122"/>
                <a:cs typeface="Cambria" pitchFamily="34" charset="-120"/>
              </a:rPr>
              <a:t>without reading it</a:t>
            </a:r>
            <a:endParaRPr lang="en-US" sz="2000" dirty="0"/>
          </a:p>
        </p:txBody>
      </p:sp>
      <p:sp>
        <p:nvSpPr>
          <p:cNvPr id="10" name="Text 8"/>
          <p:cNvSpPr txBox="1"/>
          <p:nvPr/>
        </p:nvSpPr>
        <p:spPr>
          <a:xfrm>
            <a:off x="7040880" y="3383280"/>
            <a:ext cx="4023360" cy="731520"/>
          </a:xfrm>
          <a:prstGeom prst="rect">
            <a:avLst/>
          </a:prstGeom>
          <a:noFill/>
          <a:ln/>
        </p:spPr>
        <p:txBody>
          <a:bodyPr wrap="square" lIns="0" tIns="0" rIns="0" bIns="0" rtlCol="0" anchor="ctr"/>
          <a:lstStyle/>
          <a:p>
            <a:pPr indent="0" marL="0">
              <a:lnSpc>
                <a:spcPts val="1900"/>
              </a:lnSpc>
              <a:buNone/>
            </a:pPr>
            <a:r>
              <a:rPr lang="en-US" sz="1300" dirty="0">
                <a:solidFill>
                  <a:srgbClr val="D6E2EA"/>
                </a:solidFill>
                <a:latin typeface="Calibri" pitchFamily="34" charset="0"/>
                <a:ea typeface="Calibri" pitchFamily="34" charset="-122"/>
                <a:cs typeface="Calibri" pitchFamily="34" charset="-120"/>
              </a:rPr>
              <a:t>Start time, end time, busy or free, attendee count, whether it recurs. That is the whole list.</a:t>
            </a:r>
            <a:endParaRPr lang="en-US" sz="1300" dirty="0"/>
          </a:p>
        </p:txBody>
      </p:sp>
      <p:sp>
        <p:nvSpPr>
          <p:cNvPr id="11" name="Text 9"/>
          <p:cNvSpPr txBox="1"/>
          <p:nvPr/>
        </p:nvSpPr>
        <p:spPr>
          <a:xfrm>
            <a:off x="7040880" y="4251960"/>
            <a:ext cx="4023360" cy="1371600"/>
          </a:xfrm>
          <a:prstGeom prst="rect">
            <a:avLst/>
          </a:prstGeom>
          <a:noFill/>
          <a:ln/>
        </p:spPr>
        <p:txBody>
          <a:bodyPr wrap="square" lIns="0" tIns="0" rIns="0" bIns="0" rtlCol="0" anchor="ctr"/>
          <a:lstStyle/>
          <a:p>
            <a:pPr indent="0" marL="0">
              <a:lnSpc>
                <a:spcPts val="1900"/>
              </a:lnSpc>
              <a:buNone/>
            </a:pPr>
            <a:r>
              <a:rPr lang="en-US" sz="1250" i="1" dirty="0">
                <a:solidFill>
                  <a:srgbClr val="B7E436"/>
                </a:solidFill>
                <a:latin typeface="Calibri" pitchFamily="34" charset="0"/>
                <a:ea typeface="Calibri" pitchFamily="34" charset="-122"/>
                <a:cs typeface="Calibri" pitchFamily="34" charset="-120"/>
              </a:rPr>
              <a:t>The title is never transmitted, never logged, never sent to a model. It costs us accuracy — a one-to-one and a board review look identical to us — and we take the worse recommendation.</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31520" y="690372"/>
            <a:ext cx="118872" cy="118872"/>
          </a:xfrm>
          <a:prstGeom prst="ellipse">
            <a:avLst/>
          </a:prstGeom>
          <a:solidFill>
            <a:srgbClr val="00A99D"/>
          </a:solidFill>
          <a:ln/>
        </p:spPr>
      </p:sp>
      <p:sp>
        <p:nvSpPr>
          <p:cNvPr id="3" name="Text 1"/>
          <p:cNvSpPr txBox="1"/>
          <p:nvPr/>
        </p:nvSpPr>
        <p:spPr>
          <a:xfrm>
            <a:off x="969264" y="640080"/>
            <a:ext cx="7315200" cy="274320"/>
          </a:xfrm>
          <a:prstGeom prst="rect">
            <a:avLst/>
          </a:prstGeom>
          <a:noFill/>
          <a:ln/>
        </p:spPr>
        <p:txBody>
          <a:bodyPr wrap="square" lIns="0" tIns="0" rIns="0" bIns="0" rtlCol="0" anchor="ctr"/>
          <a:lstStyle/>
          <a:p>
            <a:pPr indent="0" marL="0">
              <a:buNone/>
            </a:pPr>
            <a:r>
              <a:rPr lang="en-US" sz="1200" b="1" spc="200" kern="0" dirty="0">
                <a:solidFill>
                  <a:srgbClr val="00A99D"/>
                </a:solidFill>
                <a:latin typeface="Arial" pitchFamily="34" charset="0"/>
                <a:ea typeface="Arial" pitchFamily="34" charset="-122"/>
                <a:cs typeface="Arial" pitchFamily="34" charset="-120"/>
              </a:rPr>
              <a:t>NOBODY IS EXCLUDED BY DESIGN</a:t>
            </a:r>
            <a:endParaRPr lang="en-US" sz="1200" dirty="0"/>
          </a:p>
        </p:txBody>
      </p:sp>
      <p:sp>
        <p:nvSpPr>
          <p:cNvPr id="4" name="Text 2"/>
          <p:cNvSpPr txBox="1"/>
          <p:nvPr/>
        </p:nvSpPr>
        <p:spPr>
          <a:xfrm>
            <a:off x="731520" y="1051560"/>
            <a:ext cx="10698480" cy="1005840"/>
          </a:xfrm>
          <a:prstGeom prst="rect">
            <a:avLst/>
          </a:prstGeom>
          <a:noFill/>
          <a:ln/>
        </p:spPr>
        <p:txBody>
          <a:bodyPr wrap="square" lIns="0" tIns="0" rIns="0" bIns="0" rtlCol="0" anchor="ctr"/>
          <a:lstStyle/>
          <a:p>
            <a:pPr indent="0" marL="0">
              <a:buNone/>
            </a:pPr>
            <a:r>
              <a:rPr lang="en-US" sz="3800" b="1" dirty="0">
                <a:solidFill>
                  <a:srgbClr val="102A43"/>
                </a:solidFill>
                <a:latin typeface="Cambria" pitchFamily="34" charset="0"/>
                <a:ea typeface="Cambria" pitchFamily="34" charset="-122"/>
                <a:cs typeface="Cambria" pitchFamily="34" charset="-120"/>
              </a:rPr>
              <a:t>Five variants, or it does not ship.</a:t>
            </a:r>
            <a:endParaRPr lang="en-US" sz="3800" dirty="0"/>
          </a:p>
        </p:txBody>
      </p:sp>
      <p:sp>
        <p:nvSpPr>
          <p:cNvPr id="5" name="Text 3"/>
          <p:cNvSpPr txBox="1"/>
          <p:nvPr/>
        </p:nvSpPr>
        <p:spPr>
          <a:xfrm>
            <a:off x="731520" y="2103120"/>
            <a:ext cx="10698480" cy="914400"/>
          </a:xfrm>
          <a:prstGeom prst="rect">
            <a:avLst/>
          </a:prstGeom>
          <a:noFill/>
          <a:ln/>
        </p:spPr>
        <p:txBody>
          <a:bodyPr wrap="square" lIns="0" tIns="0" rIns="0" bIns="0" rtlCol="0" anchor="ctr"/>
          <a:lstStyle/>
          <a:p>
            <a:pPr indent="0" marL="0">
              <a:lnSpc>
                <a:spcPts val="2300"/>
              </a:lnSpc>
              <a:buNone/>
            </a:pPr>
            <a:r>
              <a:rPr lang="en-US" sz="1450" dirty="0">
                <a:solidFill>
                  <a:srgbClr val="475663"/>
                </a:solidFill>
                <a:latin typeface="Calibri" pitchFamily="34" charset="0"/>
                <a:ea typeface="Calibri" pitchFamily="34" charset="-122"/>
                <a:cs typeface="Calibri" pitchFamily="34" charset="-120"/>
              </a:rPr>
              <a:t>Every movement exists as five separately authored variants. Not one version with things taken out — a good seated movement uses the chair. The publishing gate refuses anything less. No force-publish flag, no admin override.</a:t>
            </a:r>
            <a:endParaRPr lang="en-US" sz="1450" dirty="0"/>
          </a:p>
        </p:txBody>
      </p:sp>
      <p:sp>
        <p:nvSpPr>
          <p:cNvPr id="6" name="Shape 4"/>
          <p:cNvSpPr/>
          <p:nvPr/>
        </p:nvSpPr>
        <p:spPr>
          <a:xfrm>
            <a:off x="731520" y="3291840"/>
            <a:ext cx="1975104" cy="1371600"/>
          </a:xfrm>
          <a:prstGeom prst="roundRect">
            <a:avLst>
              <a:gd name="adj" fmla="val 5333"/>
            </a:avLst>
          </a:prstGeom>
          <a:solidFill>
            <a:srgbClr val="F4F7F9"/>
          </a:solidFill>
          <a:ln w="12700">
            <a:solidFill>
              <a:srgbClr val="F4F7F9"/>
            </a:solidFill>
            <a:prstDash val="solid"/>
          </a:ln>
          <a:effectLst>
            <a:outerShdw sx="100000" sy="100000" kx="0" ky="0" algn="bl" rotWithShape="0" blurRad="127000" dist="508" dir="5400000">
              <a:srgbClr val="9AA8B4">
                <a:alpha val="25000"/>
              </a:srgbClr>
            </a:outerShdw>
          </a:effectLst>
        </p:spPr>
      </p:sp>
      <p:sp>
        <p:nvSpPr>
          <p:cNvPr id="7" name="Text 5"/>
          <p:cNvSpPr txBox="1"/>
          <p:nvPr/>
        </p:nvSpPr>
        <p:spPr>
          <a:xfrm>
            <a:off x="1005840" y="3474720"/>
            <a:ext cx="457200" cy="411480"/>
          </a:xfrm>
          <a:prstGeom prst="rect">
            <a:avLst/>
          </a:prstGeom>
          <a:noFill/>
          <a:ln/>
        </p:spPr>
        <p:txBody>
          <a:bodyPr wrap="square" lIns="0" tIns="0" rIns="0" bIns="0" rtlCol="0" anchor="ctr"/>
          <a:lstStyle/>
          <a:p>
            <a:pPr indent="0" marL="0">
              <a:buNone/>
            </a:pPr>
            <a:r>
              <a:rPr lang="en-US" sz="2600" b="1" dirty="0">
                <a:solidFill>
                  <a:srgbClr val="00A99D"/>
                </a:solidFill>
                <a:latin typeface="Cambria" pitchFamily="34" charset="0"/>
                <a:ea typeface="Cambria" pitchFamily="34" charset="-122"/>
                <a:cs typeface="Cambria" pitchFamily="34" charset="-120"/>
              </a:rPr>
              <a:t>1</a:t>
            </a:r>
            <a:endParaRPr lang="en-US" sz="2600" dirty="0"/>
          </a:p>
        </p:txBody>
      </p:sp>
      <p:sp>
        <p:nvSpPr>
          <p:cNvPr id="8" name="Text 6"/>
          <p:cNvSpPr txBox="1"/>
          <p:nvPr/>
        </p:nvSpPr>
        <p:spPr>
          <a:xfrm>
            <a:off x="1005840" y="3950208"/>
            <a:ext cx="1426464" cy="594360"/>
          </a:xfrm>
          <a:prstGeom prst="rect">
            <a:avLst/>
          </a:prstGeom>
          <a:noFill/>
          <a:ln/>
        </p:spPr>
        <p:txBody>
          <a:bodyPr wrap="square" lIns="0" tIns="0" rIns="0" bIns="0" rtlCol="0" anchor="ctr"/>
          <a:lstStyle/>
          <a:p>
            <a:pPr indent="0" marL="0">
              <a:lnSpc>
                <a:spcPts val="1500"/>
              </a:lnSpc>
              <a:buNone/>
            </a:pPr>
            <a:r>
              <a:rPr lang="en-US" sz="1200" b="1" dirty="0">
                <a:solidFill>
                  <a:srgbClr val="102A43"/>
                </a:solidFill>
                <a:latin typeface="Arial" pitchFamily="34" charset="0"/>
                <a:ea typeface="Arial" pitchFamily="34" charset="-122"/>
                <a:cs typeface="Arial" pitchFamily="34" charset="-120"/>
              </a:rPr>
              <a:t>Standing</a:t>
            </a:r>
            <a:endParaRPr lang="en-US" sz="1200" dirty="0"/>
          </a:p>
        </p:txBody>
      </p:sp>
      <p:sp>
        <p:nvSpPr>
          <p:cNvPr id="9" name="Shape 7"/>
          <p:cNvSpPr/>
          <p:nvPr/>
        </p:nvSpPr>
        <p:spPr>
          <a:xfrm>
            <a:off x="2862072" y="3291840"/>
            <a:ext cx="1975104" cy="1371600"/>
          </a:xfrm>
          <a:prstGeom prst="roundRect">
            <a:avLst>
              <a:gd name="adj" fmla="val 5333"/>
            </a:avLst>
          </a:prstGeom>
          <a:solidFill>
            <a:srgbClr val="F4F7F9"/>
          </a:solidFill>
          <a:ln w="12700">
            <a:solidFill>
              <a:srgbClr val="F4F7F9"/>
            </a:solidFill>
            <a:prstDash val="solid"/>
          </a:ln>
          <a:effectLst>
            <a:outerShdw sx="100000" sy="100000" kx="0" ky="0" algn="bl" rotWithShape="0" blurRad="127000" dist="508" dir="5400000">
              <a:srgbClr val="9AA8B4">
                <a:alpha val="25000"/>
              </a:srgbClr>
            </a:outerShdw>
          </a:effectLst>
        </p:spPr>
      </p:sp>
      <p:sp>
        <p:nvSpPr>
          <p:cNvPr id="10" name="Text 8"/>
          <p:cNvSpPr txBox="1"/>
          <p:nvPr/>
        </p:nvSpPr>
        <p:spPr>
          <a:xfrm>
            <a:off x="3136392" y="3474720"/>
            <a:ext cx="457200" cy="411480"/>
          </a:xfrm>
          <a:prstGeom prst="rect">
            <a:avLst/>
          </a:prstGeom>
          <a:noFill/>
          <a:ln/>
        </p:spPr>
        <p:txBody>
          <a:bodyPr wrap="square" lIns="0" tIns="0" rIns="0" bIns="0" rtlCol="0" anchor="ctr"/>
          <a:lstStyle/>
          <a:p>
            <a:pPr indent="0" marL="0">
              <a:buNone/>
            </a:pPr>
            <a:r>
              <a:rPr lang="en-US" sz="2600" b="1" dirty="0">
                <a:solidFill>
                  <a:srgbClr val="00A99D"/>
                </a:solidFill>
                <a:latin typeface="Cambria" pitchFamily="34" charset="0"/>
                <a:ea typeface="Cambria" pitchFamily="34" charset="-122"/>
                <a:cs typeface="Cambria" pitchFamily="34" charset="-120"/>
              </a:rPr>
              <a:t>2</a:t>
            </a:r>
            <a:endParaRPr lang="en-US" sz="2600" dirty="0"/>
          </a:p>
        </p:txBody>
      </p:sp>
      <p:sp>
        <p:nvSpPr>
          <p:cNvPr id="11" name="Text 9"/>
          <p:cNvSpPr txBox="1"/>
          <p:nvPr/>
        </p:nvSpPr>
        <p:spPr>
          <a:xfrm>
            <a:off x="3136392" y="3950208"/>
            <a:ext cx="1426464" cy="594360"/>
          </a:xfrm>
          <a:prstGeom prst="rect">
            <a:avLst/>
          </a:prstGeom>
          <a:noFill/>
          <a:ln/>
        </p:spPr>
        <p:txBody>
          <a:bodyPr wrap="square" lIns="0" tIns="0" rIns="0" bIns="0" rtlCol="0" anchor="ctr"/>
          <a:lstStyle/>
          <a:p>
            <a:pPr indent="0" marL="0">
              <a:lnSpc>
                <a:spcPts val="1500"/>
              </a:lnSpc>
              <a:buNone/>
            </a:pPr>
            <a:r>
              <a:rPr lang="en-US" sz="1200" b="1" dirty="0">
                <a:solidFill>
                  <a:srgbClr val="102A43"/>
                </a:solidFill>
                <a:latin typeface="Arial" pitchFamily="34" charset="0"/>
                <a:ea typeface="Arial" pitchFamily="34" charset="-122"/>
                <a:cs typeface="Arial" pitchFamily="34" charset="-120"/>
              </a:rPr>
              <a:t>Seated</a:t>
            </a:r>
            <a:endParaRPr lang="en-US" sz="1200" dirty="0"/>
          </a:p>
        </p:txBody>
      </p:sp>
      <p:sp>
        <p:nvSpPr>
          <p:cNvPr id="12" name="Shape 10"/>
          <p:cNvSpPr/>
          <p:nvPr/>
        </p:nvSpPr>
        <p:spPr>
          <a:xfrm>
            <a:off x="4992624" y="3291840"/>
            <a:ext cx="1975104" cy="1371600"/>
          </a:xfrm>
          <a:prstGeom prst="roundRect">
            <a:avLst>
              <a:gd name="adj" fmla="val 5333"/>
            </a:avLst>
          </a:prstGeom>
          <a:solidFill>
            <a:srgbClr val="F4F7F9"/>
          </a:solidFill>
          <a:ln w="12700">
            <a:solidFill>
              <a:srgbClr val="F4F7F9"/>
            </a:solidFill>
            <a:prstDash val="solid"/>
          </a:ln>
          <a:effectLst>
            <a:outerShdw sx="100000" sy="100000" kx="0" ky="0" algn="bl" rotWithShape="0" blurRad="127000" dist="508" dir="5400000">
              <a:srgbClr val="9AA8B4">
                <a:alpha val="25000"/>
              </a:srgbClr>
            </a:outerShdw>
          </a:effectLst>
        </p:spPr>
      </p:sp>
      <p:sp>
        <p:nvSpPr>
          <p:cNvPr id="13" name="Text 11"/>
          <p:cNvSpPr txBox="1"/>
          <p:nvPr/>
        </p:nvSpPr>
        <p:spPr>
          <a:xfrm>
            <a:off x="5266944" y="3474720"/>
            <a:ext cx="457200" cy="411480"/>
          </a:xfrm>
          <a:prstGeom prst="rect">
            <a:avLst/>
          </a:prstGeom>
          <a:noFill/>
          <a:ln/>
        </p:spPr>
        <p:txBody>
          <a:bodyPr wrap="square" lIns="0" tIns="0" rIns="0" bIns="0" rtlCol="0" anchor="ctr"/>
          <a:lstStyle/>
          <a:p>
            <a:pPr indent="0" marL="0">
              <a:buNone/>
            </a:pPr>
            <a:r>
              <a:rPr lang="en-US" sz="2600" b="1" dirty="0">
                <a:solidFill>
                  <a:srgbClr val="00A99D"/>
                </a:solidFill>
                <a:latin typeface="Cambria" pitchFamily="34" charset="0"/>
                <a:ea typeface="Cambria" pitchFamily="34" charset="-122"/>
                <a:cs typeface="Cambria" pitchFamily="34" charset="-120"/>
              </a:rPr>
              <a:t>3</a:t>
            </a:r>
            <a:endParaRPr lang="en-US" sz="2600" dirty="0"/>
          </a:p>
        </p:txBody>
      </p:sp>
      <p:sp>
        <p:nvSpPr>
          <p:cNvPr id="14" name="Text 12"/>
          <p:cNvSpPr txBox="1"/>
          <p:nvPr/>
        </p:nvSpPr>
        <p:spPr>
          <a:xfrm>
            <a:off x="5266944" y="3950208"/>
            <a:ext cx="1426464" cy="594360"/>
          </a:xfrm>
          <a:prstGeom prst="rect">
            <a:avLst/>
          </a:prstGeom>
          <a:noFill/>
          <a:ln/>
        </p:spPr>
        <p:txBody>
          <a:bodyPr wrap="square" lIns="0" tIns="0" rIns="0" bIns="0" rtlCol="0" anchor="ctr"/>
          <a:lstStyle/>
          <a:p>
            <a:pPr indent="0" marL="0">
              <a:lnSpc>
                <a:spcPts val="1500"/>
              </a:lnSpc>
              <a:buNone/>
            </a:pPr>
            <a:r>
              <a:rPr lang="en-US" sz="1200" b="1" dirty="0">
                <a:solidFill>
                  <a:srgbClr val="102A43"/>
                </a:solidFill>
                <a:latin typeface="Arial" pitchFamily="34" charset="0"/>
                <a:ea typeface="Arial" pitchFamily="34" charset="-122"/>
                <a:cs typeface="Arial" pitchFamily="34" charset="-120"/>
              </a:rPr>
              <a:t>Chair-supported</a:t>
            </a:r>
            <a:endParaRPr lang="en-US" sz="1200" dirty="0"/>
          </a:p>
        </p:txBody>
      </p:sp>
      <p:sp>
        <p:nvSpPr>
          <p:cNvPr id="15" name="Shape 13"/>
          <p:cNvSpPr/>
          <p:nvPr/>
        </p:nvSpPr>
        <p:spPr>
          <a:xfrm>
            <a:off x="7123176" y="3291840"/>
            <a:ext cx="1975104" cy="1371600"/>
          </a:xfrm>
          <a:prstGeom prst="roundRect">
            <a:avLst>
              <a:gd name="adj" fmla="val 5333"/>
            </a:avLst>
          </a:prstGeom>
          <a:solidFill>
            <a:srgbClr val="F4F7F9"/>
          </a:solidFill>
          <a:ln w="12700">
            <a:solidFill>
              <a:srgbClr val="F4F7F9"/>
            </a:solidFill>
            <a:prstDash val="solid"/>
          </a:ln>
          <a:effectLst>
            <a:outerShdw sx="100000" sy="100000" kx="0" ky="0" algn="bl" rotWithShape="0" blurRad="127000" dist="508" dir="5400000">
              <a:srgbClr val="9AA8B4">
                <a:alpha val="25000"/>
              </a:srgbClr>
            </a:outerShdw>
          </a:effectLst>
        </p:spPr>
      </p:sp>
      <p:sp>
        <p:nvSpPr>
          <p:cNvPr id="16" name="Text 14"/>
          <p:cNvSpPr txBox="1"/>
          <p:nvPr/>
        </p:nvSpPr>
        <p:spPr>
          <a:xfrm>
            <a:off x="7397496" y="3474720"/>
            <a:ext cx="457200" cy="411480"/>
          </a:xfrm>
          <a:prstGeom prst="rect">
            <a:avLst/>
          </a:prstGeom>
          <a:noFill/>
          <a:ln/>
        </p:spPr>
        <p:txBody>
          <a:bodyPr wrap="square" lIns="0" tIns="0" rIns="0" bIns="0" rtlCol="0" anchor="ctr"/>
          <a:lstStyle/>
          <a:p>
            <a:pPr indent="0" marL="0">
              <a:buNone/>
            </a:pPr>
            <a:r>
              <a:rPr lang="en-US" sz="2600" b="1" dirty="0">
                <a:solidFill>
                  <a:srgbClr val="00A99D"/>
                </a:solidFill>
                <a:latin typeface="Cambria" pitchFamily="34" charset="0"/>
                <a:ea typeface="Cambria" pitchFamily="34" charset="-122"/>
                <a:cs typeface="Cambria" pitchFamily="34" charset="-120"/>
              </a:rPr>
              <a:t>4</a:t>
            </a:r>
            <a:endParaRPr lang="en-US" sz="2600" dirty="0"/>
          </a:p>
        </p:txBody>
      </p:sp>
      <p:sp>
        <p:nvSpPr>
          <p:cNvPr id="17" name="Text 15"/>
          <p:cNvSpPr txBox="1"/>
          <p:nvPr/>
        </p:nvSpPr>
        <p:spPr>
          <a:xfrm>
            <a:off x="7397496" y="3950208"/>
            <a:ext cx="1426464" cy="594360"/>
          </a:xfrm>
          <a:prstGeom prst="rect">
            <a:avLst/>
          </a:prstGeom>
          <a:noFill/>
          <a:ln/>
        </p:spPr>
        <p:txBody>
          <a:bodyPr wrap="square" lIns="0" tIns="0" rIns="0" bIns="0" rtlCol="0" anchor="ctr"/>
          <a:lstStyle/>
          <a:p>
            <a:pPr indent="0" marL="0">
              <a:lnSpc>
                <a:spcPts val="1500"/>
              </a:lnSpc>
              <a:buNone/>
            </a:pPr>
            <a:r>
              <a:rPr lang="en-US" sz="1200" b="1" dirty="0">
                <a:solidFill>
                  <a:srgbClr val="102A43"/>
                </a:solidFill>
                <a:latin typeface="Arial" pitchFamily="34" charset="0"/>
                <a:ea typeface="Arial" pitchFamily="34" charset="-122"/>
                <a:cs typeface="Arial" pitchFamily="34" charset="-120"/>
              </a:rPr>
              <a:t>Bed / Recliner</a:t>
            </a:r>
            <a:endParaRPr lang="en-US" sz="1200" dirty="0"/>
          </a:p>
        </p:txBody>
      </p:sp>
      <p:sp>
        <p:nvSpPr>
          <p:cNvPr id="18" name="Shape 16"/>
          <p:cNvSpPr/>
          <p:nvPr/>
        </p:nvSpPr>
        <p:spPr>
          <a:xfrm>
            <a:off x="9253728" y="3291840"/>
            <a:ext cx="1975104" cy="1371600"/>
          </a:xfrm>
          <a:prstGeom prst="roundRect">
            <a:avLst>
              <a:gd name="adj" fmla="val 5333"/>
            </a:avLst>
          </a:prstGeom>
          <a:solidFill>
            <a:srgbClr val="F4F7F9"/>
          </a:solidFill>
          <a:ln w="12700">
            <a:solidFill>
              <a:srgbClr val="F4F7F9"/>
            </a:solidFill>
            <a:prstDash val="solid"/>
          </a:ln>
          <a:effectLst>
            <a:outerShdw sx="100000" sy="100000" kx="0" ky="0" algn="bl" rotWithShape="0" blurRad="127000" dist="508" dir="5400000">
              <a:srgbClr val="9AA8B4">
                <a:alpha val="25000"/>
              </a:srgbClr>
            </a:outerShdw>
          </a:effectLst>
        </p:spPr>
      </p:sp>
      <p:sp>
        <p:nvSpPr>
          <p:cNvPr id="19" name="Text 17"/>
          <p:cNvSpPr txBox="1"/>
          <p:nvPr/>
        </p:nvSpPr>
        <p:spPr>
          <a:xfrm>
            <a:off x="9528048" y="3474720"/>
            <a:ext cx="457200" cy="411480"/>
          </a:xfrm>
          <a:prstGeom prst="rect">
            <a:avLst/>
          </a:prstGeom>
          <a:noFill/>
          <a:ln/>
        </p:spPr>
        <p:txBody>
          <a:bodyPr wrap="square" lIns="0" tIns="0" rIns="0" bIns="0" rtlCol="0" anchor="ctr"/>
          <a:lstStyle/>
          <a:p>
            <a:pPr indent="0" marL="0">
              <a:buNone/>
            </a:pPr>
            <a:r>
              <a:rPr lang="en-US" sz="2600" b="1" dirty="0">
                <a:solidFill>
                  <a:srgbClr val="00A99D"/>
                </a:solidFill>
                <a:latin typeface="Cambria" pitchFamily="34" charset="0"/>
                <a:ea typeface="Cambria" pitchFamily="34" charset="-122"/>
                <a:cs typeface="Cambria" pitchFamily="34" charset="-120"/>
              </a:rPr>
              <a:t>5</a:t>
            </a:r>
            <a:endParaRPr lang="en-US" sz="2600" dirty="0"/>
          </a:p>
        </p:txBody>
      </p:sp>
      <p:sp>
        <p:nvSpPr>
          <p:cNvPr id="20" name="Text 18"/>
          <p:cNvSpPr txBox="1"/>
          <p:nvPr/>
        </p:nvSpPr>
        <p:spPr>
          <a:xfrm>
            <a:off x="9528048" y="3950208"/>
            <a:ext cx="1426464" cy="594360"/>
          </a:xfrm>
          <a:prstGeom prst="rect">
            <a:avLst/>
          </a:prstGeom>
          <a:noFill/>
          <a:ln/>
        </p:spPr>
        <p:txBody>
          <a:bodyPr wrap="square" lIns="0" tIns="0" rIns="0" bIns="0" rtlCol="0" anchor="ctr"/>
          <a:lstStyle/>
          <a:p>
            <a:pPr indent="0" marL="0">
              <a:lnSpc>
                <a:spcPts val="1500"/>
              </a:lnSpc>
              <a:buNone/>
            </a:pPr>
            <a:r>
              <a:rPr lang="en-US" sz="1200" b="1" dirty="0">
                <a:solidFill>
                  <a:srgbClr val="102A43"/>
                </a:solidFill>
                <a:latin typeface="Arial" pitchFamily="34" charset="0"/>
                <a:ea typeface="Arial" pitchFamily="34" charset="-122"/>
                <a:cs typeface="Arial" pitchFamily="34" charset="-120"/>
              </a:rPr>
              <a:t>Single-limb /</a:t>
            </a:r>
            <a:endParaRPr lang="en-US" sz="1200" dirty="0"/>
          </a:p>
          <a:p>
            <a:pPr indent="0" marL="0">
              <a:lnSpc>
                <a:spcPts val="1500"/>
              </a:lnSpc>
              <a:buNone/>
            </a:pPr>
            <a:r>
              <a:rPr lang="en-US" sz="1200" b="1" dirty="0">
                <a:solidFill>
                  <a:srgbClr val="102A43"/>
                </a:solidFill>
                <a:latin typeface="Arial" pitchFamily="34" charset="0"/>
                <a:ea typeface="Arial" pitchFamily="34" charset="-122"/>
                <a:cs typeface="Arial" pitchFamily="34" charset="-120"/>
              </a:rPr>
              <a:t>Adaptive</a:t>
            </a:r>
            <a:endParaRPr lang="en-US" sz="1200" dirty="0"/>
          </a:p>
        </p:txBody>
      </p:sp>
      <p:sp>
        <p:nvSpPr>
          <p:cNvPr id="21" name="Shape 19"/>
          <p:cNvSpPr/>
          <p:nvPr/>
        </p:nvSpPr>
        <p:spPr>
          <a:xfrm>
            <a:off x="731520" y="4937760"/>
            <a:ext cx="10698480" cy="1051560"/>
          </a:xfrm>
          <a:prstGeom prst="roundRect">
            <a:avLst>
              <a:gd name="adj" fmla="val 6957"/>
            </a:avLst>
          </a:prstGeom>
          <a:solidFill>
            <a:srgbClr val="102A43"/>
          </a:solidFill>
          <a:ln w="12700">
            <a:solidFill>
              <a:srgbClr val="102A43"/>
            </a:solidFill>
            <a:prstDash val="solid"/>
          </a:ln>
          <a:effectLst>
            <a:outerShdw sx="100000" sy="100000" kx="0" ky="0" algn="bl" rotWithShape="0" blurRad="127000" dist="508" dir="5400000">
              <a:srgbClr val="9AA8B4">
                <a:alpha val="25000"/>
              </a:srgbClr>
            </a:outerShdw>
          </a:effectLst>
        </p:spPr>
      </p:sp>
      <p:sp>
        <p:nvSpPr>
          <p:cNvPr id="22" name="Text 20"/>
          <p:cNvSpPr txBox="1"/>
          <p:nvPr/>
        </p:nvSpPr>
        <p:spPr>
          <a:xfrm>
            <a:off x="1097280" y="5120640"/>
            <a:ext cx="9966960" cy="731520"/>
          </a:xfrm>
          <a:prstGeom prst="rect">
            <a:avLst/>
          </a:prstGeom>
          <a:noFill/>
          <a:ln/>
        </p:spPr>
        <p:txBody>
          <a:bodyPr wrap="square" lIns="0" tIns="0" rIns="0" bIns="0" rtlCol="0" anchor="ctr"/>
          <a:lstStyle/>
          <a:p>
            <a:pPr indent="0" marL="0">
              <a:lnSpc>
                <a:spcPts val="1900"/>
              </a:lnSpc>
              <a:buNone/>
            </a:pPr>
            <a:r>
              <a:rPr lang="en-US" sz="1300" dirty="0">
                <a:solidFill>
                  <a:srgbClr val="FFFFFF"/>
                </a:solidFill>
                <a:latin typeface="Calibri" pitchFamily="34" charset="0"/>
                <a:ea typeface="Calibri" pitchFamily="34" charset="-122"/>
                <a:cs typeface="Calibri" pitchFamily="34" charset="-120"/>
              </a:rPr>
              <a:t>Four of the six age bands are working age — 18–39, 40–64 and 65–79, plus apprentices under 18. The band is derived, not chosen, and it changes the mechanics, the daily prompt cap and the clinical guardrails. It is not one programme with the age swapped.</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31520" y="690372"/>
            <a:ext cx="118872" cy="118872"/>
          </a:xfrm>
          <a:prstGeom prst="ellipse">
            <a:avLst/>
          </a:prstGeom>
          <a:solidFill>
            <a:srgbClr val="00A99D"/>
          </a:solidFill>
          <a:ln/>
        </p:spPr>
      </p:sp>
      <p:sp>
        <p:nvSpPr>
          <p:cNvPr id="3" name="Text 1"/>
          <p:cNvSpPr txBox="1"/>
          <p:nvPr/>
        </p:nvSpPr>
        <p:spPr>
          <a:xfrm>
            <a:off x="969264" y="640080"/>
            <a:ext cx="7315200" cy="274320"/>
          </a:xfrm>
          <a:prstGeom prst="rect">
            <a:avLst/>
          </a:prstGeom>
          <a:noFill/>
          <a:ln/>
        </p:spPr>
        <p:txBody>
          <a:bodyPr wrap="square" lIns="0" tIns="0" rIns="0" bIns="0" rtlCol="0" anchor="ctr"/>
          <a:lstStyle/>
          <a:p>
            <a:pPr indent="0" marL="0">
              <a:buNone/>
            </a:pPr>
            <a:r>
              <a:rPr lang="en-US" sz="1200" b="1" spc="200" kern="0" dirty="0">
                <a:solidFill>
                  <a:srgbClr val="00A99D"/>
                </a:solidFill>
                <a:latin typeface="Arial" pitchFamily="34" charset="0"/>
                <a:ea typeface="Arial" pitchFamily="34" charset="-122"/>
                <a:cs typeface="Arial" pitchFamily="34" charset="-120"/>
              </a:rPr>
              <a:t>WHAT YOU ACTUALLY RECEIVE</a:t>
            </a:r>
            <a:endParaRPr lang="en-US" sz="1200" dirty="0"/>
          </a:p>
        </p:txBody>
      </p:sp>
      <p:sp>
        <p:nvSpPr>
          <p:cNvPr id="4" name="Text 2"/>
          <p:cNvSpPr txBox="1"/>
          <p:nvPr/>
        </p:nvSpPr>
        <p:spPr>
          <a:xfrm>
            <a:off x="731520" y="1051560"/>
            <a:ext cx="10698480" cy="1005840"/>
          </a:xfrm>
          <a:prstGeom prst="rect">
            <a:avLst/>
          </a:prstGeom>
          <a:noFill/>
          <a:ln/>
        </p:spPr>
        <p:txBody>
          <a:bodyPr wrap="square" lIns="0" tIns="0" rIns="0" bIns="0" rtlCol="0" anchor="ctr"/>
          <a:lstStyle/>
          <a:p>
            <a:pPr indent="0" marL="0">
              <a:buNone/>
            </a:pPr>
            <a:r>
              <a:rPr lang="en-US" sz="3400" b="1" dirty="0">
                <a:solidFill>
                  <a:srgbClr val="102A43"/>
                </a:solidFill>
                <a:latin typeface="Cambria" pitchFamily="34" charset="0"/>
                <a:ea typeface="Cambria" pitchFamily="34" charset="-122"/>
                <a:cs typeface="Cambria" pitchFamily="34" charset="-120"/>
              </a:rPr>
              <a:t>Enough to run a programme.</a:t>
            </a:r>
            <a:endParaRPr lang="en-US" sz="3400" dirty="0"/>
          </a:p>
          <a:p>
            <a:pPr indent="0" marL="0">
              <a:buNone/>
            </a:pPr>
            <a:r>
              <a:rPr lang="en-US" sz="3400" b="1" dirty="0">
                <a:solidFill>
                  <a:srgbClr val="102A43"/>
                </a:solidFill>
                <a:latin typeface="Cambria" pitchFamily="34" charset="0"/>
                <a:ea typeface="Cambria" pitchFamily="34" charset="-122"/>
                <a:cs typeface="Cambria" pitchFamily="34" charset="-120"/>
              </a:rPr>
              <a:t>Not enough to manage a person.</a:t>
            </a:r>
            <a:endParaRPr lang="en-US" sz="3400" dirty="0"/>
          </a:p>
        </p:txBody>
      </p:sp>
      <p:sp>
        <p:nvSpPr>
          <p:cNvPr id="5" name="Text 3"/>
          <p:cNvSpPr txBox="1"/>
          <p:nvPr/>
        </p:nvSpPr>
        <p:spPr>
          <a:xfrm>
            <a:off x="731520" y="2468880"/>
            <a:ext cx="5166360" cy="274320"/>
          </a:xfrm>
          <a:prstGeom prst="rect">
            <a:avLst/>
          </a:prstGeom>
          <a:noFill/>
          <a:ln/>
        </p:spPr>
        <p:txBody>
          <a:bodyPr wrap="square" lIns="0" tIns="0" rIns="0" bIns="0" rtlCol="0" anchor="ctr"/>
          <a:lstStyle/>
          <a:p>
            <a:pPr indent="0" marL="0">
              <a:buNone/>
            </a:pPr>
            <a:r>
              <a:rPr lang="en-US" sz="1200" b="1" spc="200" kern="0" dirty="0">
                <a:solidFill>
                  <a:srgbClr val="00A99D"/>
                </a:solidFill>
                <a:latin typeface="Arial" pitchFamily="34" charset="0"/>
                <a:ea typeface="Arial" pitchFamily="34" charset="-122"/>
                <a:cs typeface="Arial" pitchFamily="34" charset="-120"/>
              </a:rPr>
              <a:t>Today</a:t>
            </a:r>
            <a:endParaRPr lang="en-US" sz="1200" dirty="0"/>
          </a:p>
        </p:txBody>
      </p:sp>
      <p:sp>
        <p:nvSpPr>
          <p:cNvPr id="6" name="Text 4"/>
          <p:cNvSpPr txBox="1"/>
          <p:nvPr/>
        </p:nvSpPr>
        <p:spPr>
          <a:xfrm>
            <a:off x="6263640" y="2468880"/>
            <a:ext cx="5166360" cy="274320"/>
          </a:xfrm>
          <a:prstGeom prst="rect">
            <a:avLst/>
          </a:prstGeom>
          <a:noFill/>
          <a:ln/>
        </p:spPr>
        <p:txBody>
          <a:bodyPr wrap="square" lIns="0" tIns="0" rIns="0" bIns="0" rtlCol="0" anchor="ctr"/>
          <a:lstStyle/>
          <a:p>
            <a:pPr indent="0" marL="0">
              <a:buNone/>
            </a:pPr>
            <a:r>
              <a:rPr lang="en-US" sz="1200" b="1" spc="200" kern="0" dirty="0">
                <a:solidFill>
                  <a:srgbClr val="FF6B5E"/>
                </a:solidFill>
                <a:latin typeface="Arial" pitchFamily="34" charset="0"/>
                <a:ea typeface="Arial" pitchFamily="34" charset="-122"/>
                <a:cs typeface="Arial" pitchFamily="34" charset="-120"/>
              </a:rPr>
              <a:t>Not built yet</a:t>
            </a:r>
            <a:endParaRPr lang="en-US" sz="1200" dirty="0"/>
          </a:p>
        </p:txBody>
      </p:sp>
      <p:sp>
        <p:nvSpPr>
          <p:cNvPr id="7" name="Shape 5"/>
          <p:cNvSpPr/>
          <p:nvPr/>
        </p:nvSpPr>
        <p:spPr>
          <a:xfrm>
            <a:off x="731520" y="2834640"/>
            <a:ext cx="5166360" cy="1965960"/>
          </a:xfrm>
          <a:prstGeom prst="roundRect">
            <a:avLst>
              <a:gd name="adj" fmla="val 3721"/>
            </a:avLst>
          </a:prstGeom>
          <a:solidFill>
            <a:srgbClr val="F4F7F9"/>
          </a:solidFill>
          <a:ln w="12700">
            <a:solidFill>
              <a:srgbClr val="F4F7F9"/>
            </a:solidFill>
            <a:prstDash val="solid"/>
          </a:ln>
          <a:effectLst>
            <a:outerShdw sx="100000" sy="100000" kx="0" ky="0" algn="bl" rotWithShape="0" blurRad="127000" dist="508" dir="5400000">
              <a:srgbClr val="9AA8B4">
                <a:alpha val="25000"/>
              </a:srgbClr>
            </a:outerShdw>
          </a:effectLst>
        </p:spPr>
      </p:sp>
      <p:sp>
        <p:nvSpPr>
          <p:cNvPr id="8" name="Text 6"/>
          <p:cNvSpPr txBox="1"/>
          <p:nvPr/>
        </p:nvSpPr>
        <p:spPr>
          <a:xfrm>
            <a:off x="1097280" y="3063240"/>
            <a:ext cx="4480560" cy="274320"/>
          </a:xfrm>
          <a:prstGeom prst="rect">
            <a:avLst/>
          </a:prstGeom>
          <a:noFill/>
          <a:ln/>
        </p:spPr>
        <p:txBody>
          <a:bodyPr wrap="square" lIns="0" tIns="0" rIns="0" bIns="0" rtlCol="0" anchor="ctr"/>
          <a:lstStyle/>
          <a:p>
            <a:pPr indent="0" marL="0">
              <a:buNone/>
            </a:pPr>
            <a:r>
              <a:rPr lang="en-US" sz="1350" b="1" dirty="0">
                <a:solidFill>
                  <a:srgbClr val="102A43"/>
                </a:solidFill>
                <a:latin typeface="Arial" pitchFamily="34" charset="0"/>
                <a:ea typeface="Arial" pitchFamily="34" charset="-122"/>
                <a:cs typeface="Arial" pitchFamily="34" charset="-120"/>
              </a:rPr>
              <a:t>The cohort report returns</a:t>
            </a:r>
            <a:endParaRPr lang="en-US" sz="1350" dirty="0"/>
          </a:p>
        </p:txBody>
      </p:sp>
      <p:sp>
        <p:nvSpPr>
          <p:cNvPr id="9" name="Text 7"/>
          <p:cNvSpPr txBox="1"/>
          <p:nvPr/>
        </p:nvSpPr>
        <p:spPr>
          <a:xfrm>
            <a:off x="1097280" y="3474720"/>
            <a:ext cx="4434840" cy="1737360"/>
          </a:xfrm>
          <a:prstGeom prst="rect">
            <a:avLst/>
          </a:prstGeom>
          <a:noFill/>
          <a:ln/>
        </p:spPr>
        <p:txBody>
          <a:bodyPr wrap="square" lIns="0" tIns="0" rIns="0" bIns="0" rtlCol="0" anchor="t"/>
          <a:lstStyle/>
          <a:p>
            <a:pPr marL="342900" indent="-342900">
              <a:lnSpc>
                <a:spcPts val="1700"/>
              </a:lnSpc>
              <a:spcAft>
                <a:spcPts val="700"/>
              </a:spcAft>
              <a:buSzPct val="100000"/>
              <a:buChar char="•"/>
            </a:pPr>
            <a:r>
              <a:rPr lang="en-US" sz="1200" dirty="0">
                <a:solidFill>
                  <a:srgbClr val="475663"/>
                </a:solidFill>
                <a:latin typeface="Calibri" pitchFamily="34" charset="0"/>
                <a:ea typeface="Calibri" pitchFamily="34" charset="-122"/>
                <a:cs typeface="Calibri" pitchFamily="34" charset="-120"/>
              </a:rPr>
              <a:t>Participation rate across the cohort</a:t>
            </a:r>
            <a:endParaRPr lang="en-US" sz="1200" dirty="0"/>
          </a:p>
          <a:p>
            <a:pPr marL="342900" indent="-342900">
              <a:lnSpc>
                <a:spcPts val="1700"/>
              </a:lnSpc>
              <a:spcAft>
                <a:spcPts val="700"/>
              </a:spcAft>
              <a:buSzPct val="100000"/>
              <a:buChar char="•"/>
            </a:pPr>
            <a:r>
              <a:rPr lang="en-US" sz="1200" dirty="0">
                <a:solidFill>
                  <a:srgbClr val="475663"/>
                </a:solidFill>
                <a:latin typeface="Calibri" pitchFamily="34" charset="0"/>
                <a:ea typeface="Calibri" pitchFamily="34" charset="-122"/>
                <a:cs typeface="Calibri" pitchFamily="34" charset="-120"/>
              </a:rPr>
              <a:t>How many people were active</a:t>
            </a:r>
            <a:endParaRPr lang="en-US" sz="1200" dirty="0"/>
          </a:p>
          <a:p>
            <a:pPr marL="342900" indent="-342900">
              <a:lnSpc>
                <a:spcPts val="1700"/>
              </a:lnSpc>
              <a:spcAft>
                <a:spcPts val="700"/>
              </a:spcAft>
              <a:buSzPct val="100000"/>
              <a:buChar char="•"/>
            </a:pPr>
            <a:r>
              <a:rPr lang="en-US" sz="1200" dirty="0">
                <a:solidFill>
                  <a:srgbClr val="475663"/>
                </a:solidFill>
                <a:latin typeface="Calibri" pitchFamily="34" charset="0"/>
                <a:ea typeface="Calibri" pitchFamily="34" charset="-122"/>
                <a:cs typeface="Calibri" pitchFamily="34" charset="-120"/>
              </a:rPr>
              <a:t>Median days moved in the period</a:t>
            </a:r>
            <a:endParaRPr lang="en-US" sz="1200" dirty="0"/>
          </a:p>
          <a:p>
            <a:pPr marL="342900" indent="-342900">
              <a:lnSpc>
                <a:spcPts val="1700"/>
              </a:lnSpc>
              <a:buSzPct val="100000"/>
              <a:buChar char="•"/>
            </a:pPr>
            <a:r>
              <a:rPr lang="en-US" sz="1200" dirty="0">
                <a:solidFill>
                  <a:srgbClr val="475663"/>
                </a:solidFill>
                <a:latin typeface="Calibri" pitchFamily="34" charset="0"/>
                <a:ea typeface="Calibri" pitchFamily="34" charset="-122"/>
                <a:cs typeface="Calibri" pitchFamily="34" charset="-120"/>
              </a:rPr>
              <a:t>Whether the answer was suppressed, and the floor</a:t>
            </a:r>
            <a:endParaRPr lang="en-US" sz="1200" dirty="0"/>
          </a:p>
        </p:txBody>
      </p:sp>
      <p:sp>
        <p:nvSpPr>
          <p:cNvPr id="10" name="Shape 8"/>
          <p:cNvSpPr/>
          <p:nvPr/>
        </p:nvSpPr>
        <p:spPr>
          <a:xfrm>
            <a:off x="6263640" y="2834640"/>
            <a:ext cx="5166360" cy="1965960"/>
          </a:xfrm>
          <a:prstGeom prst="roundRect">
            <a:avLst>
              <a:gd name="adj" fmla="val 3721"/>
            </a:avLst>
          </a:prstGeom>
          <a:solidFill>
            <a:srgbClr val="F4F7F9"/>
          </a:solidFill>
          <a:ln w="12700">
            <a:solidFill>
              <a:srgbClr val="F4F7F9"/>
            </a:solidFill>
            <a:prstDash val="solid"/>
          </a:ln>
          <a:effectLst>
            <a:outerShdw sx="100000" sy="100000" kx="0" ky="0" algn="bl" rotWithShape="0" blurRad="127000" dist="508" dir="5400000">
              <a:srgbClr val="9AA8B4">
                <a:alpha val="25000"/>
              </a:srgbClr>
            </a:outerShdw>
          </a:effectLst>
        </p:spPr>
      </p:sp>
      <p:sp>
        <p:nvSpPr>
          <p:cNvPr id="11" name="Text 9"/>
          <p:cNvSpPr txBox="1"/>
          <p:nvPr/>
        </p:nvSpPr>
        <p:spPr>
          <a:xfrm>
            <a:off x="6629400" y="3063240"/>
            <a:ext cx="4480560" cy="274320"/>
          </a:xfrm>
          <a:prstGeom prst="rect">
            <a:avLst/>
          </a:prstGeom>
          <a:noFill/>
          <a:ln/>
        </p:spPr>
        <p:txBody>
          <a:bodyPr wrap="square" lIns="0" tIns="0" rIns="0" bIns="0" rtlCol="0" anchor="ctr"/>
          <a:lstStyle/>
          <a:p>
            <a:pPr indent="0" marL="0">
              <a:buNone/>
            </a:pPr>
            <a:r>
              <a:rPr lang="en-US" sz="1350" b="1" dirty="0">
                <a:solidFill>
                  <a:srgbClr val="102A43"/>
                </a:solidFill>
                <a:latin typeface="Arial" pitchFamily="34" charset="0"/>
                <a:ea typeface="Arial" pitchFamily="34" charset="-122"/>
                <a:cs typeface="Arial" pitchFamily="34" charset="-120"/>
              </a:rPr>
              <a:t>Yours to prioritise as a design partner</a:t>
            </a:r>
            <a:endParaRPr lang="en-US" sz="1350" dirty="0"/>
          </a:p>
        </p:txBody>
      </p:sp>
      <p:sp>
        <p:nvSpPr>
          <p:cNvPr id="12" name="Text 10"/>
          <p:cNvSpPr txBox="1"/>
          <p:nvPr/>
        </p:nvSpPr>
        <p:spPr>
          <a:xfrm>
            <a:off x="6629400" y="3474720"/>
            <a:ext cx="4434840" cy="1737360"/>
          </a:xfrm>
          <a:prstGeom prst="rect">
            <a:avLst/>
          </a:prstGeom>
          <a:noFill/>
          <a:ln/>
        </p:spPr>
        <p:txBody>
          <a:bodyPr wrap="square" lIns="0" tIns="0" rIns="0" bIns="0" rtlCol="0" anchor="t"/>
          <a:lstStyle/>
          <a:p>
            <a:pPr marL="342900" indent="-342900">
              <a:lnSpc>
                <a:spcPts val="1700"/>
              </a:lnSpc>
              <a:spcAft>
                <a:spcPts val="700"/>
              </a:spcAft>
              <a:buSzPct val="100000"/>
              <a:buChar char="•"/>
            </a:pPr>
            <a:r>
              <a:rPr lang="en-US" sz="1200" dirty="0">
                <a:solidFill>
                  <a:srgbClr val="475663"/>
                </a:solidFill>
                <a:latin typeface="Calibri" pitchFamily="34" charset="0"/>
                <a:ea typeface="Calibri" pitchFamily="34" charset="-122"/>
                <a:cs typeface="Calibri" pitchFamily="34" charset="-120"/>
              </a:rPr>
              <a:t>A trend series against a baseline</a:t>
            </a:r>
            <a:endParaRPr lang="en-US" sz="1200" dirty="0"/>
          </a:p>
          <a:p>
            <a:pPr marL="342900" indent="-342900">
              <a:lnSpc>
                <a:spcPts val="1700"/>
              </a:lnSpc>
              <a:spcAft>
                <a:spcPts val="700"/>
              </a:spcAft>
              <a:buSzPct val="100000"/>
              <a:buChar char="•"/>
            </a:pPr>
            <a:r>
              <a:rPr lang="en-US" sz="1200" dirty="0">
                <a:solidFill>
                  <a:srgbClr val="475663"/>
                </a:solidFill>
                <a:latin typeface="Calibri" pitchFamily="34" charset="0"/>
                <a:ea typeface="Calibri" pitchFamily="34" charset="-122"/>
                <a:cs typeface="Calibri" pitchFamily="34" charset="-120"/>
              </a:rPr>
              <a:t>Sedentary-risk distribution by cohort</a:t>
            </a:r>
            <a:endParaRPr lang="en-US" sz="1200" dirty="0"/>
          </a:p>
          <a:p>
            <a:pPr marL="342900" indent="-342900">
              <a:lnSpc>
                <a:spcPts val="1700"/>
              </a:lnSpc>
              <a:spcAft>
                <a:spcPts val="700"/>
              </a:spcAft>
              <a:buSzPct val="100000"/>
              <a:buChar char="•"/>
            </a:pPr>
            <a:r>
              <a:rPr lang="en-US" sz="1200" dirty="0">
                <a:solidFill>
                  <a:srgbClr val="475663"/>
                </a:solidFill>
                <a:latin typeface="Calibri" pitchFamily="34" charset="0"/>
                <a:ea typeface="Calibri" pitchFamily="34" charset="-122"/>
                <a:cs typeface="Calibri" pitchFamily="34" charset="-120"/>
              </a:rPr>
              <a:t>A return-on-investment model, assumptions shown</a:t>
            </a:r>
            <a:endParaRPr lang="en-US" sz="1200" dirty="0"/>
          </a:p>
          <a:p>
            <a:pPr marL="342900" indent="-342900">
              <a:lnSpc>
                <a:spcPts val="1700"/>
              </a:lnSpc>
              <a:buSzPct val="100000"/>
              <a:buChar char="•"/>
            </a:pPr>
            <a:r>
              <a:rPr lang="en-US" sz="1200" dirty="0">
                <a:solidFill>
                  <a:srgbClr val="475663"/>
                </a:solidFill>
                <a:latin typeface="Calibri" pitchFamily="34" charset="0"/>
                <a:ea typeface="Calibri" pitchFamily="34" charset="-122"/>
                <a:cs typeface="Calibri" pitchFamily="34" charset="-120"/>
              </a:rPr>
              <a:t>Single sign-on and directory sync</a:t>
            </a:r>
            <a:endParaRPr lang="en-US" sz="1200" dirty="0"/>
          </a:p>
        </p:txBody>
      </p:sp>
      <p:sp>
        <p:nvSpPr>
          <p:cNvPr id="13" name="Text 11"/>
          <p:cNvSpPr txBox="1"/>
          <p:nvPr/>
        </p:nvSpPr>
        <p:spPr>
          <a:xfrm>
            <a:off x="731520" y="5623560"/>
            <a:ext cx="10698480" cy="640080"/>
          </a:xfrm>
          <a:prstGeom prst="rect">
            <a:avLst/>
          </a:prstGeom>
          <a:noFill/>
          <a:ln/>
        </p:spPr>
        <p:txBody>
          <a:bodyPr wrap="square" lIns="0" tIns="0" rIns="0" bIns="0" rtlCol="0" anchor="ctr"/>
          <a:lstStyle/>
          <a:p>
            <a:pPr indent="0" marL="0">
              <a:lnSpc>
                <a:spcPts val="1800"/>
              </a:lnSpc>
              <a:buNone/>
            </a:pPr>
            <a:r>
              <a:rPr lang="en-US" sz="1250" i="1" dirty="0">
                <a:solidFill>
                  <a:srgbClr val="475663"/>
                </a:solidFill>
                <a:latin typeface="Calibri" pitchFamily="34" charset="0"/>
                <a:ea typeface="Calibri" pitchFamily="34" charset="-122"/>
                <a:cs typeface="Calibri" pitchFamily="34" charset="-120"/>
              </a:rPr>
              <a:t>Below eight contributing people every figure is null, not rounded — for you as well as for everyone else. An eleven-person company cannot have anonymous reporting however it is sold.</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02A43"/>
        </a:solidFill>
      </p:bgPr>
    </p:bg>
    <p:spTree>
      <p:nvGrpSpPr>
        <p:cNvPr id="1" name=""/>
        <p:cNvGrpSpPr/>
        <p:nvPr/>
      </p:nvGrpSpPr>
      <p:grpSpPr>
        <a:xfrm>
          <a:off x="0" y="0"/>
          <a:ext cx="0" cy="0"/>
          <a:chOff x="0" y="0"/>
          <a:chExt cx="0" cy="0"/>
        </a:xfrm>
      </p:grpSpPr>
      <p:sp>
        <p:nvSpPr>
          <p:cNvPr id="2" name="Shape 0"/>
          <p:cNvSpPr/>
          <p:nvPr/>
        </p:nvSpPr>
        <p:spPr>
          <a:xfrm>
            <a:off x="731520" y="690372"/>
            <a:ext cx="118872" cy="118872"/>
          </a:xfrm>
          <a:prstGeom prst="ellipse">
            <a:avLst/>
          </a:prstGeom>
          <a:solidFill>
            <a:srgbClr val="B7E436"/>
          </a:solidFill>
          <a:ln/>
        </p:spPr>
      </p:sp>
      <p:sp>
        <p:nvSpPr>
          <p:cNvPr id="3" name="Text 1"/>
          <p:cNvSpPr txBox="1"/>
          <p:nvPr/>
        </p:nvSpPr>
        <p:spPr>
          <a:xfrm>
            <a:off x="969264" y="640080"/>
            <a:ext cx="7315200" cy="274320"/>
          </a:xfrm>
          <a:prstGeom prst="rect">
            <a:avLst/>
          </a:prstGeom>
          <a:noFill/>
          <a:ln/>
        </p:spPr>
        <p:txBody>
          <a:bodyPr wrap="square" lIns="0" tIns="0" rIns="0" bIns="0" rtlCol="0" anchor="ctr"/>
          <a:lstStyle/>
          <a:p>
            <a:pPr indent="0" marL="0">
              <a:buNone/>
            </a:pPr>
            <a:r>
              <a:rPr lang="en-US" sz="1200" b="1" spc="200" kern="0" dirty="0">
                <a:solidFill>
                  <a:srgbClr val="B7E436"/>
                </a:solidFill>
                <a:latin typeface="Arial" pitchFamily="34" charset="0"/>
                <a:ea typeface="Arial" pitchFamily="34" charset="-122"/>
                <a:cs typeface="Arial" pitchFamily="34" charset="-120"/>
              </a:rPr>
              <a:t>FOR YOUR SECURITY REVIEW</a:t>
            </a:r>
            <a:endParaRPr lang="en-US" sz="1200" dirty="0"/>
          </a:p>
        </p:txBody>
      </p:sp>
      <p:sp>
        <p:nvSpPr>
          <p:cNvPr id="4" name="Text 2"/>
          <p:cNvSpPr txBox="1"/>
          <p:nvPr/>
        </p:nvSpPr>
        <p:spPr>
          <a:xfrm>
            <a:off x="731520" y="1051560"/>
            <a:ext cx="10698480" cy="100584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Don’t trust us. Call the API.</a:t>
            </a:r>
            <a:endParaRPr lang="en-US" sz="3800" dirty="0"/>
          </a:p>
        </p:txBody>
      </p:sp>
      <p:sp>
        <p:nvSpPr>
          <p:cNvPr id="5" name="Text 3"/>
          <p:cNvSpPr txBox="1"/>
          <p:nvPr/>
        </p:nvSpPr>
        <p:spPr>
          <a:xfrm>
            <a:off x="731520" y="2194560"/>
            <a:ext cx="10698480" cy="640080"/>
          </a:xfrm>
          <a:prstGeom prst="rect">
            <a:avLst/>
          </a:prstGeom>
          <a:noFill/>
          <a:ln/>
        </p:spPr>
        <p:txBody>
          <a:bodyPr wrap="square" lIns="0" tIns="0" rIns="0" bIns="0" rtlCol="0" anchor="ctr"/>
          <a:lstStyle/>
          <a:p>
            <a:pPr indent="0" marL="0">
              <a:lnSpc>
                <a:spcPts val="2000"/>
              </a:lnSpc>
              <a:buNone/>
            </a:pPr>
            <a:r>
              <a:rPr lang="en-US" sz="1350" dirty="0">
                <a:solidFill>
                  <a:srgbClr val="B8C6D1"/>
                </a:solidFill>
                <a:latin typeface="Calibri" pitchFamily="34" charset="0"/>
                <a:ea typeface="Calibri" pitchFamily="34" charset="-122"/>
                <a:cs typeface="Calibri" pitchFamily="34" charset="-120"/>
              </a:rPr>
              <a:t>Checkable from a terminal — no account, no NDA, nobody from us in the room. 32 controls: 21 enforced in code, 7 implemented, 4 open. 942 automated tests behind the four responses below.</a:t>
            </a:r>
            <a:endParaRPr lang="en-US" sz="1350" dirty="0"/>
          </a:p>
        </p:txBody>
      </p:sp>
      <p:sp>
        <p:nvSpPr>
          <p:cNvPr id="6" name="Shape 4"/>
          <p:cNvSpPr/>
          <p:nvPr/>
        </p:nvSpPr>
        <p:spPr>
          <a:xfrm>
            <a:off x="731520" y="3108960"/>
            <a:ext cx="10698480" cy="694944"/>
          </a:xfrm>
          <a:prstGeom prst="roundRect">
            <a:avLst>
              <a:gd name="adj" fmla="val 10526"/>
            </a:avLst>
          </a:prstGeom>
          <a:solidFill>
            <a:srgbClr val="1B3A54"/>
          </a:solidFill>
          <a:ln w="12700">
            <a:solidFill>
              <a:srgbClr val="1B3A54"/>
            </a:solidFill>
            <a:prstDash val="solid"/>
          </a:ln>
          <a:effectLst>
            <a:outerShdw sx="100000" sy="100000" kx="0" ky="0" algn="bl" rotWithShape="0" blurRad="127000" dist="508" dir="5400000">
              <a:srgbClr val="9AA8B4">
                <a:alpha val="25000"/>
              </a:srgbClr>
            </a:outerShdw>
          </a:effectLst>
        </p:spPr>
      </p:sp>
      <p:sp>
        <p:nvSpPr>
          <p:cNvPr id="7" name="Text 5"/>
          <p:cNvSpPr txBox="1"/>
          <p:nvPr/>
        </p:nvSpPr>
        <p:spPr>
          <a:xfrm>
            <a:off x="1051560" y="3291840"/>
            <a:ext cx="3291840" cy="320040"/>
          </a:xfrm>
          <a:prstGeom prst="rect">
            <a:avLst/>
          </a:prstGeom>
          <a:noFill/>
          <a:ln/>
        </p:spPr>
        <p:txBody>
          <a:bodyPr wrap="square" lIns="0" tIns="0" rIns="0" bIns="0" rtlCol="0" anchor="ctr"/>
          <a:lstStyle/>
          <a:p>
            <a:pPr indent="0" marL="0">
              <a:buNone/>
            </a:pPr>
            <a:r>
              <a:rPr lang="en-US" sz="1250" b="1" dirty="0">
                <a:solidFill>
                  <a:srgbClr val="B7E436"/>
                </a:solidFill>
                <a:latin typeface="Courier New" pitchFamily="34" charset="0"/>
                <a:ea typeface="Courier New" pitchFamily="34" charset="-122"/>
                <a:cs typeface="Courier New" pitchFamily="34" charset="-120"/>
              </a:rPr>
              <a:t>GET  /api/assurance</a:t>
            </a:r>
            <a:endParaRPr lang="en-US" sz="1250" dirty="0"/>
          </a:p>
        </p:txBody>
      </p:sp>
      <p:sp>
        <p:nvSpPr>
          <p:cNvPr id="8" name="Text 6"/>
          <p:cNvSpPr txBox="1"/>
          <p:nvPr/>
        </p:nvSpPr>
        <p:spPr>
          <a:xfrm>
            <a:off x="4526280" y="3291840"/>
            <a:ext cx="6583680" cy="320040"/>
          </a:xfrm>
          <a:prstGeom prst="rect">
            <a:avLst/>
          </a:prstGeom>
          <a:noFill/>
          <a:ln/>
        </p:spPr>
        <p:txBody>
          <a:bodyPr wrap="square" lIns="0" tIns="0" rIns="0" bIns="0" rtlCol="0" anchor="ctr"/>
          <a:lstStyle/>
          <a:p>
            <a:pPr indent="0" marL="0">
              <a:buNone/>
            </a:pPr>
            <a:r>
              <a:rPr lang="en-US" sz="1200" dirty="0">
                <a:solidFill>
                  <a:srgbClr val="D6E2EA"/>
                </a:solidFill>
                <a:latin typeface="Calibri" pitchFamily="34" charset="0"/>
                <a:ea typeface="Calibri" pitchFamily="34" charset="-122"/>
                <a:cs typeface="Calibri" pitchFamily="34" charset="-120"/>
              </a:rPr>
              <a:t>Every control, its status, and the gaps — listed at the top, not buried.</a:t>
            </a:r>
            <a:endParaRPr lang="en-US" sz="1200" dirty="0"/>
          </a:p>
        </p:txBody>
      </p:sp>
      <p:sp>
        <p:nvSpPr>
          <p:cNvPr id="9" name="Shape 7"/>
          <p:cNvSpPr/>
          <p:nvPr/>
        </p:nvSpPr>
        <p:spPr>
          <a:xfrm>
            <a:off x="731520" y="3931920"/>
            <a:ext cx="10698480" cy="694944"/>
          </a:xfrm>
          <a:prstGeom prst="roundRect">
            <a:avLst>
              <a:gd name="adj" fmla="val 10526"/>
            </a:avLst>
          </a:prstGeom>
          <a:solidFill>
            <a:srgbClr val="1B3A54"/>
          </a:solidFill>
          <a:ln w="12700">
            <a:solidFill>
              <a:srgbClr val="1B3A54"/>
            </a:solidFill>
            <a:prstDash val="solid"/>
          </a:ln>
          <a:effectLst>
            <a:outerShdw sx="100000" sy="100000" kx="0" ky="0" algn="bl" rotWithShape="0" blurRad="127000" dist="508" dir="5400000">
              <a:srgbClr val="9AA8B4">
                <a:alpha val="25000"/>
              </a:srgbClr>
            </a:outerShdw>
          </a:effectLst>
        </p:spPr>
      </p:sp>
      <p:sp>
        <p:nvSpPr>
          <p:cNvPr id="10" name="Text 8"/>
          <p:cNvSpPr txBox="1"/>
          <p:nvPr/>
        </p:nvSpPr>
        <p:spPr>
          <a:xfrm>
            <a:off x="1051560" y="4114800"/>
            <a:ext cx="3291840" cy="320040"/>
          </a:xfrm>
          <a:prstGeom prst="rect">
            <a:avLst/>
          </a:prstGeom>
          <a:noFill/>
          <a:ln/>
        </p:spPr>
        <p:txBody>
          <a:bodyPr wrap="square" lIns="0" tIns="0" rIns="0" bIns="0" rtlCol="0" anchor="ctr"/>
          <a:lstStyle/>
          <a:p>
            <a:pPr indent="0" marL="0">
              <a:buNone/>
            </a:pPr>
            <a:r>
              <a:rPr lang="en-US" sz="1250" b="1" dirty="0">
                <a:solidFill>
                  <a:srgbClr val="B7E436"/>
                </a:solidFill>
                <a:latin typeface="Courier New" pitchFamily="34" charset="0"/>
                <a:ea typeface="Courier New" pitchFamily="34" charset="-122"/>
                <a:cs typeface="Courier New" pitchFamily="34" charset="-120"/>
              </a:rPr>
              <a:t>GET  /api/movements/gate</a:t>
            </a:r>
            <a:endParaRPr lang="en-US" sz="1250" dirty="0"/>
          </a:p>
        </p:txBody>
      </p:sp>
      <p:sp>
        <p:nvSpPr>
          <p:cNvPr id="11" name="Text 9"/>
          <p:cNvSpPr txBox="1"/>
          <p:nvPr/>
        </p:nvSpPr>
        <p:spPr>
          <a:xfrm>
            <a:off x="4526280" y="4114800"/>
            <a:ext cx="6583680" cy="320040"/>
          </a:xfrm>
          <a:prstGeom prst="rect">
            <a:avLst/>
          </a:prstGeom>
          <a:noFill/>
          <a:ln/>
        </p:spPr>
        <p:txBody>
          <a:bodyPr wrap="square" lIns="0" tIns="0" rIns="0" bIns="0" rtlCol="0" anchor="ctr"/>
          <a:lstStyle/>
          <a:p>
            <a:pPr indent="0" marL="0">
              <a:buNone/>
            </a:pPr>
            <a:r>
              <a:rPr lang="en-US" sz="1200" dirty="0">
                <a:solidFill>
                  <a:srgbClr val="D6E2EA"/>
                </a:solidFill>
                <a:latin typeface="Calibri" pitchFamily="34" charset="0"/>
                <a:ea typeface="Calibri" pitchFamily="34" charset="-122"/>
                <a:cs typeface="Calibri" pitchFamily="34" charset="-120"/>
              </a:rPr>
              <a:t>The publishing contract: five variants, a cue set per age band, no override.</a:t>
            </a:r>
            <a:endParaRPr lang="en-US" sz="1200" dirty="0"/>
          </a:p>
        </p:txBody>
      </p:sp>
      <p:sp>
        <p:nvSpPr>
          <p:cNvPr id="12" name="Shape 10"/>
          <p:cNvSpPr/>
          <p:nvPr/>
        </p:nvSpPr>
        <p:spPr>
          <a:xfrm>
            <a:off x="731520" y="4754880"/>
            <a:ext cx="10698480" cy="694944"/>
          </a:xfrm>
          <a:prstGeom prst="roundRect">
            <a:avLst>
              <a:gd name="adj" fmla="val 10526"/>
            </a:avLst>
          </a:prstGeom>
          <a:solidFill>
            <a:srgbClr val="1B3A54"/>
          </a:solidFill>
          <a:ln w="12700">
            <a:solidFill>
              <a:srgbClr val="1B3A54"/>
            </a:solidFill>
            <a:prstDash val="solid"/>
          </a:ln>
          <a:effectLst>
            <a:outerShdw sx="100000" sy="100000" kx="0" ky="0" algn="bl" rotWithShape="0" blurRad="127000" dist="508" dir="5400000">
              <a:srgbClr val="9AA8B4">
                <a:alpha val="25000"/>
              </a:srgbClr>
            </a:outerShdw>
          </a:effectLst>
        </p:spPr>
      </p:sp>
      <p:sp>
        <p:nvSpPr>
          <p:cNvPr id="13" name="Text 11"/>
          <p:cNvSpPr txBox="1"/>
          <p:nvPr/>
        </p:nvSpPr>
        <p:spPr>
          <a:xfrm>
            <a:off x="1051560" y="4937760"/>
            <a:ext cx="3291840" cy="320040"/>
          </a:xfrm>
          <a:prstGeom prst="rect">
            <a:avLst/>
          </a:prstGeom>
          <a:noFill/>
          <a:ln/>
        </p:spPr>
        <p:txBody>
          <a:bodyPr wrap="square" lIns="0" tIns="0" rIns="0" bIns="0" rtlCol="0" anchor="ctr"/>
          <a:lstStyle/>
          <a:p>
            <a:pPr indent="0" marL="0">
              <a:buNone/>
            </a:pPr>
            <a:r>
              <a:rPr lang="en-US" sz="1250" b="1" dirty="0">
                <a:solidFill>
                  <a:srgbClr val="B7E436"/>
                </a:solidFill>
                <a:latin typeface="Courier New" pitchFamily="34" charset="0"/>
                <a:ea typeface="Courier New" pitchFamily="34" charset="-122"/>
                <a:cs typeface="Courier New" pitchFamily="34" charset="-120"/>
              </a:rPr>
              <a:t>POST /api/body/assess</a:t>
            </a:r>
            <a:endParaRPr lang="en-US" sz="1250" dirty="0"/>
          </a:p>
        </p:txBody>
      </p:sp>
      <p:sp>
        <p:nvSpPr>
          <p:cNvPr id="14" name="Text 12"/>
          <p:cNvSpPr txBox="1"/>
          <p:nvPr/>
        </p:nvSpPr>
        <p:spPr>
          <a:xfrm>
            <a:off x="4526280" y="4937760"/>
            <a:ext cx="6583680" cy="320040"/>
          </a:xfrm>
          <a:prstGeom prst="rect">
            <a:avLst/>
          </a:prstGeom>
          <a:noFill/>
          <a:ln/>
        </p:spPr>
        <p:txBody>
          <a:bodyPr wrap="square" lIns="0" tIns="0" rIns="0" bIns="0" rtlCol="0" anchor="ctr"/>
          <a:lstStyle/>
          <a:p>
            <a:pPr indent="0" marL="0">
              <a:buNone/>
            </a:pPr>
            <a:r>
              <a:rPr lang="en-US" sz="1200" dirty="0">
                <a:solidFill>
                  <a:srgbClr val="D6E2EA"/>
                </a:solidFill>
                <a:latin typeface="Calibri" pitchFamily="34" charset="0"/>
                <a:ea typeface="Calibri" pitchFamily="34" charset="-122"/>
                <a:cs typeface="Calibri" pitchFamily="34" charset="-120"/>
              </a:rPr>
              <a:t>Send a twelve-year-old with consent set true. It returns metrics: null.</a:t>
            </a:r>
            <a:endParaRPr lang="en-US" sz="1200" dirty="0"/>
          </a:p>
        </p:txBody>
      </p:sp>
      <p:sp>
        <p:nvSpPr>
          <p:cNvPr id="15" name="Shape 13"/>
          <p:cNvSpPr/>
          <p:nvPr/>
        </p:nvSpPr>
        <p:spPr>
          <a:xfrm>
            <a:off x="731520" y="5577840"/>
            <a:ext cx="10698480" cy="694944"/>
          </a:xfrm>
          <a:prstGeom prst="roundRect">
            <a:avLst>
              <a:gd name="adj" fmla="val 10526"/>
            </a:avLst>
          </a:prstGeom>
          <a:solidFill>
            <a:srgbClr val="1B3A54"/>
          </a:solidFill>
          <a:ln w="12700">
            <a:solidFill>
              <a:srgbClr val="1B3A54"/>
            </a:solidFill>
            <a:prstDash val="solid"/>
          </a:ln>
          <a:effectLst>
            <a:outerShdw sx="100000" sy="100000" kx="0" ky="0" algn="bl" rotWithShape="0" blurRad="127000" dist="508" dir="5400000">
              <a:srgbClr val="9AA8B4">
                <a:alpha val="25000"/>
              </a:srgbClr>
            </a:outerShdw>
          </a:effectLst>
        </p:spPr>
      </p:sp>
      <p:sp>
        <p:nvSpPr>
          <p:cNvPr id="16" name="Text 14"/>
          <p:cNvSpPr txBox="1"/>
          <p:nvPr/>
        </p:nvSpPr>
        <p:spPr>
          <a:xfrm>
            <a:off x="1051560" y="5760720"/>
            <a:ext cx="3291840" cy="320040"/>
          </a:xfrm>
          <a:prstGeom prst="rect">
            <a:avLst/>
          </a:prstGeom>
          <a:noFill/>
          <a:ln/>
        </p:spPr>
        <p:txBody>
          <a:bodyPr wrap="square" lIns="0" tIns="0" rIns="0" bIns="0" rtlCol="0" anchor="ctr"/>
          <a:lstStyle/>
          <a:p>
            <a:pPr indent="0" marL="0">
              <a:buNone/>
            </a:pPr>
            <a:r>
              <a:rPr lang="en-US" sz="1250" b="1" dirty="0">
                <a:solidFill>
                  <a:srgbClr val="B7E436"/>
                </a:solidFill>
                <a:latin typeface="Courier New" pitchFamily="34" charset="0"/>
                <a:ea typeface="Courier New" pitchFamily="34" charset="-122"/>
                <a:cs typeface="Courier New" pitchFamily="34" charset="-120"/>
              </a:rPr>
              <a:t>GET  /api/health</a:t>
            </a:r>
            <a:endParaRPr lang="en-US" sz="1250" dirty="0"/>
          </a:p>
        </p:txBody>
      </p:sp>
      <p:sp>
        <p:nvSpPr>
          <p:cNvPr id="17" name="Text 15"/>
          <p:cNvSpPr txBox="1"/>
          <p:nvPr/>
        </p:nvSpPr>
        <p:spPr>
          <a:xfrm>
            <a:off x="4526280" y="5760720"/>
            <a:ext cx="6583680" cy="320040"/>
          </a:xfrm>
          <a:prstGeom prst="rect">
            <a:avLst/>
          </a:prstGeom>
          <a:noFill/>
          <a:ln/>
        </p:spPr>
        <p:txBody>
          <a:bodyPr wrap="square" lIns="0" tIns="0" rIns="0" bIns="0" rtlCol="0" anchor="ctr"/>
          <a:lstStyle/>
          <a:p>
            <a:pPr indent="0" marL="0">
              <a:buNone/>
            </a:pPr>
            <a:r>
              <a:rPr lang="en-US" sz="1200" dirty="0">
                <a:solidFill>
                  <a:srgbClr val="D6E2EA"/>
                </a:solidFill>
                <a:latin typeface="Calibri" pitchFamily="34" charset="0"/>
                <a:ea typeface="Calibri" pitchFamily="34" charset="-122"/>
                <a:cs typeface="Calibri" pitchFamily="34" charset="-120"/>
              </a:rPr>
              <a:t>A live check that opens a database connection, never a stored badge.</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31520" y="690372"/>
            <a:ext cx="118872" cy="118872"/>
          </a:xfrm>
          <a:prstGeom prst="ellipse">
            <a:avLst/>
          </a:prstGeom>
          <a:solidFill>
            <a:srgbClr val="00A99D"/>
          </a:solidFill>
          <a:ln/>
        </p:spPr>
      </p:sp>
      <p:sp>
        <p:nvSpPr>
          <p:cNvPr id="3" name="Text 1"/>
          <p:cNvSpPr txBox="1"/>
          <p:nvPr/>
        </p:nvSpPr>
        <p:spPr>
          <a:xfrm>
            <a:off x="969264" y="640080"/>
            <a:ext cx="7315200" cy="274320"/>
          </a:xfrm>
          <a:prstGeom prst="rect">
            <a:avLst/>
          </a:prstGeom>
          <a:noFill/>
          <a:ln/>
        </p:spPr>
        <p:txBody>
          <a:bodyPr wrap="square" lIns="0" tIns="0" rIns="0" bIns="0" rtlCol="0" anchor="ctr"/>
          <a:lstStyle/>
          <a:p>
            <a:pPr indent="0" marL="0">
              <a:buNone/>
            </a:pPr>
            <a:r>
              <a:rPr lang="en-US" sz="1200" b="1" spc="200" kern="0" dirty="0">
                <a:solidFill>
                  <a:srgbClr val="00A99D"/>
                </a:solidFill>
                <a:latin typeface="Arial" pitchFamily="34" charset="0"/>
                <a:ea typeface="Arial" pitchFamily="34" charset="-122"/>
                <a:cs typeface="Arial" pitchFamily="34" charset="-120"/>
              </a:rPr>
              <a:t>YOUR LEGAL, HR AND SECURITY TEAMS</a:t>
            </a:r>
            <a:endParaRPr lang="en-US" sz="1200" dirty="0"/>
          </a:p>
        </p:txBody>
      </p:sp>
      <p:sp>
        <p:nvSpPr>
          <p:cNvPr id="4" name="Text 2"/>
          <p:cNvSpPr txBox="1"/>
          <p:nvPr/>
        </p:nvSpPr>
        <p:spPr>
          <a:xfrm>
            <a:off x="731520" y="1051560"/>
            <a:ext cx="10698480" cy="1005840"/>
          </a:xfrm>
          <a:prstGeom prst="rect">
            <a:avLst/>
          </a:prstGeom>
          <a:noFill/>
          <a:ln/>
        </p:spPr>
        <p:txBody>
          <a:bodyPr wrap="square" lIns="0" tIns="0" rIns="0" bIns="0" rtlCol="0" anchor="ctr"/>
          <a:lstStyle/>
          <a:p>
            <a:pPr indent="0" marL="0">
              <a:buNone/>
            </a:pPr>
            <a:r>
              <a:rPr lang="en-US" sz="3600" b="1" dirty="0">
                <a:solidFill>
                  <a:srgbClr val="102A43"/>
                </a:solidFill>
                <a:latin typeface="Cambria" pitchFamily="34" charset="0"/>
                <a:ea typeface="Cambria" pitchFamily="34" charset="-122"/>
                <a:cs typeface="Cambria" pitchFamily="34" charset="-120"/>
              </a:rPr>
              <a:t>Four things enforced. Four things open.</a:t>
            </a:r>
            <a:endParaRPr lang="en-US" sz="3600" dirty="0"/>
          </a:p>
        </p:txBody>
      </p:sp>
      <p:sp>
        <p:nvSpPr>
          <p:cNvPr id="5" name="Text 3"/>
          <p:cNvSpPr txBox="1"/>
          <p:nvPr/>
        </p:nvSpPr>
        <p:spPr>
          <a:xfrm>
            <a:off x="731520" y="2148840"/>
            <a:ext cx="5166360" cy="274320"/>
          </a:xfrm>
          <a:prstGeom prst="rect">
            <a:avLst/>
          </a:prstGeom>
          <a:noFill/>
          <a:ln/>
        </p:spPr>
        <p:txBody>
          <a:bodyPr wrap="square" lIns="0" tIns="0" rIns="0" bIns="0" rtlCol="0" anchor="ctr"/>
          <a:lstStyle/>
          <a:p>
            <a:pPr indent="0" marL="0">
              <a:buNone/>
            </a:pPr>
            <a:r>
              <a:rPr lang="en-US" sz="1200" b="1" spc="200" kern="0" dirty="0">
                <a:solidFill>
                  <a:srgbClr val="00A99D"/>
                </a:solidFill>
                <a:latin typeface="Arial" pitchFamily="34" charset="0"/>
                <a:ea typeface="Arial" pitchFamily="34" charset="-122"/>
                <a:cs typeface="Arial" pitchFamily="34" charset="-120"/>
              </a:rPr>
              <a:t>Enforced in code and schema</a:t>
            </a:r>
            <a:endParaRPr lang="en-US" sz="1200" dirty="0"/>
          </a:p>
        </p:txBody>
      </p:sp>
      <p:sp>
        <p:nvSpPr>
          <p:cNvPr id="6" name="Text 4"/>
          <p:cNvSpPr txBox="1"/>
          <p:nvPr/>
        </p:nvSpPr>
        <p:spPr>
          <a:xfrm>
            <a:off x="6263640" y="2148840"/>
            <a:ext cx="5166360" cy="274320"/>
          </a:xfrm>
          <a:prstGeom prst="rect">
            <a:avLst/>
          </a:prstGeom>
          <a:noFill/>
          <a:ln/>
        </p:spPr>
        <p:txBody>
          <a:bodyPr wrap="square" lIns="0" tIns="0" rIns="0" bIns="0" rtlCol="0" anchor="ctr"/>
          <a:lstStyle/>
          <a:p>
            <a:pPr indent="0" marL="0">
              <a:buNone/>
            </a:pPr>
            <a:r>
              <a:rPr lang="en-US" sz="1200" b="1" spc="200" kern="0" dirty="0">
                <a:solidFill>
                  <a:srgbClr val="FF6B5E"/>
                </a:solidFill>
                <a:latin typeface="Arial" pitchFamily="34" charset="0"/>
                <a:ea typeface="Arial" pitchFamily="34" charset="-122"/>
                <a:cs typeface="Arial" pitchFamily="34" charset="-120"/>
              </a:rPr>
              <a:t>Open, and named before you ask</a:t>
            </a:r>
            <a:endParaRPr lang="en-US" sz="1200" dirty="0"/>
          </a:p>
        </p:txBody>
      </p:sp>
      <p:sp>
        <p:nvSpPr>
          <p:cNvPr id="7" name="Shape 5"/>
          <p:cNvSpPr/>
          <p:nvPr/>
        </p:nvSpPr>
        <p:spPr>
          <a:xfrm>
            <a:off x="731520" y="2514600"/>
            <a:ext cx="5166360" cy="2971800"/>
          </a:xfrm>
          <a:prstGeom prst="roundRect">
            <a:avLst>
              <a:gd name="adj" fmla="val 2462"/>
            </a:avLst>
          </a:prstGeom>
          <a:solidFill>
            <a:srgbClr val="F4F7F9"/>
          </a:solidFill>
          <a:ln w="12700">
            <a:solidFill>
              <a:srgbClr val="F4F7F9"/>
            </a:solidFill>
            <a:prstDash val="solid"/>
          </a:ln>
          <a:effectLst>
            <a:outerShdw sx="100000" sy="100000" kx="0" ky="0" algn="bl" rotWithShape="0" blurRad="127000" dist="508" dir="5400000">
              <a:srgbClr val="9AA8B4">
                <a:alpha val="25000"/>
              </a:srgbClr>
            </a:outerShdw>
          </a:effectLst>
        </p:spPr>
      </p:sp>
      <p:sp>
        <p:nvSpPr>
          <p:cNvPr id="8" name="Text 6"/>
          <p:cNvSpPr txBox="1"/>
          <p:nvPr/>
        </p:nvSpPr>
        <p:spPr>
          <a:xfrm>
            <a:off x="1097280" y="2743200"/>
            <a:ext cx="4434840" cy="256032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150" dirty="0">
                <a:solidFill>
                  <a:srgbClr val="475663"/>
                </a:solidFill>
                <a:latin typeface="Calibri" pitchFamily="34" charset="0"/>
                <a:ea typeface="Calibri" pitchFamily="34" charset="-122"/>
                <a:cs typeface="Calibri" pitchFamily="34" charset="-120"/>
              </a:rPr>
              <a:t>A declared condition is stored as a catalogue identifier. No severity, no dates, no medication, no free text.</a:t>
            </a:r>
            <a:endParaRPr lang="en-US" sz="1150" dirty="0"/>
          </a:p>
          <a:p>
            <a:pPr marL="342900" indent="-342900">
              <a:lnSpc>
                <a:spcPts val="1600"/>
              </a:lnSpc>
              <a:spcAft>
                <a:spcPts val="900"/>
              </a:spcAft>
              <a:buSzPct val="100000"/>
              <a:buChar char="•"/>
            </a:pPr>
            <a:r>
              <a:rPr lang="en-US" sz="1150" dirty="0">
                <a:solidFill>
                  <a:srgbClr val="475663"/>
                </a:solidFill>
                <a:latin typeface="Calibri" pitchFamily="34" charset="0"/>
                <a:ea typeface="Calibri" pitchFamily="34" charset="-122"/>
                <a:cs typeface="Calibri" pitchFamily="34" charset="-120"/>
              </a:rPr>
              <a:t>Deleting an account cascades in the database from the user row — a guarantee, not a callback somebody has to remember.</a:t>
            </a:r>
            <a:endParaRPr lang="en-US" sz="1150" dirty="0"/>
          </a:p>
          <a:p>
            <a:pPr marL="342900" indent="-342900">
              <a:lnSpc>
                <a:spcPts val="1600"/>
              </a:lnSpc>
              <a:spcAft>
                <a:spcPts val="900"/>
              </a:spcAft>
              <a:buSzPct val="100000"/>
              <a:buChar char="•"/>
            </a:pPr>
            <a:r>
              <a:rPr lang="en-US" sz="1150" dirty="0">
                <a:solidFill>
                  <a:srgbClr val="475663"/>
                </a:solidFill>
                <a:latin typeface="Calibri" pitchFamily="34" charset="0"/>
                <a:ea typeface="Calibri" pitchFamily="34" charset="-122"/>
                <a:cs typeface="Calibri" pitchFamily="34" charset="-120"/>
              </a:rPr>
              <a:t>Health data never reaches an organisation view at any cohort size. A test asserts that no module outside the conditions service touches that table.</a:t>
            </a:r>
            <a:endParaRPr lang="en-US" sz="1150" dirty="0"/>
          </a:p>
          <a:p>
            <a:pPr marL="342900" indent="-342900">
              <a:lnSpc>
                <a:spcPts val="1600"/>
              </a:lnSpc>
              <a:buSzPct val="100000"/>
              <a:buChar char="•"/>
            </a:pPr>
            <a:r>
              <a:rPr lang="en-US" sz="1150" dirty="0">
                <a:solidFill>
                  <a:srgbClr val="475663"/>
                </a:solidFill>
                <a:latin typeface="Calibri" pitchFamily="34" charset="0"/>
                <a:ea typeface="Calibri" pitchFamily="34" charset="-122"/>
                <a:cs typeface="Calibri" pitchFamily="34" charset="-120"/>
              </a:rPr>
              <a:t>Analytics identifiers are hashed on arrival with a salt regenerated daily, and never outlive the request.</a:t>
            </a:r>
            <a:endParaRPr lang="en-US" sz="1150" dirty="0"/>
          </a:p>
        </p:txBody>
      </p:sp>
      <p:sp>
        <p:nvSpPr>
          <p:cNvPr id="9" name="Shape 7"/>
          <p:cNvSpPr/>
          <p:nvPr/>
        </p:nvSpPr>
        <p:spPr>
          <a:xfrm>
            <a:off x="6263640" y="2514600"/>
            <a:ext cx="5166360" cy="2971800"/>
          </a:xfrm>
          <a:prstGeom prst="roundRect">
            <a:avLst>
              <a:gd name="adj" fmla="val 2462"/>
            </a:avLst>
          </a:prstGeom>
          <a:solidFill>
            <a:srgbClr val="F4F7F9"/>
          </a:solidFill>
          <a:ln w="12700">
            <a:solidFill>
              <a:srgbClr val="F4F7F9"/>
            </a:solidFill>
            <a:prstDash val="solid"/>
          </a:ln>
          <a:effectLst>
            <a:outerShdw sx="100000" sy="100000" kx="0" ky="0" algn="bl" rotWithShape="0" blurRad="127000" dist="508" dir="5400000">
              <a:srgbClr val="9AA8B4">
                <a:alpha val="25000"/>
              </a:srgbClr>
            </a:outerShdw>
          </a:effectLst>
        </p:spPr>
      </p:sp>
      <p:sp>
        <p:nvSpPr>
          <p:cNvPr id="10" name="Text 8"/>
          <p:cNvSpPr txBox="1"/>
          <p:nvPr/>
        </p:nvSpPr>
        <p:spPr>
          <a:xfrm>
            <a:off x="6629400" y="2743200"/>
            <a:ext cx="4434840" cy="256032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150" dirty="0">
                <a:solidFill>
                  <a:srgbClr val="475663"/>
                </a:solidFill>
                <a:latin typeface="Calibri" pitchFamily="34" charset="0"/>
                <a:ea typeface="Calibri" pitchFamily="34" charset="-122"/>
                <a:cs typeface="Calibri" pitchFamily="34" charset="-120"/>
              </a:rPr>
              <a:t>No external WCAG 2.2 AA audit and no VPAT. Accessibility is designed for and tested in places, not certified.</a:t>
            </a:r>
            <a:endParaRPr lang="en-US" sz="1150" dirty="0"/>
          </a:p>
          <a:p>
            <a:pPr marL="342900" indent="-342900">
              <a:lnSpc>
                <a:spcPts val="1600"/>
              </a:lnSpc>
              <a:spcAft>
                <a:spcPts val="900"/>
              </a:spcAft>
              <a:buSzPct val="100000"/>
              <a:buChar char="•"/>
            </a:pPr>
            <a:r>
              <a:rPr lang="en-US" sz="1150" dirty="0">
                <a:solidFill>
                  <a:srgbClr val="475663"/>
                </a:solidFill>
                <a:latin typeface="Calibri" pitchFamily="34" charset="0"/>
                <a:ea typeface="Calibri" pitchFamily="34" charset="-122"/>
                <a:cs typeface="Calibri" pitchFamily="34" charset="-120"/>
              </a:rPr>
              <a:t>Age is self-declared. Ofcom’s position is that self-declaration is not highly effective age assurance.</a:t>
            </a:r>
            <a:endParaRPr lang="en-US" sz="1150" dirty="0"/>
          </a:p>
          <a:p>
            <a:pPr marL="342900" indent="-342900">
              <a:lnSpc>
                <a:spcPts val="1600"/>
              </a:lnSpc>
              <a:spcAft>
                <a:spcPts val="900"/>
              </a:spcAft>
              <a:buSzPct val="100000"/>
              <a:buChar char="•"/>
            </a:pPr>
            <a:r>
              <a:rPr lang="en-US" sz="1150" dirty="0">
                <a:solidFill>
                  <a:srgbClr val="475663"/>
                </a:solidFill>
                <a:latin typeface="Calibri" pitchFamily="34" charset="0"/>
                <a:ea typeface="Calibri" pitchFamily="34" charset="-122"/>
                <a:cs typeface="Calibri" pitchFamily="34" charset="-120"/>
              </a:rPr>
              <a:t>A member can read their whole record through their own endpoints, but there is no one-click export archive yet.</a:t>
            </a:r>
            <a:endParaRPr lang="en-US" sz="1150" dirty="0"/>
          </a:p>
          <a:p>
            <a:pPr marL="342900" indent="-342900">
              <a:lnSpc>
                <a:spcPts val="1600"/>
              </a:lnSpc>
              <a:buSzPct val="100000"/>
              <a:buChar char="•"/>
            </a:pPr>
            <a:r>
              <a:rPr lang="en-US" sz="1150" dirty="0">
                <a:solidFill>
                  <a:srgbClr val="475663"/>
                </a:solidFill>
                <a:latin typeface="Calibri" pitchFamily="34" charset="0"/>
                <a:ea typeface="Calibri" pitchFamily="34" charset="-122"/>
                <a:cs typeface="Calibri" pitchFamily="34" charset="-120"/>
              </a:rPr>
              <a:t>The Clinical Safety Officer appointment record is incomplete against DCB0129, and the hazard log says so itself.</a:t>
            </a:r>
            <a:endParaRPr lang="en-US" sz="1150" dirty="0"/>
          </a:p>
        </p:txBody>
      </p:sp>
      <p:sp>
        <p:nvSpPr>
          <p:cNvPr id="11" name="Text 9"/>
          <p:cNvSpPr txBox="1"/>
          <p:nvPr/>
        </p:nvSpPr>
        <p:spPr>
          <a:xfrm>
            <a:off x="731520" y="5715000"/>
            <a:ext cx="10698480" cy="640080"/>
          </a:xfrm>
          <a:prstGeom prst="rect">
            <a:avLst/>
          </a:prstGeom>
          <a:noFill/>
          <a:ln/>
        </p:spPr>
        <p:txBody>
          <a:bodyPr wrap="square" lIns="0" tIns="0" rIns="0" bIns="0" rtlCol="0" anchor="ctr"/>
          <a:lstStyle/>
          <a:p>
            <a:pPr indent="0" marL="0">
              <a:lnSpc>
                <a:spcPts val="1800"/>
              </a:lnSpc>
              <a:buNone/>
            </a:pPr>
            <a:r>
              <a:rPr lang="en-US" sz="1250" i="1" dirty="0">
                <a:solidFill>
                  <a:srgbClr val="475663"/>
                </a:solidFill>
                <a:latin typeface="Calibri" pitchFamily="34" charset="0"/>
                <a:ea typeface="Calibri" pitchFamily="34" charset="-122"/>
                <a:cs typeface="Calibri" pitchFamily="34" charset="-120"/>
              </a:rPr>
              <a:t>We did not assemble the right-hand column for this slide. It is what GET /api/assurance returns to anybody who calls it, gaps lifted to the top of the response rather than left to be found area by area.</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31520" y="690372"/>
            <a:ext cx="118872" cy="118872"/>
          </a:xfrm>
          <a:prstGeom prst="ellipse">
            <a:avLst/>
          </a:prstGeom>
          <a:solidFill>
            <a:srgbClr val="00A99D"/>
          </a:solidFill>
          <a:ln/>
        </p:spPr>
      </p:sp>
      <p:sp>
        <p:nvSpPr>
          <p:cNvPr id="3" name="Text 1"/>
          <p:cNvSpPr txBox="1"/>
          <p:nvPr/>
        </p:nvSpPr>
        <p:spPr>
          <a:xfrm>
            <a:off x="969264" y="640080"/>
            <a:ext cx="7315200" cy="274320"/>
          </a:xfrm>
          <a:prstGeom prst="rect">
            <a:avLst/>
          </a:prstGeom>
          <a:noFill/>
          <a:ln/>
        </p:spPr>
        <p:txBody>
          <a:bodyPr wrap="square" lIns="0" tIns="0" rIns="0" bIns="0" rtlCol="0" anchor="ctr"/>
          <a:lstStyle/>
          <a:p>
            <a:pPr indent="0" marL="0">
              <a:buNone/>
            </a:pPr>
            <a:r>
              <a:rPr lang="en-US" sz="1200" b="1" spc="200" kern="0" dirty="0">
                <a:solidFill>
                  <a:srgbClr val="00A99D"/>
                </a:solidFill>
                <a:latin typeface="Arial" pitchFamily="34" charset="0"/>
                <a:ea typeface="Arial" pitchFamily="34" charset="-122"/>
                <a:cs typeface="Arial" pitchFamily="34" charset="-120"/>
              </a:rPr>
              <a:t>THE DEAL</a:t>
            </a:r>
            <a:endParaRPr lang="en-US" sz="1200" dirty="0"/>
          </a:p>
        </p:txBody>
      </p:sp>
      <p:sp>
        <p:nvSpPr>
          <p:cNvPr id="4" name="Text 2"/>
          <p:cNvSpPr txBox="1"/>
          <p:nvPr/>
        </p:nvSpPr>
        <p:spPr>
          <a:xfrm>
            <a:off x="731520" y="1051560"/>
            <a:ext cx="10698480" cy="1005840"/>
          </a:xfrm>
          <a:prstGeom prst="rect">
            <a:avLst/>
          </a:prstGeom>
          <a:noFill/>
          <a:ln/>
        </p:spPr>
        <p:txBody>
          <a:bodyPr wrap="square" lIns="0" tIns="0" rIns="0" bIns="0" rtlCol="0" anchor="ctr"/>
          <a:lstStyle/>
          <a:p>
            <a:pPr indent="0" marL="0">
              <a:buNone/>
            </a:pPr>
            <a:r>
              <a:rPr lang="en-US" sz="3800" b="1" dirty="0">
                <a:solidFill>
                  <a:srgbClr val="102A43"/>
                </a:solidFill>
                <a:latin typeface="Cambria" pitchFamily="34" charset="0"/>
                <a:ea typeface="Cambria" pitchFamily="34" charset="-122"/>
                <a:cs typeface="Cambria" pitchFamily="34" charset="-120"/>
              </a:rPr>
              <a:t>You would be our first.</a:t>
            </a:r>
            <a:endParaRPr lang="en-US" sz="3800" dirty="0"/>
          </a:p>
        </p:txBody>
      </p:sp>
      <p:sp>
        <p:nvSpPr>
          <p:cNvPr id="5" name="Text 3"/>
          <p:cNvSpPr txBox="1"/>
          <p:nvPr/>
        </p:nvSpPr>
        <p:spPr>
          <a:xfrm>
            <a:off x="731520" y="2103120"/>
            <a:ext cx="5760720" cy="1463040"/>
          </a:xfrm>
          <a:prstGeom prst="rect">
            <a:avLst/>
          </a:prstGeom>
          <a:noFill/>
          <a:ln/>
        </p:spPr>
        <p:txBody>
          <a:bodyPr wrap="square" lIns="0" tIns="0" rIns="0" bIns="0" rtlCol="0" anchor="ctr"/>
          <a:lstStyle/>
          <a:p>
            <a:pPr indent="0" marL="0">
              <a:lnSpc>
                <a:spcPts val="2500"/>
              </a:lnSpc>
              <a:buNone/>
            </a:pPr>
            <a:r>
              <a:rPr lang="en-US" sz="1500" dirty="0">
                <a:solidFill>
                  <a:srgbClr val="475663"/>
                </a:solidFill>
                <a:latin typeface="Calibri" pitchFamily="34" charset="0"/>
                <a:ea typeface="Calibri" pitchFamily="34" charset="-122"/>
                <a:cs typeface="Calibri" pitchFamily="34" charset="-120"/>
              </a:rPr>
              <a:t>Every vendor in this category opens with logos. We have none — no customers, no case study, no measured outcome. So we are not asking you to believe a result. We are asking you to help produce the first one, and pricing it accordingly.</a:t>
            </a:r>
            <a:endParaRPr lang="en-US" sz="1500" dirty="0"/>
          </a:p>
        </p:txBody>
      </p:sp>
      <p:sp>
        <p:nvSpPr>
          <p:cNvPr id="6" name="Text 4"/>
          <p:cNvSpPr txBox="1"/>
          <p:nvPr/>
        </p:nvSpPr>
        <p:spPr>
          <a:xfrm>
            <a:off x="731520" y="3794760"/>
            <a:ext cx="1828800" cy="685800"/>
          </a:xfrm>
          <a:prstGeom prst="rect">
            <a:avLst/>
          </a:prstGeom>
          <a:noFill/>
          <a:ln/>
        </p:spPr>
        <p:txBody>
          <a:bodyPr wrap="square" lIns="0" tIns="0" rIns="0" bIns="0" rtlCol="0" anchor="ctr"/>
          <a:lstStyle/>
          <a:p>
            <a:pPr indent="0" marL="0">
              <a:buNone/>
            </a:pPr>
            <a:r>
              <a:rPr lang="en-US" sz="4000" b="1" dirty="0">
                <a:solidFill>
                  <a:srgbClr val="00A99D"/>
                </a:solidFill>
                <a:latin typeface="Cambria" pitchFamily="34" charset="0"/>
                <a:ea typeface="Cambria" pitchFamily="34" charset="-122"/>
                <a:cs typeface="Cambria" pitchFamily="34" charset="-120"/>
              </a:rPr>
              <a:t>0</a:t>
            </a:r>
            <a:endParaRPr lang="en-US" sz="4000" dirty="0"/>
          </a:p>
        </p:txBody>
      </p:sp>
      <p:sp>
        <p:nvSpPr>
          <p:cNvPr id="7" name="Text 5"/>
          <p:cNvSpPr txBox="1"/>
          <p:nvPr/>
        </p:nvSpPr>
        <p:spPr>
          <a:xfrm>
            <a:off x="731520" y="4544568"/>
            <a:ext cx="1828800" cy="640080"/>
          </a:xfrm>
          <a:prstGeom prst="rect">
            <a:avLst/>
          </a:prstGeom>
          <a:noFill/>
          <a:ln/>
        </p:spPr>
        <p:txBody>
          <a:bodyPr wrap="square" lIns="0" tIns="0" rIns="0" bIns="0" rtlCol="0" anchor="ctr"/>
          <a:lstStyle/>
          <a:p>
            <a:pPr indent="0" marL="0">
              <a:lnSpc>
                <a:spcPts val="1500"/>
              </a:lnSpc>
              <a:buNone/>
            </a:pPr>
            <a:r>
              <a:rPr lang="en-US" sz="1100" dirty="0">
                <a:solidFill>
                  <a:srgbClr val="475663"/>
                </a:solidFill>
                <a:latin typeface="Calibri" pitchFamily="34" charset="0"/>
                <a:ea typeface="Calibri" pitchFamily="34" charset="-122"/>
                <a:cs typeface="Calibri" pitchFamily="34" charset="-120"/>
              </a:rPr>
              <a:t>organisations have</a:t>
            </a:r>
            <a:endParaRPr lang="en-US" sz="1100" dirty="0"/>
          </a:p>
          <a:p>
            <a:pPr indent="0" marL="0">
              <a:lnSpc>
                <a:spcPts val="1500"/>
              </a:lnSpc>
              <a:buNone/>
            </a:pPr>
            <a:r>
              <a:rPr lang="en-US" sz="1100" dirty="0">
                <a:solidFill>
                  <a:srgbClr val="475663"/>
                </a:solidFill>
                <a:latin typeface="Calibri" pitchFamily="34" charset="0"/>
                <a:ea typeface="Calibri" pitchFamily="34" charset="-122"/>
                <a:cs typeface="Calibri" pitchFamily="34" charset="-120"/>
              </a:rPr>
              <a:t>run a cohort</a:t>
            </a:r>
            <a:endParaRPr lang="en-US" sz="1100" dirty="0"/>
          </a:p>
        </p:txBody>
      </p:sp>
      <p:sp>
        <p:nvSpPr>
          <p:cNvPr id="8" name="Text 6"/>
          <p:cNvSpPr txBox="1"/>
          <p:nvPr/>
        </p:nvSpPr>
        <p:spPr>
          <a:xfrm>
            <a:off x="2697480" y="3794760"/>
            <a:ext cx="1828800" cy="685800"/>
          </a:xfrm>
          <a:prstGeom prst="rect">
            <a:avLst/>
          </a:prstGeom>
          <a:noFill/>
          <a:ln/>
        </p:spPr>
        <p:txBody>
          <a:bodyPr wrap="square" lIns="0" tIns="0" rIns="0" bIns="0" rtlCol="0" anchor="ctr"/>
          <a:lstStyle/>
          <a:p>
            <a:pPr indent="0" marL="0">
              <a:buNone/>
            </a:pPr>
            <a:r>
              <a:rPr lang="en-US" sz="4000" b="1" dirty="0">
                <a:solidFill>
                  <a:srgbClr val="00A99D"/>
                </a:solidFill>
                <a:latin typeface="Cambria" pitchFamily="34" charset="0"/>
                <a:ea typeface="Cambria" pitchFamily="34" charset="-122"/>
                <a:cs typeface="Cambria" pitchFamily="34" charset="-120"/>
              </a:rPr>
              <a:t>3–5</a:t>
            </a:r>
            <a:endParaRPr lang="en-US" sz="4000" dirty="0"/>
          </a:p>
        </p:txBody>
      </p:sp>
      <p:sp>
        <p:nvSpPr>
          <p:cNvPr id="9" name="Text 7"/>
          <p:cNvSpPr txBox="1"/>
          <p:nvPr/>
        </p:nvSpPr>
        <p:spPr>
          <a:xfrm>
            <a:off x="2697480" y="4544568"/>
            <a:ext cx="1828800" cy="640080"/>
          </a:xfrm>
          <a:prstGeom prst="rect">
            <a:avLst/>
          </a:prstGeom>
          <a:noFill/>
          <a:ln/>
        </p:spPr>
        <p:txBody>
          <a:bodyPr wrap="square" lIns="0" tIns="0" rIns="0" bIns="0" rtlCol="0" anchor="ctr"/>
          <a:lstStyle/>
          <a:p>
            <a:pPr indent="0" marL="0">
              <a:lnSpc>
                <a:spcPts val="1500"/>
              </a:lnSpc>
              <a:buNone/>
            </a:pPr>
            <a:r>
              <a:rPr lang="en-US" sz="1100" dirty="0">
                <a:solidFill>
                  <a:srgbClr val="475663"/>
                </a:solidFill>
                <a:latin typeface="Calibri" pitchFamily="34" charset="0"/>
                <a:ea typeface="Calibri" pitchFamily="34" charset="-122"/>
                <a:cs typeface="Calibri" pitchFamily="34" charset="-120"/>
              </a:rPr>
              <a:t>design partners, and</a:t>
            </a:r>
            <a:endParaRPr lang="en-US" sz="1100" dirty="0"/>
          </a:p>
          <a:p>
            <a:pPr indent="0" marL="0">
              <a:lnSpc>
                <a:spcPts val="1500"/>
              </a:lnSpc>
              <a:buNone/>
            </a:pPr>
            <a:r>
              <a:rPr lang="en-US" sz="1100" dirty="0">
                <a:solidFill>
                  <a:srgbClr val="475663"/>
                </a:solidFill>
                <a:latin typeface="Calibri" pitchFamily="34" charset="0"/>
                <a:ea typeface="Calibri" pitchFamily="34" charset="-122"/>
                <a:cs typeface="Calibri" pitchFamily="34" charset="-120"/>
              </a:rPr>
              <a:t>we want no more</a:t>
            </a:r>
            <a:endParaRPr lang="en-US" sz="1100" dirty="0"/>
          </a:p>
        </p:txBody>
      </p:sp>
      <p:sp>
        <p:nvSpPr>
          <p:cNvPr id="10" name="Text 8"/>
          <p:cNvSpPr txBox="1"/>
          <p:nvPr/>
        </p:nvSpPr>
        <p:spPr>
          <a:xfrm>
            <a:off x="4663440" y="3794760"/>
            <a:ext cx="1828800" cy="685800"/>
          </a:xfrm>
          <a:prstGeom prst="rect">
            <a:avLst/>
          </a:prstGeom>
          <a:noFill/>
          <a:ln/>
        </p:spPr>
        <p:txBody>
          <a:bodyPr wrap="square" lIns="0" tIns="0" rIns="0" bIns="0" rtlCol="0" anchor="ctr"/>
          <a:lstStyle/>
          <a:p>
            <a:pPr indent="0" marL="0">
              <a:buNone/>
            </a:pPr>
            <a:r>
              <a:rPr lang="en-US" sz="4000" b="1" dirty="0">
                <a:solidFill>
                  <a:srgbClr val="00A99D"/>
                </a:solidFill>
                <a:latin typeface="Cambria" pitchFamily="34" charset="0"/>
                <a:ea typeface="Cambria" pitchFamily="34" charset="-122"/>
                <a:cs typeface="Cambria" pitchFamily="34" charset="-120"/>
              </a:rPr>
              <a:t>£2</a:t>
            </a:r>
            <a:endParaRPr lang="en-US" sz="4000" dirty="0"/>
          </a:p>
        </p:txBody>
      </p:sp>
      <p:sp>
        <p:nvSpPr>
          <p:cNvPr id="11" name="Text 9"/>
          <p:cNvSpPr txBox="1"/>
          <p:nvPr/>
        </p:nvSpPr>
        <p:spPr>
          <a:xfrm>
            <a:off x="4663440" y="4544568"/>
            <a:ext cx="1828800" cy="640080"/>
          </a:xfrm>
          <a:prstGeom prst="rect">
            <a:avLst/>
          </a:prstGeom>
          <a:noFill/>
          <a:ln/>
        </p:spPr>
        <p:txBody>
          <a:bodyPr wrap="square" lIns="0" tIns="0" rIns="0" bIns="0" rtlCol="0" anchor="ctr"/>
          <a:lstStyle/>
          <a:p>
            <a:pPr indent="0" marL="0">
              <a:lnSpc>
                <a:spcPts val="1500"/>
              </a:lnSpc>
              <a:buNone/>
            </a:pPr>
            <a:r>
              <a:rPr lang="en-US" sz="1100" dirty="0">
                <a:solidFill>
                  <a:srgbClr val="475663"/>
                </a:solidFill>
                <a:latin typeface="Calibri" pitchFamily="34" charset="0"/>
                <a:ea typeface="Calibri" pitchFamily="34" charset="-122"/>
                <a:cs typeface="Calibri" pitchFamily="34" charset="-120"/>
              </a:rPr>
              <a:t>a seat, held for the</a:t>
            </a:r>
            <a:endParaRPr lang="en-US" sz="1100" dirty="0"/>
          </a:p>
          <a:p>
            <a:pPr indent="0" marL="0">
              <a:lnSpc>
                <a:spcPts val="1500"/>
              </a:lnSpc>
              <a:buNone/>
            </a:pPr>
            <a:r>
              <a:rPr lang="en-US" sz="1100" dirty="0">
                <a:solidFill>
                  <a:srgbClr val="475663"/>
                </a:solidFill>
                <a:latin typeface="Calibri" pitchFamily="34" charset="0"/>
                <a:ea typeface="Calibri" pitchFamily="34" charset="-122"/>
                <a:cs typeface="Calibri" pitchFamily="34" charset="-120"/>
              </a:rPr>
              <a:t>whole first year</a:t>
            </a:r>
            <a:endParaRPr lang="en-US" sz="1100" dirty="0"/>
          </a:p>
        </p:txBody>
      </p:sp>
      <p:sp>
        <p:nvSpPr>
          <p:cNvPr id="12" name="Shape 10"/>
          <p:cNvSpPr/>
          <p:nvPr/>
        </p:nvSpPr>
        <p:spPr>
          <a:xfrm>
            <a:off x="6720840" y="2103120"/>
            <a:ext cx="4709160" cy="3291840"/>
          </a:xfrm>
          <a:prstGeom prst="roundRect">
            <a:avLst>
              <a:gd name="adj" fmla="val 2222"/>
            </a:avLst>
          </a:prstGeom>
          <a:solidFill>
            <a:srgbClr val="102A43"/>
          </a:solidFill>
          <a:ln w="12700">
            <a:solidFill>
              <a:srgbClr val="102A43"/>
            </a:solidFill>
            <a:prstDash val="solid"/>
          </a:ln>
          <a:effectLst>
            <a:outerShdw sx="100000" sy="100000" kx="0" ky="0" algn="bl" rotWithShape="0" blurRad="127000" dist="508" dir="5400000">
              <a:srgbClr val="9AA8B4">
                <a:alpha val="25000"/>
              </a:srgbClr>
            </a:outerShdw>
          </a:effectLst>
        </p:spPr>
      </p:sp>
      <p:sp>
        <p:nvSpPr>
          <p:cNvPr id="13" name="Text 11"/>
          <p:cNvSpPr txBox="1"/>
          <p:nvPr/>
        </p:nvSpPr>
        <p:spPr>
          <a:xfrm>
            <a:off x="7086600" y="2377440"/>
            <a:ext cx="4023360" cy="731520"/>
          </a:xfrm>
          <a:prstGeom prst="rect">
            <a:avLst/>
          </a:prstGeom>
          <a:noFill/>
          <a:ln/>
        </p:spPr>
        <p:txBody>
          <a:bodyPr wrap="square" lIns="0" tIns="0" rIns="0" bIns="0" rtlCol="0" anchor="ctr"/>
          <a:lstStyle/>
          <a:p>
            <a:pPr indent="0" marL="0">
              <a:lnSpc>
                <a:spcPts val="2300"/>
              </a:lnSpc>
              <a:buNone/>
            </a:pPr>
            <a:r>
              <a:rPr lang="en-US" sz="1700" b="1" dirty="0">
                <a:solidFill>
                  <a:srgbClr val="FFFFFF"/>
                </a:solidFill>
                <a:latin typeface="Cambria" pitchFamily="34" charset="0"/>
                <a:ea typeface="Cambria" pitchFamily="34" charset="-122"/>
                <a:cs typeface="Cambria" pitchFamily="34" charset="-120"/>
              </a:rPr>
              <a:t>What a design partner gets</a:t>
            </a:r>
            <a:endParaRPr lang="en-US" sz="1700" dirty="0"/>
          </a:p>
          <a:p>
            <a:pPr indent="0" marL="0">
              <a:lnSpc>
                <a:spcPts val="2300"/>
              </a:lnSpc>
              <a:buNone/>
            </a:pPr>
            <a:r>
              <a:rPr lang="en-US" sz="1700" b="1" dirty="0">
                <a:solidFill>
                  <a:srgbClr val="FFFFFF"/>
                </a:solidFill>
                <a:latin typeface="Cambria" pitchFamily="34" charset="0"/>
                <a:ea typeface="Cambria" pitchFamily="34" charset="-122"/>
                <a:cs typeface="Cambria" pitchFamily="34" charset="-120"/>
              </a:rPr>
              <a:t>that customer six will not</a:t>
            </a:r>
            <a:endParaRPr lang="en-US" sz="1700" dirty="0"/>
          </a:p>
        </p:txBody>
      </p:sp>
      <p:sp>
        <p:nvSpPr>
          <p:cNvPr id="14" name="Text 12"/>
          <p:cNvSpPr txBox="1"/>
          <p:nvPr/>
        </p:nvSpPr>
        <p:spPr>
          <a:xfrm>
            <a:off x="7086600" y="3291840"/>
            <a:ext cx="3977640" cy="1920240"/>
          </a:xfrm>
          <a:prstGeom prst="rect">
            <a:avLst/>
          </a:prstGeom>
          <a:noFill/>
          <a:ln/>
        </p:spPr>
        <p:txBody>
          <a:bodyPr wrap="square" lIns="0" tIns="0" rIns="0" bIns="0" rtlCol="0" anchor="t"/>
          <a:lstStyle/>
          <a:p>
            <a:pPr marL="342900" indent="-342900">
              <a:lnSpc>
                <a:spcPts val="1700"/>
              </a:lnSpc>
              <a:spcAft>
                <a:spcPts val="1000"/>
              </a:spcAft>
              <a:buSzPct val="100000"/>
              <a:buChar char="•"/>
            </a:pPr>
            <a:r>
              <a:rPr lang="en-US" sz="1250" dirty="0">
                <a:solidFill>
                  <a:srgbClr val="D6E2EA"/>
                </a:solidFill>
                <a:latin typeface="Calibri" pitchFamily="34" charset="0"/>
                <a:ea typeface="Calibri" pitchFamily="34" charset="-122"/>
                <a:cs typeface="Calibri" pitchFamily="34" charset="-120"/>
              </a:rPr>
              <a:t>The floor price, held for twelve months</a:t>
            </a:r>
            <a:endParaRPr lang="en-US" sz="1250" dirty="0"/>
          </a:p>
          <a:p>
            <a:pPr marL="342900" indent="-342900">
              <a:lnSpc>
                <a:spcPts val="1700"/>
              </a:lnSpc>
              <a:spcAft>
                <a:spcPts val="1000"/>
              </a:spcAft>
              <a:buSzPct val="100000"/>
              <a:buChar char="•"/>
            </a:pPr>
            <a:r>
              <a:rPr lang="en-US" sz="1250" dirty="0">
                <a:solidFill>
                  <a:srgbClr val="D6E2EA"/>
                </a:solidFill>
                <a:latin typeface="Calibri" pitchFamily="34" charset="0"/>
                <a:ea typeface="Calibri" pitchFamily="34" charset="-122"/>
                <a:cs typeface="Calibri" pitchFamily="34" charset="-120"/>
              </a:rPr>
              <a:t>First call on the order of the four unbuilt things on slide six</a:t>
            </a:r>
            <a:endParaRPr lang="en-US" sz="1250" dirty="0"/>
          </a:p>
          <a:p>
            <a:pPr marL="342900" indent="-342900">
              <a:lnSpc>
                <a:spcPts val="1700"/>
              </a:lnSpc>
              <a:spcAft>
                <a:spcPts val="1000"/>
              </a:spcAft>
              <a:buSzPct val="100000"/>
              <a:buChar char="•"/>
            </a:pPr>
            <a:r>
              <a:rPr lang="en-US" sz="1250" dirty="0">
                <a:solidFill>
                  <a:srgbClr val="D6E2EA"/>
                </a:solidFill>
                <a:latin typeface="Calibri" pitchFamily="34" charset="0"/>
                <a:ea typeface="Calibri" pitchFamily="34" charset="-122"/>
                <a:cs typeface="Calibri" pitchFamily="34" charset="-120"/>
              </a:rPr>
              <a:t>A named sponsor on our side, not a ticket queue</a:t>
            </a:r>
            <a:endParaRPr lang="en-US" sz="1250" dirty="0"/>
          </a:p>
          <a:p>
            <a:pPr marL="342900" indent="-342900">
              <a:lnSpc>
                <a:spcPts val="1700"/>
              </a:lnSpc>
              <a:buSzPct val="100000"/>
              <a:buChar char="•"/>
            </a:pPr>
            <a:r>
              <a:rPr lang="en-US" sz="1250" dirty="0">
                <a:solidFill>
                  <a:srgbClr val="D6E2EA"/>
                </a:solidFill>
                <a:latin typeface="Calibri" pitchFamily="34" charset="0"/>
                <a:ea typeface="Calibri" pitchFamily="34" charset="-122"/>
                <a:cs typeface="Calibri" pitchFamily="34" charset="-120"/>
              </a:rPr>
              <a:t>A twelve-week pilot that ends at week twelve unless you say otherwise</a:t>
            </a:r>
            <a:endParaRPr lang="en-US" sz="1250" dirty="0"/>
          </a:p>
        </p:txBody>
      </p:sp>
      <p:sp>
        <p:nvSpPr>
          <p:cNvPr id="15" name="Text 13"/>
          <p:cNvSpPr txBox="1"/>
          <p:nvPr/>
        </p:nvSpPr>
        <p:spPr>
          <a:xfrm>
            <a:off x="731520" y="5623560"/>
            <a:ext cx="10698480" cy="640080"/>
          </a:xfrm>
          <a:prstGeom prst="rect">
            <a:avLst/>
          </a:prstGeom>
          <a:noFill/>
          <a:ln/>
        </p:spPr>
        <p:txBody>
          <a:bodyPr wrap="square" lIns="0" tIns="0" rIns="0" bIns="0" rtlCol="0" anchor="ctr"/>
          <a:lstStyle/>
          <a:p>
            <a:pPr indent="0" marL="0">
              <a:lnSpc>
                <a:spcPts val="1900"/>
              </a:lnSpc>
              <a:buNone/>
            </a:pPr>
            <a:r>
              <a:rPr lang="en-US" sz="1300" i="1" dirty="0">
                <a:solidFill>
                  <a:srgbClr val="00A99D"/>
                </a:solidFill>
                <a:latin typeface="Calibri" pitchFamily="34" charset="0"/>
                <a:ea typeface="Calibri" pitchFamily="34" charset="-122"/>
                <a:cs typeface="Calibri" pitchFamily="34" charset="-120"/>
              </a:rPr>
              <a:t>Once there is a case study, this conversation costs more and includes less. That is not a tactic — it is what happens to every design-partner programme that works.</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31520" y="690372"/>
            <a:ext cx="118872" cy="118872"/>
          </a:xfrm>
          <a:prstGeom prst="ellipse">
            <a:avLst/>
          </a:prstGeom>
          <a:solidFill>
            <a:srgbClr val="00A99D"/>
          </a:solidFill>
          <a:ln/>
        </p:spPr>
      </p:sp>
      <p:sp>
        <p:nvSpPr>
          <p:cNvPr id="3" name="Text 1"/>
          <p:cNvSpPr txBox="1"/>
          <p:nvPr/>
        </p:nvSpPr>
        <p:spPr>
          <a:xfrm>
            <a:off x="969264" y="640080"/>
            <a:ext cx="7315200" cy="274320"/>
          </a:xfrm>
          <a:prstGeom prst="rect">
            <a:avLst/>
          </a:prstGeom>
          <a:noFill/>
          <a:ln/>
        </p:spPr>
        <p:txBody>
          <a:bodyPr wrap="square" lIns="0" tIns="0" rIns="0" bIns="0" rtlCol="0" anchor="ctr"/>
          <a:lstStyle/>
          <a:p>
            <a:pPr indent="0" marL="0">
              <a:buNone/>
            </a:pPr>
            <a:r>
              <a:rPr lang="en-US" sz="1200" b="1" spc="200" kern="0" dirty="0">
                <a:solidFill>
                  <a:srgbClr val="00A99D"/>
                </a:solidFill>
                <a:latin typeface="Arial" pitchFamily="34" charset="0"/>
                <a:ea typeface="Arial" pitchFamily="34" charset="-122"/>
                <a:cs typeface="Arial" pitchFamily="34" charset="-120"/>
              </a:rPr>
              <a:t>COMMERCIALS</a:t>
            </a:r>
            <a:endParaRPr lang="en-US" sz="1200" dirty="0"/>
          </a:p>
        </p:txBody>
      </p:sp>
      <p:sp>
        <p:nvSpPr>
          <p:cNvPr id="4" name="Text 2"/>
          <p:cNvSpPr txBox="1"/>
          <p:nvPr/>
        </p:nvSpPr>
        <p:spPr>
          <a:xfrm>
            <a:off x="731520" y="1051560"/>
            <a:ext cx="10698480" cy="1005840"/>
          </a:xfrm>
          <a:prstGeom prst="rect">
            <a:avLst/>
          </a:prstGeom>
          <a:noFill/>
          <a:ln/>
        </p:spPr>
        <p:txBody>
          <a:bodyPr wrap="square" lIns="0" tIns="0" rIns="0" bIns="0" rtlCol="0" anchor="ctr"/>
          <a:lstStyle/>
          <a:p>
            <a:pPr indent="0" marL="0">
              <a:buNone/>
            </a:pPr>
            <a:r>
              <a:rPr lang="en-US" sz="3800" b="1" dirty="0">
                <a:solidFill>
                  <a:srgbClr val="102A43"/>
                </a:solidFill>
                <a:latin typeface="Cambria" pitchFamily="34" charset="0"/>
                <a:ea typeface="Cambria" pitchFamily="34" charset="-122"/>
                <a:cs typeface="Cambria" pitchFamily="34" charset="-120"/>
              </a:rPr>
              <a:t>From £2 per employee per month.</a:t>
            </a:r>
            <a:endParaRPr lang="en-US" sz="3800" dirty="0"/>
          </a:p>
        </p:txBody>
      </p:sp>
      <p:sp>
        <p:nvSpPr>
          <p:cNvPr id="5" name="Shape 3"/>
          <p:cNvSpPr/>
          <p:nvPr/>
        </p:nvSpPr>
        <p:spPr>
          <a:xfrm>
            <a:off x="731520" y="2194560"/>
            <a:ext cx="5166360" cy="3200400"/>
          </a:xfrm>
          <a:prstGeom prst="roundRect">
            <a:avLst>
              <a:gd name="adj" fmla="val 2286"/>
            </a:avLst>
          </a:prstGeom>
          <a:solidFill>
            <a:srgbClr val="102A43"/>
          </a:solidFill>
          <a:ln w="12700">
            <a:solidFill>
              <a:srgbClr val="102A43"/>
            </a:solidFill>
            <a:prstDash val="solid"/>
          </a:ln>
          <a:effectLst>
            <a:outerShdw sx="100000" sy="100000" kx="0" ky="0" algn="bl" rotWithShape="0" blurRad="127000" dist="508" dir="5400000">
              <a:srgbClr val="9AA8B4">
                <a:alpha val="25000"/>
              </a:srgbClr>
            </a:outerShdw>
          </a:effectLst>
        </p:spPr>
      </p:sp>
      <p:sp>
        <p:nvSpPr>
          <p:cNvPr id="6" name="Text 4"/>
          <p:cNvSpPr txBox="1"/>
          <p:nvPr/>
        </p:nvSpPr>
        <p:spPr>
          <a:xfrm>
            <a:off x="1143000" y="2560320"/>
            <a:ext cx="4114800" cy="914400"/>
          </a:xfrm>
          <a:prstGeom prst="rect">
            <a:avLst/>
          </a:prstGeom>
          <a:noFill/>
          <a:ln/>
        </p:spPr>
        <p:txBody>
          <a:bodyPr wrap="square" lIns="0" tIns="0" rIns="0" bIns="0" rtlCol="0" anchor="ctr"/>
          <a:lstStyle/>
          <a:p>
            <a:pPr indent="0" marL="0">
              <a:buNone/>
            </a:pPr>
            <a:r>
              <a:rPr lang="en-US" sz="5400" b="1" dirty="0">
                <a:solidFill>
                  <a:srgbClr val="B7E436"/>
                </a:solidFill>
                <a:latin typeface="Cambria" pitchFamily="34" charset="0"/>
                <a:ea typeface="Cambria" pitchFamily="34" charset="-122"/>
                <a:cs typeface="Cambria" pitchFamily="34" charset="-120"/>
              </a:rPr>
              <a:t>from £2</a:t>
            </a:r>
            <a:endParaRPr lang="en-US" sz="5400" dirty="0"/>
          </a:p>
        </p:txBody>
      </p:sp>
      <p:sp>
        <p:nvSpPr>
          <p:cNvPr id="7" name="Text 5"/>
          <p:cNvSpPr txBox="1"/>
          <p:nvPr/>
        </p:nvSpPr>
        <p:spPr>
          <a:xfrm>
            <a:off x="1143000" y="3520440"/>
            <a:ext cx="4114800" cy="32004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per seat, per month</a:t>
            </a:r>
            <a:endParaRPr lang="en-US" sz="1400" dirty="0"/>
          </a:p>
        </p:txBody>
      </p:sp>
      <p:sp>
        <p:nvSpPr>
          <p:cNvPr id="8" name="Text 6"/>
          <p:cNvSpPr txBox="1"/>
          <p:nvPr/>
        </p:nvSpPr>
        <p:spPr>
          <a:xfrm>
            <a:off x="1143000" y="4023360"/>
            <a:ext cx="4343400" cy="1097280"/>
          </a:xfrm>
          <a:prstGeom prst="rect">
            <a:avLst/>
          </a:prstGeom>
          <a:noFill/>
          <a:ln/>
        </p:spPr>
        <p:txBody>
          <a:bodyPr wrap="square" lIns="0" tIns="0" rIns="0" bIns="0" rtlCol="0" anchor="ctr"/>
          <a:lstStyle/>
          <a:p>
            <a:pPr indent="0" marL="0">
              <a:lnSpc>
                <a:spcPts val="1900"/>
              </a:lnSpc>
              <a:buNone/>
            </a:pPr>
            <a:r>
              <a:rPr lang="en-US" sz="1250" dirty="0">
                <a:solidFill>
                  <a:srgbClr val="B8C6D1"/>
                </a:solidFill>
                <a:latin typeface="Calibri" pitchFamily="34" charset="0"/>
                <a:ea typeface="Calibri" pitchFamily="34" charset="-122"/>
                <a:cs typeface="Calibri" pitchFamily="34" charset="-120"/>
              </a:rPr>
              <a:t>The floor, not a teaser. Up to £5 depending on sector, seat count and support level. Organisation deals are contracts, so the figure is agreed rather than picked at a checkout.</a:t>
            </a:r>
            <a:endParaRPr lang="en-US" sz="1250" dirty="0"/>
          </a:p>
        </p:txBody>
      </p:sp>
      <p:sp>
        <p:nvSpPr>
          <p:cNvPr id="9" name="Shape 7"/>
          <p:cNvSpPr/>
          <p:nvPr/>
        </p:nvSpPr>
        <p:spPr>
          <a:xfrm>
            <a:off x="6263640" y="2194560"/>
            <a:ext cx="5166360" cy="621792"/>
          </a:xfrm>
          <a:prstGeom prst="roundRect">
            <a:avLst>
              <a:gd name="adj" fmla="val 11765"/>
            </a:avLst>
          </a:prstGeom>
          <a:solidFill>
            <a:srgbClr val="F4F7F9"/>
          </a:solidFill>
          <a:ln w="12700">
            <a:solidFill>
              <a:srgbClr val="F4F7F9"/>
            </a:solidFill>
            <a:prstDash val="solid"/>
          </a:ln>
          <a:effectLst>
            <a:outerShdw sx="100000" sy="100000" kx="0" ky="0" algn="bl" rotWithShape="0" blurRad="127000" dist="508" dir="5400000">
              <a:srgbClr val="9AA8B4">
                <a:alpha val="25000"/>
              </a:srgbClr>
            </a:outerShdw>
          </a:effectLst>
        </p:spPr>
      </p:sp>
      <p:sp>
        <p:nvSpPr>
          <p:cNvPr id="10" name="Text 8"/>
          <p:cNvSpPr txBox="1"/>
          <p:nvPr/>
        </p:nvSpPr>
        <p:spPr>
          <a:xfrm>
            <a:off x="6583680" y="2304288"/>
            <a:ext cx="4572000" cy="274320"/>
          </a:xfrm>
          <a:prstGeom prst="rect">
            <a:avLst/>
          </a:prstGeom>
          <a:noFill/>
          <a:ln/>
        </p:spPr>
        <p:txBody>
          <a:bodyPr wrap="square" lIns="0" tIns="0" rIns="0" bIns="0" rtlCol="0" anchor="ctr"/>
          <a:lstStyle/>
          <a:p>
            <a:pPr indent="0" marL="0">
              <a:buNone/>
            </a:pPr>
            <a:r>
              <a:rPr lang="en-US" sz="1300" b="1" dirty="0">
                <a:solidFill>
                  <a:srgbClr val="102A43"/>
                </a:solidFill>
                <a:latin typeface="Arial" pitchFamily="34" charset="0"/>
                <a:ea typeface="Arial" pitchFamily="34" charset="-122"/>
                <a:cs typeface="Arial" pitchFamily="34" charset="-120"/>
              </a:rPr>
              <a:t>Minimum 10 seats</a:t>
            </a:r>
            <a:endParaRPr lang="en-US" sz="1300" dirty="0"/>
          </a:p>
        </p:txBody>
      </p:sp>
      <p:sp>
        <p:nvSpPr>
          <p:cNvPr id="11" name="Text 9"/>
          <p:cNvSpPr txBox="1"/>
          <p:nvPr/>
        </p:nvSpPr>
        <p:spPr>
          <a:xfrm>
            <a:off x="6583680" y="2578608"/>
            <a:ext cx="4572000" cy="274320"/>
          </a:xfrm>
          <a:prstGeom prst="rect">
            <a:avLst/>
          </a:prstGeom>
          <a:noFill/>
          <a:ln/>
        </p:spPr>
        <p:txBody>
          <a:bodyPr wrap="square" lIns="0" tIns="0" rIns="0" bIns="0" rtlCol="0" anchor="ctr"/>
          <a:lstStyle/>
          <a:p>
            <a:pPr indent="0" marL="0">
              <a:buNone/>
            </a:pPr>
            <a:r>
              <a:rPr lang="en-US" sz="1150" dirty="0">
                <a:solidFill>
                  <a:srgbClr val="475663"/>
                </a:solidFill>
                <a:latin typeface="Calibri" pitchFamily="34" charset="0"/>
                <a:ea typeface="Calibri" pitchFamily="34" charset="-122"/>
                <a:cs typeface="Calibri" pitchFamily="34" charset="-120"/>
              </a:rPr>
              <a:t>Annual term once a pilot converts, not before.</a:t>
            </a:r>
            <a:endParaRPr lang="en-US" sz="1150" dirty="0"/>
          </a:p>
        </p:txBody>
      </p:sp>
      <p:sp>
        <p:nvSpPr>
          <p:cNvPr id="12" name="Shape 10"/>
          <p:cNvSpPr/>
          <p:nvPr/>
        </p:nvSpPr>
        <p:spPr>
          <a:xfrm>
            <a:off x="6263640" y="3063240"/>
            <a:ext cx="5166360" cy="621792"/>
          </a:xfrm>
          <a:prstGeom prst="roundRect">
            <a:avLst>
              <a:gd name="adj" fmla="val 11765"/>
            </a:avLst>
          </a:prstGeom>
          <a:solidFill>
            <a:srgbClr val="F4F7F9"/>
          </a:solidFill>
          <a:ln w="12700">
            <a:solidFill>
              <a:srgbClr val="F4F7F9"/>
            </a:solidFill>
            <a:prstDash val="solid"/>
          </a:ln>
          <a:effectLst>
            <a:outerShdw sx="100000" sy="100000" kx="0" ky="0" algn="bl" rotWithShape="0" blurRad="127000" dist="508" dir="5400000">
              <a:srgbClr val="9AA8B4">
                <a:alpha val="25000"/>
              </a:srgbClr>
            </a:outerShdw>
          </a:effectLst>
        </p:spPr>
      </p:sp>
      <p:sp>
        <p:nvSpPr>
          <p:cNvPr id="13" name="Text 11"/>
          <p:cNvSpPr txBox="1"/>
          <p:nvPr/>
        </p:nvSpPr>
        <p:spPr>
          <a:xfrm>
            <a:off x="6583680" y="3172968"/>
            <a:ext cx="4572000" cy="274320"/>
          </a:xfrm>
          <a:prstGeom prst="rect">
            <a:avLst/>
          </a:prstGeom>
          <a:noFill/>
          <a:ln/>
        </p:spPr>
        <p:txBody>
          <a:bodyPr wrap="square" lIns="0" tIns="0" rIns="0" bIns="0" rtlCol="0" anchor="ctr"/>
          <a:lstStyle/>
          <a:p>
            <a:pPr indent="0" marL="0">
              <a:buNone/>
            </a:pPr>
            <a:r>
              <a:rPr lang="en-US" sz="1300" b="1" dirty="0">
                <a:solidFill>
                  <a:srgbClr val="102A43"/>
                </a:solidFill>
                <a:latin typeface="Arial" pitchFamily="34" charset="0"/>
                <a:ea typeface="Arial" pitchFamily="34" charset="-122"/>
                <a:cs typeface="Arial" pitchFamily="34" charset="-120"/>
              </a:rPr>
              <a:t>Challenge builder and campaigns</a:t>
            </a:r>
            <a:endParaRPr lang="en-US" sz="1300" dirty="0"/>
          </a:p>
        </p:txBody>
      </p:sp>
      <p:sp>
        <p:nvSpPr>
          <p:cNvPr id="14" name="Text 12"/>
          <p:cNvSpPr txBox="1"/>
          <p:nvPr/>
        </p:nvSpPr>
        <p:spPr>
          <a:xfrm>
            <a:off x="6583680" y="3447288"/>
            <a:ext cx="4572000" cy="274320"/>
          </a:xfrm>
          <a:prstGeom prst="rect">
            <a:avLst/>
          </a:prstGeom>
          <a:noFill/>
          <a:ln/>
        </p:spPr>
        <p:txBody>
          <a:bodyPr wrap="square" lIns="0" tIns="0" rIns="0" bIns="0" rtlCol="0" anchor="ctr"/>
          <a:lstStyle/>
          <a:p>
            <a:pPr indent="0" marL="0">
              <a:buNone/>
            </a:pPr>
            <a:r>
              <a:rPr lang="en-US" sz="1150" dirty="0">
                <a:solidFill>
                  <a:srgbClr val="475663"/>
                </a:solidFill>
                <a:latin typeface="Calibri" pitchFamily="34" charset="0"/>
                <a:ea typeface="Calibri" pitchFamily="34" charset="-122"/>
                <a:cs typeface="Calibri" pitchFamily="34" charset="-120"/>
              </a:rPr>
              <a:t>Branded to your organisation.</a:t>
            </a:r>
            <a:endParaRPr lang="en-US" sz="1150" dirty="0"/>
          </a:p>
        </p:txBody>
      </p:sp>
      <p:sp>
        <p:nvSpPr>
          <p:cNvPr id="15" name="Shape 13"/>
          <p:cNvSpPr/>
          <p:nvPr/>
        </p:nvSpPr>
        <p:spPr>
          <a:xfrm>
            <a:off x="6263640" y="3931920"/>
            <a:ext cx="5166360" cy="621792"/>
          </a:xfrm>
          <a:prstGeom prst="roundRect">
            <a:avLst>
              <a:gd name="adj" fmla="val 11765"/>
            </a:avLst>
          </a:prstGeom>
          <a:solidFill>
            <a:srgbClr val="F4F7F9"/>
          </a:solidFill>
          <a:ln w="12700">
            <a:solidFill>
              <a:srgbClr val="F4F7F9"/>
            </a:solidFill>
            <a:prstDash val="solid"/>
          </a:ln>
          <a:effectLst>
            <a:outerShdw sx="100000" sy="100000" kx="0" ky="0" algn="bl" rotWithShape="0" blurRad="127000" dist="508" dir="5400000">
              <a:srgbClr val="9AA8B4">
                <a:alpha val="25000"/>
              </a:srgbClr>
            </a:outerShdw>
          </a:effectLst>
        </p:spPr>
      </p:sp>
      <p:sp>
        <p:nvSpPr>
          <p:cNvPr id="16" name="Text 14"/>
          <p:cNvSpPr txBox="1"/>
          <p:nvPr/>
        </p:nvSpPr>
        <p:spPr>
          <a:xfrm>
            <a:off x="6583680" y="4041648"/>
            <a:ext cx="4572000" cy="274320"/>
          </a:xfrm>
          <a:prstGeom prst="rect">
            <a:avLst/>
          </a:prstGeom>
          <a:noFill/>
          <a:ln/>
        </p:spPr>
        <p:txBody>
          <a:bodyPr wrap="square" lIns="0" tIns="0" rIns="0" bIns="0" rtlCol="0" anchor="ctr"/>
          <a:lstStyle/>
          <a:p>
            <a:pPr indent="0" marL="0">
              <a:buNone/>
            </a:pPr>
            <a:r>
              <a:rPr lang="en-US" sz="1300" b="1" dirty="0">
                <a:solidFill>
                  <a:srgbClr val="102A43"/>
                </a:solidFill>
                <a:latin typeface="Arial" pitchFamily="34" charset="0"/>
                <a:ea typeface="Arial" pitchFamily="34" charset="-122"/>
                <a:cs typeface="Arial" pitchFamily="34" charset="-120"/>
              </a:rPr>
              <a:t>Setup and integration support</a:t>
            </a:r>
            <a:endParaRPr lang="en-US" sz="1300" dirty="0"/>
          </a:p>
        </p:txBody>
      </p:sp>
      <p:sp>
        <p:nvSpPr>
          <p:cNvPr id="17" name="Text 15"/>
          <p:cNvSpPr txBox="1"/>
          <p:nvPr/>
        </p:nvSpPr>
        <p:spPr>
          <a:xfrm>
            <a:off x="6583680" y="4315968"/>
            <a:ext cx="4572000" cy="274320"/>
          </a:xfrm>
          <a:prstGeom prst="rect">
            <a:avLst/>
          </a:prstGeom>
          <a:noFill/>
          <a:ln/>
        </p:spPr>
        <p:txBody>
          <a:bodyPr wrap="square" lIns="0" tIns="0" rIns="0" bIns="0" rtlCol="0" anchor="ctr"/>
          <a:lstStyle/>
          <a:p>
            <a:pPr indent="0" marL="0">
              <a:buNone/>
            </a:pPr>
            <a:r>
              <a:rPr lang="en-US" sz="1150" dirty="0">
                <a:solidFill>
                  <a:srgbClr val="475663"/>
                </a:solidFill>
                <a:latin typeface="Calibri" pitchFamily="34" charset="0"/>
                <a:ea typeface="Calibri" pitchFamily="34" charset="-122"/>
                <a:cs typeface="Calibri" pitchFamily="34" charset="-120"/>
              </a:rPr>
              <a:t>Included in every contract.</a:t>
            </a:r>
            <a:endParaRPr lang="en-US" sz="1150" dirty="0"/>
          </a:p>
        </p:txBody>
      </p:sp>
      <p:sp>
        <p:nvSpPr>
          <p:cNvPr id="18" name="Shape 16"/>
          <p:cNvSpPr/>
          <p:nvPr/>
        </p:nvSpPr>
        <p:spPr>
          <a:xfrm>
            <a:off x="6263640" y="4800600"/>
            <a:ext cx="5166360" cy="621792"/>
          </a:xfrm>
          <a:prstGeom prst="roundRect">
            <a:avLst>
              <a:gd name="adj" fmla="val 11765"/>
            </a:avLst>
          </a:prstGeom>
          <a:solidFill>
            <a:srgbClr val="F4F7F9"/>
          </a:solidFill>
          <a:ln w="12700">
            <a:solidFill>
              <a:srgbClr val="F4F7F9"/>
            </a:solidFill>
            <a:prstDash val="solid"/>
          </a:ln>
          <a:effectLst>
            <a:outerShdw sx="100000" sy="100000" kx="0" ky="0" algn="bl" rotWithShape="0" blurRad="127000" dist="508" dir="5400000">
              <a:srgbClr val="9AA8B4">
                <a:alpha val="25000"/>
              </a:srgbClr>
            </a:outerShdw>
          </a:effectLst>
        </p:spPr>
      </p:sp>
      <p:sp>
        <p:nvSpPr>
          <p:cNvPr id="19" name="Text 17"/>
          <p:cNvSpPr txBox="1"/>
          <p:nvPr/>
        </p:nvSpPr>
        <p:spPr>
          <a:xfrm>
            <a:off x="6583680" y="4910328"/>
            <a:ext cx="4572000" cy="274320"/>
          </a:xfrm>
          <a:prstGeom prst="rect">
            <a:avLst/>
          </a:prstGeom>
          <a:noFill/>
          <a:ln/>
        </p:spPr>
        <p:txBody>
          <a:bodyPr wrap="square" lIns="0" tIns="0" rIns="0" bIns="0" rtlCol="0" anchor="ctr"/>
          <a:lstStyle/>
          <a:p>
            <a:pPr indent="0" marL="0">
              <a:buNone/>
            </a:pPr>
            <a:r>
              <a:rPr lang="en-US" sz="1300" b="1" dirty="0">
                <a:solidFill>
                  <a:srgbClr val="102A43"/>
                </a:solidFill>
                <a:latin typeface="Arial" pitchFamily="34" charset="0"/>
                <a:ea typeface="Arial" pitchFamily="34" charset="-122"/>
                <a:cs typeface="Arial" pitchFamily="34" charset="-120"/>
              </a:rPr>
              <a:t>Single sign-on and directory sync</a:t>
            </a:r>
            <a:endParaRPr lang="en-US" sz="1300" dirty="0"/>
          </a:p>
        </p:txBody>
      </p:sp>
      <p:sp>
        <p:nvSpPr>
          <p:cNvPr id="20" name="Text 18"/>
          <p:cNvSpPr txBox="1"/>
          <p:nvPr/>
        </p:nvSpPr>
        <p:spPr>
          <a:xfrm>
            <a:off x="6583680" y="5184648"/>
            <a:ext cx="4572000" cy="274320"/>
          </a:xfrm>
          <a:prstGeom prst="rect">
            <a:avLst/>
          </a:prstGeom>
          <a:noFill/>
          <a:ln/>
        </p:spPr>
        <p:txBody>
          <a:bodyPr wrap="square" lIns="0" tIns="0" rIns="0" bIns="0" rtlCol="0" anchor="ctr"/>
          <a:lstStyle/>
          <a:p>
            <a:pPr indent="0" marL="0">
              <a:buNone/>
            </a:pPr>
            <a:r>
              <a:rPr lang="en-US" sz="1150" dirty="0">
                <a:solidFill>
                  <a:srgbClr val="475663"/>
                </a:solidFill>
                <a:latin typeface="Calibri" pitchFamily="34" charset="0"/>
                <a:ea typeface="Calibri" pitchFamily="34" charset="-122"/>
                <a:cs typeface="Calibri" pitchFamily="34" charset="-120"/>
              </a:rPr>
              <a:t>Contracted, not yet built. Delivered inside the pilot.</a:t>
            </a:r>
            <a:endParaRPr lang="en-US" sz="1150" dirty="0"/>
          </a:p>
        </p:txBody>
      </p:sp>
      <p:sp>
        <p:nvSpPr>
          <p:cNvPr id="21" name="Text 19"/>
          <p:cNvSpPr txBox="1"/>
          <p:nvPr/>
        </p:nvSpPr>
        <p:spPr>
          <a:xfrm>
            <a:off x="731520" y="5623560"/>
            <a:ext cx="10698480" cy="548640"/>
          </a:xfrm>
          <a:prstGeom prst="rect">
            <a:avLst/>
          </a:prstGeom>
          <a:noFill/>
          <a:ln/>
        </p:spPr>
        <p:txBody>
          <a:bodyPr wrap="square" lIns="0" tIns="0" rIns="0" bIns="0" rtlCol="0" anchor="ctr"/>
          <a:lstStyle/>
          <a:p>
            <a:pPr indent="0" marL="0">
              <a:lnSpc>
                <a:spcPts val="1900"/>
              </a:lnSpc>
              <a:buNone/>
            </a:pPr>
            <a:r>
              <a:rPr lang="en-US" sz="1300" i="1" dirty="0">
                <a:solidFill>
                  <a:srgbClr val="00A99D"/>
                </a:solidFill>
                <a:latin typeface="Calibri" pitchFamily="34" charset="0"/>
                <a:ea typeface="Calibri" pitchFamily="34" charset="-122"/>
                <a:cs typeface="Calibri" pitchFamily="34" charset="-120"/>
              </a:rPr>
              <a:t>One invoice, one contract, one line in the benefits budget. No per-feature upsell and no device to buy.</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31520" y="690372"/>
            <a:ext cx="118872" cy="118872"/>
          </a:xfrm>
          <a:prstGeom prst="ellipse">
            <a:avLst/>
          </a:prstGeom>
          <a:solidFill>
            <a:srgbClr val="00A99D"/>
          </a:solidFill>
          <a:ln/>
        </p:spPr>
      </p:sp>
      <p:sp>
        <p:nvSpPr>
          <p:cNvPr id="3" name="Text 1"/>
          <p:cNvSpPr txBox="1"/>
          <p:nvPr/>
        </p:nvSpPr>
        <p:spPr>
          <a:xfrm>
            <a:off x="969264" y="640080"/>
            <a:ext cx="7315200" cy="274320"/>
          </a:xfrm>
          <a:prstGeom prst="rect">
            <a:avLst/>
          </a:prstGeom>
          <a:noFill/>
          <a:ln/>
        </p:spPr>
        <p:txBody>
          <a:bodyPr wrap="square" lIns="0" tIns="0" rIns="0" bIns="0" rtlCol="0" anchor="ctr"/>
          <a:lstStyle/>
          <a:p>
            <a:pPr indent="0" marL="0">
              <a:buNone/>
            </a:pPr>
            <a:r>
              <a:rPr lang="en-US" sz="1200" b="1" spc="200" kern="0" dirty="0">
                <a:solidFill>
                  <a:srgbClr val="00A99D"/>
                </a:solidFill>
                <a:latin typeface="Arial" pitchFamily="34" charset="0"/>
                <a:ea typeface="Arial" pitchFamily="34" charset="-122"/>
                <a:cs typeface="Arial" pitchFamily="34" charset="-120"/>
              </a:rPr>
              <a:t>THE ASK</a:t>
            </a:r>
            <a:endParaRPr lang="en-US" sz="1200" dirty="0"/>
          </a:p>
        </p:txBody>
      </p:sp>
      <p:sp>
        <p:nvSpPr>
          <p:cNvPr id="4" name="Text 2"/>
          <p:cNvSpPr txBox="1"/>
          <p:nvPr/>
        </p:nvSpPr>
        <p:spPr>
          <a:xfrm>
            <a:off x="731520" y="1051560"/>
            <a:ext cx="10698480" cy="1005840"/>
          </a:xfrm>
          <a:prstGeom prst="rect">
            <a:avLst/>
          </a:prstGeom>
          <a:noFill/>
          <a:ln/>
        </p:spPr>
        <p:txBody>
          <a:bodyPr wrap="square" lIns="0" tIns="0" rIns="0" bIns="0" rtlCol="0" anchor="ctr"/>
          <a:lstStyle/>
          <a:p>
            <a:pPr indent="0" marL="0">
              <a:buNone/>
            </a:pPr>
            <a:r>
              <a:rPr lang="en-US" sz="3400" b="1" dirty="0">
                <a:solidFill>
                  <a:srgbClr val="102A43"/>
                </a:solidFill>
                <a:latin typeface="Cambria" pitchFamily="34" charset="0"/>
                <a:ea typeface="Cambria" pitchFamily="34" charset="-122"/>
                <a:cs typeface="Cambria" pitchFamily="34" charset="-120"/>
              </a:rPr>
              <a:t>One team. Twelve weeks.</a:t>
            </a:r>
            <a:endParaRPr lang="en-US" sz="3400" dirty="0"/>
          </a:p>
          <a:p>
            <a:pPr indent="0" marL="0">
              <a:buNone/>
            </a:pPr>
            <a:r>
              <a:rPr lang="en-US" sz="3400" b="1" dirty="0">
                <a:solidFill>
                  <a:srgbClr val="102A43"/>
                </a:solidFill>
                <a:latin typeface="Cambria" pitchFamily="34" charset="0"/>
                <a:ea typeface="Cambria" pitchFamily="34" charset="-122"/>
                <a:cs typeface="Cambria" pitchFamily="34" charset="-120"/>
              </a:rPr>
              <a:t>No procurement epic.</a:t>
            </a:r>
            <a:endParaRPr lang="en-US" sz="3400" dirty="0"/>
          </a:p>
        </p:txBody>
      </p:sp>
      <p:sp>
        <p:nvSpPr>
          <p:cNvPr id="5" name="Shape 3"/>
          <p:cNvSpPr/>
          <p:nvPr/>
        </p:nvSpPr>
        <p:spPr>
          <a:xfrm>
            <a:off x="731520" y="2514600"/>
            <a:ext cx="3502152" cy="2377440"/>
          </a:xfrm>
          <a:prstGeom prst="roundRect">
            <a:avLst>
              <a:gd name="adj" fmla="val 3077"/>
            </a:avLst>
          </a:prstGeom>
          <a:solidFill>
            <a:srgbClr val="F4F7F9"/>
          </a:solidFill>
          <a:ln w="12700">
            <a:solidFill>
              <a:srgbClr val="F4F7F9"/>
            </a:solidFill>
            <a:prstDash val="solid"/>
          </a:ln>
          <a:effectLst>
            <a:outerShdw sx="100000" sy="100000" kx="0" ky="0" algn="bl" rotWithShape="0" blurRad="127000" dist="508" dir="5400000">
              <a:srgbClr val="9AA8B4">
                <a:alpha val="25000"/>
              </a:srgbClr>
            </a:outerShdw>
          </a:effectLst>
        </p:spPr>
      </p:sp>
      <p:sp>
        <p:nvSpPr>
          <p:cNvPr id="6" name="Shape 4"/>
          <p:cNvSpPr/>
          <p:nvPr/>
        </p:nvSpPr>
        <p:spPr>
          <a:xfrm>
            <a:off x="1051560" y="2743200"/>
            <a:ext cx="548640" cy="548640"/>
          </a:xfrm>
          <a:prstGeom prst="ellipse">
            <a:avLst/>
          </a:prstGeom>
          <a:solidFill>
            <a:srgbClr val="00A99D"/>
          </a:solidFill>
          <a:ln/>
        </p:spPr>
      </p:sp>
      <p:sp>
        <p:nvSpPr>
          <p:cNvPr id="7" name="Text 5"/>
          <p:cNvSpPr txBox="1"/>
          <p:nvPr/>
        </p:nvSpPr>
        <p:spPr>
          <a:xfrm>
            <a:off x="1051560" y="2816352"/>
            <a:ext cx="548640" cy="41148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8" name="Text 6"/>
          <p:cNvSpPr txBox="1"/>
          <p:nvPr/>
        </p:nvSpPr>
        <p:spPr>
          <a:xfrm>
            <a:off x="1051560" y="3456432"/>
            <a:ext cx="2834640" cy="320040"/>
          </a:xfrm>
          <a:prstGeom prst="rect">
            <a:avLst/>
          </a:prstGeom>
          <a:noFill/>
          <a:ln/>
        </p:spPr>
        <p:txBody>
          <a:bodyPr wrap="square" lIns="0" tIns="0" rIns="0" bIns="0" rtlCol="0" anchor="ctr"/>
          <a:lstStyle/>
          <a:p>
            <a:pPr indent="0" marL="0">
              <a:buNone/>
            </a:pPr>
            <a:r>
              <a:rPr lang="en-US" sz="1500" b="1" dirty="0">
                <a:solidFill>
                  <a:srgbClr val="102A43"/>
                </a:solidFill>
                <a:latin typeface="Arial" pitchFamily="34" charset="0"/>
                <a:ea typeface="Arial" pitchFamily="34" charset="-122"/>
                <a:cs typeface="Arial" pitchFamily="34" charset="-120"/>
              </a:rPr>
              <a:t>Week 0</a:t>
            </a:r>
            <a:endParaRPr lang="en-US" sz="1500" dirty="0"/>
          </a:p>
        </p:txBody>
      </p:sp>
      <p:sp>
        <p:nvSpPr>
          <p:cNvPr id="9" name="Text 7"/>
          <p:cNvSpPr txBox="1"/>
          <p:nvPr/>
        </p:nvSpPr>
        <p:spPr>
          <a:xfrm>
            <a:off x="1051560" y="3840480"/>
            <a:ext cx="2834640" cy="914400"/>
          </a:xfrm>
          <a:prstGeom prst="rect">
            <a:avLst/>
          </a:prstGeom>
          <a:noFill/>
          <a:ln/>
        </p:spPr>
        <p:txBody>
          <a:bodyPr wrap="square" lIns="0" tIns="0" rIns="0" bIns="0" rtlCol="0" anchor="ctr"/>
          <a:lstStyle/>
          <a:p>
            <a:pPr indent="0" marL="0">
              <a:lnSpc>
                <a:spcPts val="1800"/>
              </a:lnSpc>
              <a:buNone/>
            </a:pPr>
            <a:r>
              <a:rPr lang="en-US" sz="1250" dirty="0">
                <a:solidFill>
                  <a:srgbClr val="475663"/>
                </a:solidFill>
                <a:latin typeface="Calibri" pitchFamily="34" charset="0"/>
                <a:ea typeface="Calibri" pitchFamily="34" charset="-122"/>
                <a:cs typeface="Calibri" pitchFamily="34" charset="-120"/>
              </a:rPr>
              <a:t>One team, 10–100 people. Invited by email, and a named sponsor on your side and ours.</a:t>
            </a:r>
            <a:endParaRPr lang="en-US" sz="1250" dirty="0"/>
          </a:p>
        </p:txBody>
      </p:sp>
      <p:sp>
        <p:nvSpPr>
          <p:cNvPr id="10" name="Shape 8"/>
          <p:cNvSpPr/>
          <p:nvPr/>
        </p:nvSpPr>
        <p:spPr>
          <a:xfrm>
            <a:off x="4389120" y="2514600"/>
            <a:ext cx="3502152" cy="2377440"/>
          </a:xfrm>
          <a:prstGeom prst="roundRect">
            <a:avLst>
              <a:gd name="adj" fmla="val 3077"/>
            </a:avLst>
          </a:prstGeom>
          <a:solidFill>
            <a:srgbClr val="F4F7F9"/>
          </a:solidFill>
          <a:ln w="12700">
            <a:solidFill>
              <a:srgbClr val="F4F7F9"/>
            </a:solidFill>
            <a:prstDash val="solid"/>
          </a:ln>
          <a:effectLst>
            <a:outerShdw sx="100000" sy="100000" kx="0" ky="0" algn="bl" rotWithShape="0" blurRad="127000" dist="508" dir="5400000">
              <a:srgbClr val="9AA8B4">
                <a:alpha val="25000"/>
              </a:srgbClr>
            </a:outerShdw>
          </a:effectLst>
        </p:spPr>
      </p:sp>
      <p:sp>
        <p:nvSpPr>
          <p:cNvPr id="11" name="Shape 9"/>
          <p:cNvSpPr/>
          <p:nvPr/>
        </p:nvSpPr>
        <p:spPr>
          <a:xfrm>
            <a:off x="4709160" y="2743200"/>
            <a:ext cx="548640" cy="548640"/>
          </a:xfrm>
          <a:prstGeom prst="ellipse">
            <a:avLst/>
          </a:prstGeom>
          <a:solidFill>
            <a:srgbClr val="00A99D"/>
          </a:solidFill>
          <a:ln/>
        </p:spPr>
      </p:sp>
      <p:sp>
        <p:nvSpPr>
          <p:cNvPr id="12" name="Text 10"/>
          <p:cNvSpPr txBox="1"/>
          <p:nvPr/>
        </p:nvSpPr>
        <p:spPr>
          <a:xfrm>
            <a:off x="4709160" y="2816352"/>
            <a:ext cx="548640" cy="41148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3" name="Text 11"/>
          <p:cNvSpPr txBox="1"/>
          <p:nvPr/>
        </p:nvSpPr>
        <p:spPr>
          <a:xfrm>
            <a:off x="4709160" y="3456432"/>
            <a:ext cx="2834640" cy="320040"/>
          </a:xfrm>
          <a:prstGeom prst="rect">
            <a:avLst/>
          </a:prstGeom>
          <a:noFill/>
          <a:ln/>
        </p:spPr>
        <p:txBody>
          <a:bodyPr wrap="square" lIns="0" tIns="0" rIns="0" bIns="0" rtlCol="0" anchor="ctr"/>
          <a:lstStyle/>
          <a:p>
            <a:pPr indent="0" marL="0">
              <a:buNone/>
            </a:pPr>
            <a:r>
              <a:rPr lang="en-US" sz="1500" b="1" dirty="0">
                <a:solidFill>
                  <a:srgbClr val="102A43"/>
                </a:solidFill>
                <a:latin typeface="Arial" pitchFamily="34" charset="0"/>
                <a:ea typeface="Arial" pitchFamily="34" charset="-122"/>
                <a:cs typeface="Arial" pitchFamily="34" charset="-120"/>
              </a:rPr>
              <a:t>Weeks 1–8</a:t>
            </a:r>
            <a:endParaRPr lang="en-US" sz="1500" dirty="0"/>
          </a:p>
        </p:txBody>
      </p:sp>
      <p:sp>
        <p:nvSpPr>
          <p:cNvPr id="14" name="Text 12"/>
          <p:cNvSpPr txBox="1"/>
          <p:nvPr/>
        </p:nvSpPr>
        <p:spPr>
          <a:xfrm>
            <a:off x="4709160" y="3840480"/>
            <a:ext cx="2834640" cy="914400"/>
          </a:xfrm>
          <a:prstGeom prst="rect">
            <a:avLst/>
          </a:prstGeom>
          <a:noFill/>
          <a:ln/>
        </p:spPr>
        <p:txBody>
          <a:bodyPr wrap="square" lIns="0" tIns="0" rIns="0" bIns="0" rtlCol="0" anchor="ctr"/>
          <a:lstStyle/>
          <a:p>
            <a:pPr indent="0" marL="0">
              <a:lnSpc>
                <a:spcPts val="1800"/>
              </a:lnSpc>
              <a:buNone/>
            </a:pPr>
            <a:r>
              <a:rPr lang="en-US" sz="1250" dirty="0">
                <a:solidFill>
                  <a:srgbClr val="475663"/>
                </a:solidFill>
                <a:latin typeface="Calibri" pitchFamily="34" charset="0"/>
                <a:ea typeface="Calibri" pitchFamily="34" charset="-122"/>
                <a:cs typeface="Calibri" pitchFamily="34" charset="-120"/>
              </a:rPr>
              <a:t>People use it. We watch the held rate and completion, not the vanity numbers.</a:t>
            </a:r>
            <a:endParaRPr lang="en-US" sz="1250" dirty="0"/>
          </a:p>
        </p:txBody>
      </p:sp>
      <p:sp>
        <p:nvSpPr>
          <p:cNvPr id="15" name="Shape 13"/>
          <p:cNvSpPr/>
          <p:nvPr/>
        </p:nvSpPr>
        <p:spPr>
          <a:xfrm>
            <a:off x="8046720" y="2514600"/>
            <a:ext cx="3502152" cy="2377440"/>
          </a:xfrm>
          <a:prstGeom prst="roundRect">
            <a:avLst>
              <a:gd name="adj" fmla="val 3077"/>
            </a:avLst>
          </a:prstGeom>
          <a:solidFill>
            <a:srgbClr val="F4F7F9"/>
          </a:solidFill>
          <a:ln w="12700">
            <a:solidFill>
              <a:srgbClr val="F4F7F9"/>
            </a:solidFill>
            <a:prstDash val="solid"/>
          </a:ln>
          <a:effectLst>
            <a:outerShdw sx="100000" sy="100000" kx="0" ky="0" algn="bl" rotWithShape="0" blurRad="127000" dist="508" dir="5400000">
              <a:srgbClr val="9AA8B4">
                <a:alpha val="25000"/>
              </a:srgbClr>
            </a:outerShdw>
          </a:effectLst>
        </p:spPr>
      </p:sp>
      <p:sp>
        <p:nvSpPr>
          <p:cNvPr id="16" name="Shape 14"/>
          <p:cNvSpPr/>
          <p:nvPr/>
        </p:nvSpPr>
        <p:spPr>
          <a:xfrm>
            <a:off x="8366760" y="2743200"/>
            <a:ext cx="548640" cy="548640"/>
          </a:xfrm>
          <a:prstGeom prst="ellipse">
            <a:avLst/>
          </a:prstGeom>
          <a:solidFill>
            <a:srgbClr val="00A99D"/>
          </a:solidFill>
          <a:ln/>
        </p:spPr>
      </p:sp>
      <p:sp>
        <p:nvSpPr>
          <p:cNvPr id="17" name="Text 15"/>
          <p:cNvSpPr txBox="1"/>
          <p:nvPr/>
        </p:nvSpPr>
        <p:spPr>
          <a:xfrm>
            <a:off x="8366760" y="2816352"/>
            <a:ext cx="548640" cy="41148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8" name="Text 16"/>
          <p:cNvSpPr txBox="1"/>
          <p:nvPr/>
        </p:nvSpPr>
        <p:spPr>
          <a:xfrm>
            <a:off x="8366760" y="3456432"/>
            <a:ext cx="2834640" cy="320040"/>
          </a:xfrm>
          <a:prstGeom prst="rect">
            <a:avLst/>
          </a:prstGeom>
          <a:noFill/>
          <a:ln/>
        </p:spPr>
        <p:txBody>
          <a:bodyPr wrap="square" lIns="0" tIns="0" rIns="0" bIns="0" rtlCol="0" anchor="ctr"/>
          <a:lstStyle/>
          <a:p>
            <a:pPr indent="0" marL="0">
              <a:buNone/>
            </a:pPr>
            <a:r>
              <a:rPr lang="en-US" sz="1500" b="1" dirty="0">
                <a:solidFill>
                  <a:srgbClr val="102A43"/>
                </a:solidFill>
                <a:latin typeface="Arial" pitchFamily="34" charset="0"/>
                <a:ea typeface="Arial" pitchFamily="34" charset="-122"/>
                <a:cs typeface="Arial" pitchFamily="34" charset="-120"/>
              </a:rPr>
              <a:t>Weeks 9–12</a:t>
            </a:r>
            <a:endParaRPr lang="en-US" sz="1500" dirty="0"/>
          </a:p>
        </p:txBody>
      </p:sp>
      <p:sp>
        <p:nvSpPr>
          <p:cNvPr id="19" name="Text 17"/>
          <p:cNvSpPr txBox="1"/>
          <p:nvPr/>
        </p:nvSpPr>
        <p:spPr>
          <a:xfrm>
            <a:off x="8366760" y="3840480"/>
            <a:ext cx="2834640" cy="914400"/>
          </a:xfrm>
          <a:prstGeom prst="rect">
            <a:avLst/>
          </a:prstGeom>
          <a:noFill/>
          <a:ln/>
        </p:spPr>
        <p:txBody>
          <a:bodyPr wrap="square" lIns="0" tIns="0" rIns="0" bIns="0" rtlCol="0" anchor="ctr"/>
          <a:lstStyle/>
          <a:p>
            <a:pPr indent="0" marL="0">
              <a:lnSpc>
                <a:spcPts val="1800"/>
              </a:lnSpc>
              <a:buNone/>
            </a:pPr>
            <a:r>
              <a:rPr lang="en-US" sz="1250" dirty="0">
                <a:solidFill>
                  <a:srgbClr val="475663"/>
                </a:solidFill>
                <a:latin typeface="Calibri" pitchFamily="34" charset="0"/>
                <a:ea typeface="Calibri" pitchFamily="34" charset="-122"/>
                <a:cs typeface="Calibri" pitchFamily="34" charset="-120"/>
              </a:rPr>
              <a:t>Cohort report against baseline. Honest review — including whether it did nothing.</a:t>
            </a:r>
            <a:endParaRPr lang="en-US" sz="1250" dirty="0"/>
          </a:p>
        </p:txBody>
      </p:sp>
      <p:sp>
        <p:nvSpPr>
          <p:cNvPr id="20" name="Shape 18"/>
          <p:cNvSpPr/>
          <p:nvPr/>
        </p:nvSpPr>
        <p:spPr>
          <a:xfrm>
            <a:off x="731520" y="5120640"/>
            <a:ext cx="10698480" cy="960120"/>
          </a:xfrm>
          <a:prstGeom prst="roundRect">
            <a:avLst>
              <a:gd name="adj" fmla="val 7619"/>
            </a:avLst>
          </a:prstGeom>
          <a:solidFill>
            <a:srgbClr val="F4F7F9"/>
          </a:solidFill>
          <a:ln w="12700">
            <a:solidFill>
              <a:srgbClr val="F4F7F9"/>
            </a:solidFill>
            <a:prstDash val="solid"/>
          </a:ln>
          <a:effectLst>
            <a:outerShdw sx="100000" sy="100000" kx="0" ky="0" algn="bl" rotWithShape="0" blurRad="127000" dist="508" dir="5400000">
              <a:srgbClr val="9AA8B4">
                <a:alpha val="25000"/>
              </a:srgbClr>
            </a:outerShdw>
          </a:effectLst>
        </p:spPr>
      </p:sp>
      <p:sp>
        <p:nvSpPr>
          <p:cNvPr id="21" name="Text 19"/>
          <p:cNvSpPr txBox="1"/>
          <p:nvPr/>
        </p:nvSpPr>
        <p:spPr>
          <a:xfrm>
            <a:off x="1097280" y="5321808"/>
            <a:ext cx="9966960" cy="594360"/>
          </a:xfrm>
          <a:prstGeom prst="rect">
            <a:avLst/>
          </a:prstGeom>
          <a:noFill/>
          <a:ln/>
        </p:spPr>
        <p:txBody>
          <a:bodyPr wrap="square" lIns="0" tIns="0" rIns="0" bIns="0" rtlCol="0" anchor="ctr"/>
          <a:lstStyle/>
          <a:p>
            <a:pPr indent="0" marL="0">
              <a:lnSpc>
                <a:spcPts val="2000"/>
              </a:lnSpc>
              <a:buNone/>
            </a:pPr>
            <a:r>
              <a:rPr lang="en-US" sz="1350" i="1" dirty="0">
                <a:solidFill>
                  <a:srgbClr val="102A43"/>
                </a:solidFill>
                <a:latin typeface="Calibri" pitchFamily="34" charset="0"/>
                <a:ea typeface="Calibri" pitchFamily="34" charset="-122"/>
                <a:cs typeface="Calibri" pitchFamily="34" charset="-120"/>
              </a:rPr>
              <a:t>If it did not work, we would rather you knew at week twelve than bought a year. The annual term starts only if you choose to convert.</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02A43"/>
        </a:solidFill>
      </p:bgPr>
    </p:bg>
    <p:spTree>
      <p:nvGrpSpPr>
        <p:cNvPr id="1" name=""/>
        <p:cNvGrpSpPr/>
        <p:nvPr/>
      </p:nvGrpSpPr>
      <p:grpSpPr>
        <a:xfrm>
          <a:off x="0" y="0"/>
          <a:ext cx="0" cy="0"/>
          <a:chOff x="0" y="0"/>
          <a:chExt cx="0" cy="0"/>
        </a:xfrm>
      </p:grpSpPr>
      <p:sp>
        <p:nvSpPr>
          <p:cNvPr id="2" name="Shape 0"/>
          <p:cNvSpPr/>
          <p:nvPr/>
        </p:nvSpPr>
        <p:spPr>
          <a:xfrm>
            <a:off x="731520" y="1874520"/>
            <a:ext cx="201168" cy="201168"/>
          </a:xfrm>
          <a:prstGeom prst="ellipse">
            <a:avLst/>
          </a:prstGeom>
          <a:solidFill>
            <a:srgbClr val="00A99D"/>
          </a:solidFill>
          <a:ln/>
        </p:spPr>
      </p:sp>
      <p:sp>
        <p:nvSpPr>
          <p:cNvPr id="3" name="Text 1"/>
          <p:cNvSpPr txBox="1"/>
          <p:nvPr/>
        </p:nvSpPr>
        <p:spPr>
          <a:xfrm>
            <a:off x="1078992" y="1810512"/>
            <a:ext cx="7315200" cy="365760"/>
          </a:xfrm>
          <a:prstGeom prst="rect">
            <a:avLst/>
          </a:prstGeom>
          <a:noFill/>
          <a:ln/>
        </p:spPr>
        <p:txBody>
          <a:bodyPr wrap="square" lIns="0" tIns="0" rIns="0" bIns="0" rtlCol="0" anchor="ctr"/>
          <a:lstStyle/>
          <a:p>
            <a:pPr indent="0" marL="0">
              <a:buNone/>
            </a:pPr>
            <a:r>
              <a:rPr lang="en-US" sz="1700" b="1" spc="500" kern="0" dirty="0">
                <a:solidFill>
                  <a:srgbClr val="FFFFFF"/>
                </a:solidFill>
                <a:latin typeface="Arial" pitchFamily="34" charset="0"/>
                <a:ea typeface="Arial" pitchFamily="34" charset="-122"/>
                <a:cs typeface="Arial" pitchFamily="34" charset="-120"/>
              </a:rPr>
              <a:t>JESS MOVE</a:t>
            </a:r>
            <a:endParaRPr lang="en-US" sz="1700" dirty="0"/>
          </a:p>
        </p:txBody>
      </p:sp>
      <p:sp>
        <p:nvSpPr>
          <p:cNvPr id="4" name="Text 2"/>
          <p:cNvSpPr txBox="1"/>
          <p:nvPr/>
        </p:nvSpPr>
        <p:spPr>
          <a:xfrm>
            <a:off x="731520" y="2468880"/>
            <a:ext cx="7315200" cy="1737360"/>
          </a:xfrm>
          <a:prstGeom prst="rect">
            <a:avLst/>
          </a:prstGeom>
          <a:noFill/>
          <a:ln/>
        </p:spPr>
        <p:txBody>
          <a:bodyPr wrap="square" lIns="0" tIns="0" rIns="0" bIns="0" rtlCol="0" anchor="ctr"/>
          <a:lstStyle/>
          <a:p>
            <a:pPr indent="0" marL="0">
              <a:lnSpc>
                <a:spcPts val="5400"/>
              </a:lnSpc>
              <a:buNone/>
            </a:pPr>
            <a:r>
              <a:rPr lang="en-US" sz="4800" b="1" dirty="0">
                <a:solidFill>
                  <a:srgbClr val="FFFFFF"/>
                </a:solidFill>
                <a:latin typeface="Cambria" pitchFamily="34" charset="0"/>
                <a:ea typeface="Cambria" pitchFamily="34" charset="-122"/>
                <a:cs typeface="Cambria" pitchFamily="34" charset="-120"/>
              </a:rPr>
              <a:t>Give us one team</a:t>
            </a:r>
            <a:endParaRPr lang="en-US" sz="4800" dirty="0"/>
          </a:p>
          <a:p>
            <a:pPr indent="0" marL="0">
              <a:lnSpc>
                <a:spcPts val="5400"/>
              </a:lnSpc>
              <a:buNone/>
            </a:pPr>
            <a:r>
              <a:rPr lang="en-US" sz="4800" b="1" dirty="0">
                <a:solidFill>
                  <a:srgbClr val="FFFFFF"/>
                </a:solidFill>
                <a:latin typeface="Cambria" pitchFamily="34" charset="0"/>
                <a:ea typeface="Cambria" pitchFamily="34" charset="-122"/>
                <a:cs typeface="Cambria" pitchFamily="34" charset="-120"/>
              </a:rPr>
              <a:t>and twelve weeks.</a:t>
            </a:r>
            <a:endParaRPr lang="en-US" sz="4800" dirty="0"/>
          </a:p>
        </p:txBody>
      </p:sp>
      <p:sp>
        <p:nvSpPr>
          <p:cNvPr id="5" name="Text 3"/>
          <p:cNvSpPr txBox="1"/>
          <p:nvPr/>
        </p:nvSpPr>
        <p:spPr>
          <a:xfrm>
            <a:off x="731520" y="4389120"/>
            <a:ext cx="6583680" cy="822960"/>
          </a:xfrm>
          <a:prstGeom prst="rect">
            <a:avLst/>
          </a:prstGeom>
          <a:noFill/>
          <a:ln/>
        </p:spPr>
        <p:txBody>
          <a:bodyPr wrap="square" lIns="0" tIns="0" rIns="0" bIns="0" rtlCol="0" anchor="ctr"/>
          <a:lstStyle/>
          <a:p>
            <a:pPr indent="0" marL="0">
              <a:lnSpc>
                <a:spcPts val="2300"/>
              </a:lnSpc>
              <a:buNone/>
            </a:pPr>
            <a:r>
              <a:rPr lang="en-US" sz="1600" dirty="0">
                <a:solidFill>
                  <a:srgbClr val="B8C6D1"/>
                </a:solidFill>
                <a:latin typeface="Calibri" pitchFamily="34" charset="0"/>
                <a:ea typeface="Calibri" pitchFamily="34" charset="-122"/>
                <a:cs typeface="Calibri" pitchFamily="34" charset="-120"/>
              </a:rPr>
              <a:t>Two minutes of an employee’s day. Thirty of yours to decide.</a:t>
            </a:r>
            <a:endParaRPr lang="en-US" sz="1600" dirty="0"/>
          </a:p>
        </p:txBody>
      </p:sp>
      <p:sp>
        <p:nvSpPr>
          <p:cNvPr id="6" name="Shape 4"/>
          <p:cNvSpPr/>
          <p:nvPr/>
        </p:nvSpPr>
        <p:spPr>
          <a:xfrm>
            <a:off x="7680960" y="2377440"/>
            <a:ext cx="3749040" cy="2286000"/>
          </a:xfrm>
          <a:prstGeom prst="roundRect">
            <a:avLst>
              <a:gd name="adj" fmla="val 3200"/>
            </a:avLst>
          </a:prstGeom>
          <a:solidFill>
            <a:srgbClr val="1B3A54"/>
          </a:solidFill>
          <a:ln w="12700">
            <a:solidFill>
              <a:srgbClr val="1B3A54"/>
            </a:solidFill>
            <a:prstDash val="solid"/>
          </a:ln>
          <a:effectLst>
            <a:outerShdw sx="100000" sy="100000" kx="0" ky="0" algn="bl" rotWithShape="0" blurRad="127000" dist="508" dir="5400000">
              <a:srgbClr val="9AA8B4">
                <a:alpha val="25000"/>
              </a:srgbClr>
            </a:outerShdw>
          </a:effectLst>
        </p:spPr>
      </p:sp>
      <p:sp>
        <p:nvSpPr>
          <p:cNvPr id="7" name="Text 5"/>
          <p:cNvSpPr txBox="1"/>
          <p:nvPr/>
        </p:nvSpPr>
        <p:spPr>
          <a:xfrm>
            <a:off x="8046720" y="2651760"/>
            <a:ext cx="3017520" cy="320040"/>
          </a:xfrm>
          <a:prstGeom prst="rect">
            <a:avLst/>
          </a:prstGeom>
          <a:noFill/>
          <a:ln/>
        </p:spPr>
        <p:txBody>
          <a:bodyPr wrap="square" lIns="0" tIns="0" rIns="0" bIns="0" rtlCol="0" anchor="ctr"/>
          <a:lstStyle/>
          <a:p>
            <a:pPr indent="0" marL="0">
              <a:buNone/>
            </a:pPr>
            <a:r>
              <a:rPr lang="en-US" sz="1400" b="1" dirty="0">
                <a:solidFill>
                  <a:srgbClr val="B7E436"/>
                </a:solidFill>
                <a:latin typeface="Arial" pitchFamily="34" charset="0"/>
                <a:ea typeface="Arial" pitchFamily="34" charset="-122"/>
                <a:cs typeface="Arial" pitchFamily="34" charset="-120"/>
              </a:rPr>
              <a:t>Next step</a:t>
            </a:r>
            <a:endParaRPr lang="en-US" sz="1400" dirty="0"/>
          </a:p>
        </p:txBody>
      </p:sp>
      <p:sp>
        <p:nvSpPr>
          <p:cNvPr id="8" name="Text 6"/>
          <p:cNvSpPr txBox="1"/>
          <p:nvPr/>
        </p:nvSpPr>
        <p:spPr>
          <a:xfrm>
            <a:off x="8046720" y="3108960"/>
            <a:ext cx="310896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jessmove.com/industries</a:t>
            </a:r>
            <a:endParaRPr lang="en-US" sz="1400" dirty="0"/>
          </a:p>
        </p:txBody>
      </p:sp>
      <p:sp>
        <p:nvSpPr>
          <p:cNvPr id="9" name="Text 7"/>
          <p:cNvSpPr txBox="1"/>
          <p:nvPr/>
        </p:nvSpPr>
        <p:spPr>
          <a:xfrm>
            <a:off x="8046720" y="3566160"/>
            <a:ext cx="3108960" cy="914400"/>
          </a:xfrm>
          <a:prstGeom prst="rect">
            <a:avLst/>
          </a:prstGeom>
          <a:noFill/>
          <a:ln/>
        </p:spPr>
        <p:txBody>
          <a:bodyPr wrap="square" lIns="0" tIns="0" rIns="0" bIns="0" rtlCol="0" anchor="ctr"/>
          <a:lstStyle/>
          <a:p>
            <a:pPr indent="0" marL="0">
              <a:lnSpc>
                <a:spcPts val="1800"/>
              </a:lnSpc>
              <a:buNone/>
            </a:pPr>
            <a:r>
              <a:rPr lang="en-US" sz="1200" dirty="0">
                <a:solidFill>
                  <a:srgbClr val="D6E2EA"/>
                </a:solidFill>
                <a:latin typeface="Calibri" pitchFamily="34" charset="0"/>
                <a:ea typeface="Calibri" pitchFamily="34" charset="-122"/>
                <a:cs typeface="Calibri" pitchFamily="34" charset="-120"/>
              </a:rPr>
              <a:t>Bring your security lead. We will run the endpoints live while they watch.</a:t>
            </a:r>
            <a:endParaRPr lang="en-US" sz="1200" dirty="0"/>
          </a:p>
        </p:txBody>
      </p:sp>
      <p:sp>
        <p:nvSpPr>
          <p:cNvPr id="10" name="Text 8"/>
          <p:cNvSpPr txBox="1"/>
          <p:nvPr/>
        </p:nvSpPr>
        <p:spPr>
          <a:xfrm>
            <a:off x="731520" y="5943600"/>
            <a:ext cx="10698480" cy="457200"/>
          </a:xfrm>
          <a:prstGeom prst="rect">
            <a:avLst/>
          </a:prstGeom>
          <a:noFill/>
          <a:ln/>
        </p:spPr>
        <p:txBody>
          <a:bodyPr wrap="square" lIns="0" tIns="0" rIns="0" bIns="0" rtlCol="0" anchor="ctr"/>
          <a:lstStyle/>
          <a:p>
            <a:pPr indent="0" marL="0">
              <a:buNone/>
            </a:pPr>
            <a:r>
              <a:rPr lang="en-US" sz="1050" dirty="0">
                <a:solidFill>
                  <a:srgbClr val="A7B8C6"/>
                </a:solidFill>
                <a:latin typeface="Calibri" pitchFamily="34" charset="0"/>
                <a:ea typeface="Calibri" pitchFamily="34" charset="-122"/>
                <a:cs typeface="Calibri" pitchFamily="34" charset="-120"/>
              </a:rPr>
              <a:t>Jess Move does not diagnose any condition and never contacts emergency services. In the UK, call 999 for an emergency and 111 for urgent health advice.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JESS MOVE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JESS MOVE — for organisations</dc:title>
  <dc:subject>PptxGenJS Presentation</dc:subject>
  <dc:creator>JESS MOVE</dc:creator>
  <cp:lastModifiedBy>JESS MOVE</cp:lastModifiedBy>
  <cp:revision>1</cp:revision>
  <dcterms:created xsi:type="dcterms:W3CDTF">2026-09-12T11:57:25Z</dcterms:created>
  <dcterms:modified xsi:type="dcterms:W3CDTF">2026-09-12T11:57:25Z</dcterms:modified>
</cp:coreProperties>
</file>