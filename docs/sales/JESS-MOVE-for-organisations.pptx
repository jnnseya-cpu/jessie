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by naming the status honestly: we are pre-launch and choosing a small number of design partners. That is the offer, not a weakness to hide.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this. A buyer who discovers later that you have no customers stops trusting everything else you said.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borrowed statistics. Every number in this deck is from our own system; the problem is stated as something the buyer already recognises.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wins or loses the security review. Offer to let their engineers verify it against the public API in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employers with an older or mixed workforce, and for care and local-government buyers, this is usually the differentiator that matters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Titles contain client names, medical appointments and disciplinary meetings. This is the slide for the works council or the union.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let the right-hand column be read as shipped. Say the words: these four are not built, and a design partner decides which comes first. Also say the small-organisation limitation out loud — a buyer who finds it after signing feels sold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Offer to run these live. It converts a trust conversation into a demonstration, and very few vendors can do it. GET /api/system is a fifth if they want the platform invariants — age modes, delivery tiers, required variants — in one response.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design-partner discount buys feedback and a future reference. Do not promise a testimonial before there is a result to describe.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Twelve weeks is short enough to approve without a procurement cycle and long enough to see whether behaviour changed.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clinical boundary. It signals seriousness to a health-adjacent buyer rather than reading as a disclaimer.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691640"/>
            <a:ext cx="201168" cy="201168"/>
          </a:xfrm>
          <a:prstGeom prst="ellipse">
            <a:avLst/>
          </a:prstGeom>
          <a:solidFill>
            <a:srgbClr val="00A99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78992" y="162763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5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JESS MOVE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94560"/>
            <a:ext cx="8778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Movement that fits</a:t>
            </a:r>
            <a:endParaRPr lang="en-US" sz="52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working day.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297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B7E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Moves. Powerful Change.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892040"/>
            <a:ext cx="9326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C6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workplace movement and food-intelligence platform for ages 10 to 100 — built so an employer can run a programme without ever seeing one employee.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7B8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partner programme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690372"/>
            <a:ext cx="118872" cy="118872"/>
          </a:xfrm>
          <a:prstGeom prst="ellipse">
            <a:avLst/>
          </a:prstGeom>
          <a:solidFill>
            <a:srgbClr val="00A99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926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ACTUALLY ARE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05156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customers yet. That is the offer.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500" dirty="0">
                <a:solidFill>
                  <a:srgbClr val="475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vendors you meet will show you logos and a case study. We have neither, and saying so is the point — you are not buying a finished programme, you are shaping one. What exists is the platform, built and tested; what does not exist is a track record.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7490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99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49884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75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in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75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repository today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37490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99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2697480" y="449884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75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needed before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75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figure is reported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37490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99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449884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75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organisations that have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75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cohort so far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720840" y="2103120"/>
            <a:ext cx="4709160" cy="1207008"/>
          </a:xfrm>
          <a:prstGeom prst="roundRect">
            <a:avLst>
              <a:gd name="adj" fmla="val 6061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  <a:effectLst>
            <a:outerShdw sx="100000" sy="100000" kx="0" ky="0" algn="bl" rotWithShape="0" blurRad="127000" dist="508" dir="5400000">
              <a:srgbClr val="9AA8B4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949440" y="2359152"/>
            <a:ext cx="274320" cy="274320"/>
          </a:xfrm>
          <a:prstGeom prst="ellipse">
            <a:avLst/>
          </a:prstGeom>
          <a:solidFill>
            <a:srgbClr val="00A99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60920" y="230428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and tested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2651760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75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Safeguarding and privacy rules enforced in the database, not the interface.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720840" y="3474720"/>
            <a:ext cx="4709160" cy="1207008"/>
          </a:xfrm>
          <a:prstGeom prst="roundRect">
            <a:avLst>
              <a:gd name="adj" fmla="val 6061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  <a:effectLst>
            <a:outerShdw sx="100000" sy="100000" kx="0" ky="0" algn="bl" rotWithShape="0" blurRad="127000" dist="508" dir="5400000">
              <a:srgbClr val="9AA8B4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949440" y="3730752"/>
            <a:ext cx="274320" cy="274320"/>
          </a:xfrm>
          <a:prstGeom prst="ellipse">
            <a:avLst/>
          </a:prstGeom>
          <a:solidFill>
            <a:srgbClr val="FF6B5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60920" y="367588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yet proven in production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360920" y="4023360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75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organisation has run a cohort. Any figure we showed you would be invented.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720840" y="4846320"/>
            <a:ext cx="4709160" cy="1207008"/>
          </a:xfrm>
          <a:prstGeom prst="roundRect">
            <a:avLst>
              <a:gd name="adj" fmla="val 6061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  <a:effectLst>
            <a:outerShdw sx="100000" sy="100000" kx="0" ky="0" algn="bl" rotWithShape="0" blurRad="127000" dist="508" dir="5400000">
              <a:srgbClr val="9AA8B4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949440" y="5102352"/>
            <a:ext cx="274320" cy="274320"/>
          </a:xfrm>
          <a:prstGeom prst="ellipse">
            <a:avLst/>
          </a:prstGeom>
          <a:solidFill>
            <a:srgbClr val="B7E43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60920" y="504748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want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360920" y="5394960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75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to five design partners. Real employees, real calendars, real feedback.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690372"/>
            <a:ext cx="118872" cy="118872"/>
          </a:xfrm>
          <a:prstGeom prst="ellipse">
            <a:avLst/>
          </a:prstGeom>
          <a:solidFill>
            <a:srgbClr val="00A99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926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YOU ALREADY HAVE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05156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people sit down at nine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stand up at five.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731520" y="2651760"/>
            <a:ext cx="3502152" cy="2514600"/>
          </a:xfrm>
          <a:prstGeom prst="roundRect">
            <a:avLst>
              <a:gd name="adj" fmla="val 2909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  <a:effectLst>
            <a:outerShdw sx="100000" sy="100000" kx="0" ky="0" algn="bl" rotWithShape="0" blurRad="127000" dist="508" dir="5400000">
              <a:srgbClr val="9AA8B4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051560" y="292608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programme nobody opens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370332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75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wellbeing app is bought, announced, used enthusiastically for two weeks, and then quietly abandoned. Renewal becomes a conversation about why.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89120" y="2651760"/>
            <a:ext cx="3502152" cy="2514600"/>
          </a:xfrm>
          <a:prstGeom prst="roundRect">
            <a:avLst>
              <a:gd name="adj" fmla="val 2909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  <a:effectLst>
            <a:outerShdw sx="100000" sy="100000" kx="0" ky="0" algn="bl" rotWithShape="0" blurRad="127000" dist="508" dir="5400000">
              <a:srgbClr val="9AA8B4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709160" y="292608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programme nobody trusts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09160" y="370332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75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that can show an individual’s activity to their employer will eventually be asked to. Your people know that, and behave accordingly.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46720" y="2651760"/>
            <a:ext cx="3502152" cy="2514600"/>
          </a:xfrm>
          <a:prstGeom prst="roundRect">
            <a:avLst>
              <a:gd name="adj" fmla="val 2909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  <a:effectLst>
            <a:outerShdw sx="100000" sy="100000" kx="0" ky="0" algn="bl" rotWithShape="0" blurRad="127000" dist="508" dir="5400000">
              <a:srgbClr val="9AA8B4">
                <a:alpha val="2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366760" y="292608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programme that excludes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370332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75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challenges reward the people who were already fit. The employee who most needs it is the one who cannot take part.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55321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built for the second and third of these deliberately, because they are the ones a platform can actually decide.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690372"/>
            <a:ext cx="118872" cy="118872"/>
          </a:xfrm>
          <a:prstGeom prst="ellipse">
            <a:avLst/>
          </a:prstGeom>
          <a:solidFill>
            <a:srgbClr val="B7E43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926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7E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PROCUREMENT 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05156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an employer see one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named person’s activity?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69748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0" b="1" dirty="0">
                <a:solidFill>
                  <a:srgbClr val="B7E4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No.</a:t>
            </a:r>
            <a:endParaRPr lang="en-US" sz="9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8862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restricted. Not audited. Not available to a super-admin.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8920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7E4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OrganisationReport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23036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B8C6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apps/backend/src/groups/groups.logic.ts — the type your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B8C6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can read in five minutes.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760720" y="2377440"/>
            <a:ext cx="5669280" cy="3566160"/>
          </a:xfrm>
          <a:prstGeom prst="roundRect">
            <a:avLst>
              <a:gd name="adj" fmla="val 2051"/>
            </a:avLst>
          </a:prstGeom>
          <a:solidFill>
            <a:srgbClr val="1B3A54"/>
          </a:solidFill>
          <a:ln w="12700">
            <a:solidFill>
              <a:srgbClr val="1B3A54"/>
            </a:solidFill>
            <a:prstDash val="solid"/>
          </a:ln>
          <a:effectLst>
            <a:outerShdw sx="100000" sy="100000" kx="0" ky="0" algn="bl" rotWithShape="0" blurRad="127000" dist="508" dir="5400000">
              <a:srgbClr val="9AA8B4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172200" y="26517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7E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that answer holds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3154680"/>
            <a:ext cx="4754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700"/>
              </a:lnSpc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organisation report type has no field for a person. It carries a size, a participation percentage, an active count, a median and a suppression flag — so a client asking for a name does not compile.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permission is a setting, and settings change when somebody senior asks. Because the capability was never built, adding one takes a schema change, a migration and a code review.</a:t>
            </a:r>
            <a:endParaRPr lang="en-US" sz="1200" dirty="0"/>
          </a:p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en-US" sz="1200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cohort figure needs at least 8 contributing people. Below that the field is null, not a rounded stand-in.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690372"/>
            <a:ext cx="118872" cy="118872"/>
          </a:xfrm>
          <a:prstGeom prst="ellipse">
            <a:avLst/>
          </a:prstGeom>
          <a:solidFill>
            <a:srgbClr val="00A99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926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IS EXCLUDED BY DESIGN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05156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variants, or it does not ship.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475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movement in the library exists as five independently authored variants. Not one version with things removed — a good seated movement uses the chair. The publishing gate refuses anything with fewer. There is no force-publish flag and no admin bypass.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31520" y="3291840"/>
            <a:ext cx="1975104" cy="1371600"/>
          </a:xfrm>
          <a:prstGeom prst="roundRect">
            <a:avLst>
              <a:gd name="adj" fmla="val 5333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  <a:effectLst>
            <a:outerShdw sx="100000" sy="100000" kx="0" ky="0" algn="bl" rotWithShape="0" blurRad="127000" dist="508" dir="5400000">
              <a:srgbClr val="9AA8B4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05840" y="3474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A99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950208"/>
            <a:ext cx="14264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62072" y="3291840"/>
            <a:ext cx="1975104" cy="1371600"/>
          </a:xfrm>
          <a:prstGeom prst="roundRect">
            <a:avLst>
              <a:gd name="adj" fmla="val 5333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  <a:effectLst>
            <a:outerShdw sx="100000" sy="100000" kx="0" ky="0" algn="bl" rotWithShape="0" blurRad="127000" dist="508" dir="5400000">
              <a:srgbClr val="9AA8B4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136392" y="3474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A99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3136392" y="3950208"/>
            <a:ext cx="14264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Seated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992624" y="3291840"/>
            <a:ext cx="1975104" cy="1371600"/>
          </a:xfrm>
          <a:prstGeom prst="roundRect">
            <a:avLst>
              <a:gd name="adj" fmla="val 5333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  <a:effectLst>
            <a:outerShdw sx="100000" sy="100000" kx="0" ky="0" algn="bl" rotWithShape="0" blurRad="127000" dist="508" dir="5400000">
              <a:srgbClr val="9AA8B4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266944" y="3474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A99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5266944" y="3950208"/>
            <a:ext cx="14264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Chair-supported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123176" y="3291840"/>
            <a:ext cx="1975104" cy="1371600"/>
          </a:xfrm>
          <a:prstGeom prst="roundRect">
            <a:avLst>
              <a:gd name="adj" fmla="val 5333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  <a:effectLst>
            <a:outerShdw sx="100000" sy="100000" kx="0" ky="0" algn="bl" rotWithShape="0" blurRad="127000" dist="508" dir="5400000">
              <a:srgbClr val="9AA8B4">
                <a:alpha val="2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397496" y="3474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A99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7397496" y="3950208"/>
            <a:ext cx="14264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 / Recliner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253728" y="3291840"/>
            <a:ext cx="1975104" cy="1371600"/>
          </a:xfrm>
          <a:prstGeom prst="roundRect">
            <a:avLst>
              <a:gd name="adj" fmla="val 5333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  <a:effectLst>
            <a:outerShdw sx="100000" sy="100000" kx="0" ky="0" algn="bl" rotWithShape="0" blurRad="127000" dist="508" dir="5400000">
              <a:srgbClr val="9AA8B4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528048" y="3474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A99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9528048" y="3950208"/>
            <a:ext cx="14264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Single-limb /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" y="4937760"/>
            <a:ext cx="10698480" cy="1051560"/>
          </a:xfrm>
          <a:prstGeom prst="roundRect">
            <a:avLst>
              <a:gd name="adj" fmla="val 695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  <a:effectLst>
            <a:outerShdw sx="100000" sy="100000" kx="0" ky="0" algn="bl" rotWithShape="0" blurRad="127000" dist="508" dir="5400000">
              <a:srgbClr val="9AA8B4">
                <a:alpha val="2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1097280" y="5138928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age modes, ten to a hundred. Mode is derived from a verified age band, not chosen — it governs which mechanics are legal, what data may be collected, and which clinical guardrails apply.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690372"/>
            <a:ext cx="118872" cy="118872"/>
          </a:xfrm>
          <a:prstGeom prst="ellipse">
            <a:avLst/>
          </a:prstGeom>
          <a:solidFill>
            <a:srgbClr val="00A99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926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ENGAGEMENT DOES NOT DECAY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05156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decides when to say nothing.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475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reminder delivered while somebody is driving is not a neutral event. It costs attention, then trust, and eventually the notification is switched off — at which point the programme is finished however good the recommendation was. So a block is recorded as a successful decision, not a failed delivery.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794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silences a prompt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206240"/>
            <a:ext cx="5577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75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Driving, from motion state rather than location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75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call, in a lesson, or notifications turned off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75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daily cap, which differs by age mode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75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Quiet hours, the sleep window, or an active cooldown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75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clinical rest flag, a safeguarding hold or a bereavement hold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675120" y="2103120"/>
            <a:ext cx="4754880" cy="3657600"/>
          </a:xfrm>
          <a:prstGeom prst="roundRect">
            <a:avLst>
              <a:gd name="adj" fmla="val 20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  <a:effectLst>
            <a:outerShdw sx="100000" sy="100000" kx="0" ky="0" algn="bl" rotWithShape="0" blurRad="127000" dist="508" dir="5400000">
              <a:srgbClr val="9AA8B4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040880" y="24231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calendar, read</a:t>
            </a:r>
            <a:endParaRPr lang="en-US" sz="20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without being read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040880" y="33832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time, end time, busy or free, attendee count, whether it recurs.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40880" y="416052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i="1" dirty="0">
                <a:solidFill>
                  <a:srgbClr val="B7E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title is never transmitted, never logged and never sent to a model. It costs us accuracy — a one-to-one and a board review look identical to us — and we accept the worse recommendation.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690372"/>
            <a:ext cx="118872" cy="118872"/>
          </a:xfrm>
          <a:prstGeom prst="ellipse">
            <a:avLst/>
          </a:prstGeom>
          <a:solidFill>
            <a:srgbClr val="00A99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926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ACTUALLY RECEIVE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05156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Enough to run a programme.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enough to manage a person.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6888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46888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built yet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2834640"/>
            <a:ext cx="5166360" cy="1965960"/>
          </a:xfrm>
          <a:prstGeom prst="roundRect">
            <a:avLst>
              <a:gd name="adj" fmla="val 3721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  <a:effectLst>
            <a:outerShdw sx="100000" sy="100000" kx="0" ky="0" algn="bl" rotWithShape="0" blurRad="127000" dist="508" dir="5400000">
              <a:srgbClr val="9AA8B4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097280" y="30632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cohort report returns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474720"/>
            <a:ext cx="4434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75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Participation rate across the cohort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75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people were active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75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days moved in the period</a:t>
            </a:r>
            <a:endParaRPr lang="en-US" sz="1200" dirty="0"/>
          </a:p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en-US" sz="1200" dirty="0">
                <a:solidFill>
                  <a:srgbClr val="475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answer was suppressed, and the floor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2834640"/>
            <a:ext cx="5166360" cy="1965960"/>
          </a:xfrm>
          <a:prstGeom prst="roundRect">
            <a:avLst>
              <a:gd name="adj" fmla="val 3721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  <a:effectLst>
            <a:outerShdw sx="100000" sy="100000" kx="0" ky="0" algn="bl" rotWithShape="0" blurRad="127000" dist="508" dir="5400000">
              <a:srgbClr val="9AA8B4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629400" y="30632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with a design partner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3474720"/>
            <a:ext cx="4434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75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trend series against a baseline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75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Sedentary-risk distribution by cohort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475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return-on-investment model, assumptions shown</a:t>
            </a:r>
            <a:endParaRPr lang="en-US" sz="1200" dirty="0"/>
          </a:p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en-US" sz="1200" dirty="0">
                <a:solidFill>
                  <a:srgbClr val="475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sign-on and directory sync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562356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475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eight contributing people every figure is null, not rounded — for you as well as for everyone else. An eleven-person company cannot have anonymous reporting however it is sold.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690372"/>
            <a:ext cx="118872" cy="118872"/>
          </a:xfrm>
          <a:prstGeom prst="ellipse">
            <a:avLst/>
          </a:prstGeom>
          <a:solidFill>
            <a:srgbClr val="B7E43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926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7E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YOUR SECURITY REVIEW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05156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claim you can call is worth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than a claim you can read.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860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B8C6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Checkable from a terminal, without an account and without us in the room. The assurance endpoint lists 32 controls — 21 enforced in code, 7 implemented, 4 still open.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31520" y="3108960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1B3A54"/>
          </a:solidFill>
          <a:ln w="12700">
            <a:solidFill>
              <a:srgbClr val="1B3A54"/>
            </a:solidFill>
            <a:prstDash val="solid"/>
          </a:ln>
          <a:effectLst>
            <a:outerShdw sx="100000" sy="100000" kx="0" ky="0" algn="bl" rotWithShape="0" blurRad="127000" dist="508" dir="5400000">
              <a:srgbClr val="9AA8B4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51560" y="3310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E4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/api/assurance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3310128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control, its status, and the gaps — listed at the top, not buried.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3931920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1B3A54"/>
          </a:solidFill>
          <a:ln w="12700">
            <a:solidFill>
              <a:srgbClr val="1B3A54"/>
            </a:solidFill>
            <a:prstDash val="solid"/>
          </a:ln>
          <a:effectLst>
            <a:outerShdw sx="100000" sy="100000" kx="0" ky="0" algn="bl" rotWithShape="0" blurRad="127000" dist="508" dir="5400000">
              <a:srgbClr val="9AA8B4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1051560" y="41330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E4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/api/movements/gate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4133088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publishing contract: five variants, a cue set per age mode, no override.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4754880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1B3A54"/>
          </a:solidFill>
          <a:ln w="12700">
            <a:solidFill>
              <a:srgbClr val="1B3A54"/>
            </a:solidFill>
            <a:prstDash val="solid"/>
          </a:ln>
          <a:effectLst>
            <a:outerShdw sx="100000" sy="100000" kx="0" ky="0" algn="bl" rotWithShape="0" blurRad="127000" dist="508" dir="5400000">
              <a:srgbClr val="9AA8B4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051560" y="49560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E4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/api/body/assess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4956048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a twelve-year-old with consent set true. It returns metrics: null.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5577840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1B3A54"/>
          </a:solidFill>
          <a:ln w="12700">
            <a:solidFill>
              <a:srgbClr val="1B3A54"/>
            </a:solidFill>
            <a:prstDash val="solid"/>
          </a:ln>
          <a:effectLst>
            <a:outerShdw sx="100000" sy="100000" kx="0" ky="0" algn="bl" rotWithShape="0" blurRad="127000" dist="508" dir="5400000">
              <a:srgbClr val="9AA8B4">
                <a:alpha val="2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1051560" y="57790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E4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/api/health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26280" y="5779008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check that opens a database connection, never a stored badge.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690372"/>
            <a:ext cx="118872" cy="118872"/>
          </a:xfrm>
          <a:prstGeom prst="ellipse">
            <a:avLst/>
          </a:prstGeom>
          <a:solidFill>
            <a:srgbClr val="00A99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926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05156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£2 per employee per month.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731520" y="2194560"/>
            <a:ext cx="5166360" cy="3200400"/>
          </a:xfrm>
          <a:prstGeom prst="roundRect">
            <a:avLst>
              <a:gd name="adj" fmla="val 2286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  <a:effectLst>
            <a:outerShdw sx="100000" sy="100000" kx="0" ky="0" algn="bl" rotWithShape="0" blurRad="127000" dist="508" dir="5400000">
              <a:srgbClr val="9AA8B4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143000" y="25603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7E4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£2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35204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seat, per month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4023360"/>
            <a:ext cx="4343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B8C6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floor, not a teaser. Up to £5 depending on sector, seat count and support level. Organisation deals are contracts, so the figure is agreed rather than picked at a checkout.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2194560"/>
            <a:ext cx="5166360" cy="621792"/>
          </a:xfrm>
          <a:prstGeom prst="roundRect">
            <a:avLst>
              <a:gd name="adj" fmla="val 11765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  <a:effectLst>
            <a:outerShdw sx="100000" sy="100000" kx="0" ky="0" algn="bl" rotWithShape="0" blurRad="127000" dist="508" dir="5400000">
              <a:srgbClr val="9AA8B4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583680" y="23042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 10 seats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2578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 minimum annual contract.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63640" y="3063240"/>
            <a:ext cx="5166360" cy="621792"/>
          </a:xfrm>
          <a:prstGeom prst="roundRect">
            <a:avLst>
              <a:gd name="adj" fmla="val 11765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  <a:effectLst>
            <a:outerShdw sx="100000" sy="100000" kx="0" ky="0" algn="bl" rotWithShape="0" blurRad="127000" dist="508" dir="5400000">
              <a:srgbClr val="9AA8B4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583680" y="3172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 builder and campaigns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34472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Branded to your organisation.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63640" y="3931920"/>
            <a:ext cx="5166360" cy="621792"/>
          </a:xfrm>
          <a:prstGeom prst="roundRect">
            <a:avLst>
              <a:gd name="adj" fmla="val 11765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  <a:effectLst>
            <a:outerShdw sx="100000" sy="100000" kx="0" ky="0" algn="bl" rotWithShape="0" blurRad="127000" dist="508" dir="5400000">
              <a:srgbClr val="9AA8B4">
                <a:alpha val="2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583680" y="40416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and integration support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0" y="4315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every contract.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4800600"/>
            <a:ext cx="5166360" cy="621792"/>
          </a:xfrm>
          <a:prstGeom prst="roundRect">
            <a:avLst>
              <a:gd name="adj" fmla="val 11765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  <a:effectLst>
            <a:outerShdw sx="100000" sy="100000" kx="0" ky="0" algn="bl" rotWithShape="0" blurRad="127000" dist="508" dir="5400000">
              <a:srgbClr val="9AA8B4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583680" y="49103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sign-on and directory sync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51846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Contracted, not yet built. Delivered inside the pilot.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56235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00A9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partners are priced at the floor for the first year, in exchange for feedback and a reference once there is something real to reference.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690372"/>
            <a:ext cx="118872" cy="118872"/>
          </a:xfrm>
          <a:prstGeom prst="ellipse">
            <a:avLst/>
          </a:prstGeom>
          <a:solidFill>
            <a:srgbClr val="00A99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926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05156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twelve-week pilot,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team, no procurement epic.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731520" y="2514600"/>
            <a:ext cx="3502152" cy="2377440"/>
          </a:xfrm>
          <a:prstGeom prst="roundRect">
            <a:avLst>
              <a:gd name="adj" fmla="val 3077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  <a:effectLst>
            <a:outerShdw sx="100000" sy="100000" kx="0" ky="0" algn="bl" rotWithShape="0" blurRad="127000" dist="508" dir="5400000">
              <a:srgbClr val="9AA8B4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51560" y="2743200"/>
            <a:ext cx="548640" cy="548640"/>
          </a:xfrm>
          <a:prstGeom prst="ellipse">
            <a:avLst/>
          </a:prstGeom>
          <a:solidFill>
            <a:srgbClr val="00A99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28163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45643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0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8404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team, 10–100 people. Invited by email, and a named sponsor on your side and ours.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89120" y="2514600"/>
            <a:ext cx="3502152" cy="2377440"/>
          </a:xfrm>
          <a:prstGeom prst="roundRect">
            <a:avLst>
              <a:gd name="adj" fmla="val 3077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  <a:effectLst>
            <a:outerShdw sx="100000" sy="100000" kx="0" ky="0" algn="bl" rotWithShape="0" blurRad="127000" dist="508" dir="5400000">
              <a:srgbClr val="9AA8B4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2743200"/>
            <a:ext cx="548640" cy="548640"/>
          </a:xfrm>
          <a:prstGeom prst="ellipse">
            <a:avLst/>
          </a:prstGeom>
          <a:solidFill>
            <a:srgbClr val="00A99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09160" y="28163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345643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1–8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709160" y="38404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use it. We watch the held rate and completion, not the vanity numbers.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46720" y="2514600"/>
            <a:ext cx="3502152" cy="2377440"/>
          </a:xfrm>
          <a:prstGeom prst="roundRect">
            <a:avLst>
              <a:gd name="adj" fmla="val 3077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  <a:effectLst>
            <a:outerShdw sx="100000" sy="100000" kx="0" ky="0" algn="bl" rotWithShape="0" blurRad="127000" dist="508" dir="5400000">
              <a:srgbClr val="9AA8B4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66760" y="2743200"/>
            <a:ext cx="548640" cy="548640"/>
          </a:xfrm>
          <a:prstGeom prst="ellipse">
            <a:avLst/>
          </a:prstGeom>
          <a:solidFill>
            <a:srgbClr val="00A99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66760" y="28163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345643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9–12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366760" y="38404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report against baseline. Honest review — including whether it did nothing.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31520" y="5120640"/>
            <a:ext cx="10698480" cy="960120"/>
          </a:xfrm>
          <a:prstGeom prst="roundRect">
            <a:avLst>
              <a:gd name="adj" fmla="val 7619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  <a:effectLst>
            <a:outerShdw sx="100000" sy="100000" kx="0" ky="0" algn="bl" rotWithShape="0" blurRad="127000" dist="508" dir="5400000">
              <a:srgbClr val="9AA8B4">
                <a:alpha val="2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1097280" y="5321808"/>
            <a:ext cx="9966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i="1" dirty="0">
                <a:solidFill>
                  <a:srgbClr val="10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pilot shows it did not work, we would rather know at week twelve than sell you a second year. That is the whole basis of the programme.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874520"/>
            <a:ext cx="201168" cy="201168"/>
          </a:xfrm>
          <a:prstGeom prst="ellipse">
            <a:avLst/>
          </a:prstGeom>
          <a:solidFill>
            <a:srgbClr val="00A99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78992" y="181051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5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JESS MOVE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6888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minutes is</a:t>
            </a:r>
            <a:endParaRPr lang="en-US" sz="50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ask.</a:t>
            </a:r>
            <a:endParaRPr lang="en-US" sz="5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38912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B8C6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an employee’s day, and of yours to decide whether a twelve-week pilot is worth running.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680960" y="2377440"/>
            <a:ext cx="3749040" cy="2286000"/>
          </a:xfrm>
          <a:prstGeom prst="roundRect">
            <a:avLst>
              <a:gd name="adj" fmla="val 3200"/>
            </a:avLst>
          </a:prstGeom>
          <a:solidFill>
            <a:srgbClr val="1B3A54"/>
          </a:solidFill>
          <a:ln w="12700">
            <a:solidFill>
              <a:srgbClr val="1B3A54"/>
            </a:solidFill>
            <a:prstDash val="solid"/>
          </a:ln>
          <a:effectLst>
            <a:outerShdw sx="100000" sy="100000" kx="0" ky="0" algn="bl" rotWithShape="0" blurRad="127000" dist="508" dir="5400000">
              <a:srgbClr val="9AA8B4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046720" y="26517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E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3108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jessmove.com/industries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35661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thirty-minute call, and we will run the verification endpoints live if your security team wants to watch.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7B8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Jess Move does not diagnose any condition and never contacts emergency services. In the UK, call 999 for an emergency and 111 for urgent health advice.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JESS MOVE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JESS MOVE — for organisations</dc:title>
  <dc:subject>PptxGenJS Presentation</dc:subject>
  <dc:creator>JESS MOVE</dc:creator>
  <cp:lastModifiedBy>JESS MOVE</cp:lastModifiedBy>
  <cp:revision>1</cp:revision>
  <dcterms:created xsi:type="dcterms:W3CDTF">2026-09-12T11:17:47Z</dcterms:created>
  <dcterms:modified xsi:type="dcterms:W3CDTF">2026-09-12T11:17:47Z</dcterms:modified>
</cp:coreProperties>
</file>