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naming the status honestly: we are pre-launch and choosing a small number of design partners. That is the offer, not a weakness to hide.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this. A buyer who discovers later that you have no customers stops trusting everything else you said.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borrowed statistics. Every number in this deck is from our own system; the problem is stated as something the buyer already recognises.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wins or loses the security review. Offer to let their engineers verify it against the public API in the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workforce that spans apprentices to people working past 65, this is usually the differentiator that matters most. Most step-count programmes are designed for the 18-39 band; 40-64 is where sedentary risk actually bites and it is usually a large part of the payroll.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Titles contain client names, medical appointments and disciplinary meetings. This is the slide for the works council or the union.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let the right-hand column be read as shipped. Say the words: these four are not built, and a design partner decides which comes first. Also say the small-organisation limitation out loud — a buyer who finds it after signing feels sold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Offer to run these live. It converts a trust conversation into a demonstration, and very few vendors can do it. GET /api/system is a fifth if they want the platform invariants — age modes, delivery tiers, required variants — in one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this slide to their security lead early rather than defending it late. If they ask which gap is closest to closing, the export archive — the data is already readable through the member endpoints, it needs an archive endpoint around them. If they ask about the age gap, say it bites a school far harder than an employer, and that it is listed rather than argued away for that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design-partner discount buys feedback and a future reference. Do not promise a testimonial before there is a result to describe.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weeks is short enough to approve without a procurement cycle and long enough to see whether behaviour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clinical boundary. It signals seriousness to a health-adjacent buyer rather than reading as a disclaimer.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731520" y="1691640"/>
            <a:ext cx="201168" cy="201168"/>
          </a:xfrm>
          <a:prstGeom prst="ellipse">
            <a:avLst/>
          </a:prstGeom>
          <a:solidFill>
            <a:srgbClr val="00A99D"/>
          </a:solidFill>
          <a:ln/>
        </p:spPr>
      </p:sp>
      <p:sp>
        <p:nvSpPr>
          <p:cNvPr id="3" name="Text 1"/>
          <p:cNvSpPr txBox="1"/>
          <p:nvPr/>
        </p:nvSpPr>
        <p:spPr>
          <a:xfrm>
            <a:off x="1078992" y="1627632"/>
            <a:ext cx="7315200" cy="365760"/>
          </a:xfrm>
          <a:prstGeom prst="rect">
            <a:avLst/>
          </a:prstGeom>
          <a:noFill/>
          <a:ln/>
        </p:spPr>
        <p:txBody>
          <a:bodyPr wrap="square" lIns="0" tIns="0" rIns="0" bIns="0" rtlCol="0" anchor="ctr"/>
          <a:lstStyle/>
          <a:p>
            <a:pPr indent="0" marL="0">
              <a:buNone/>
            </a:pPr>
            <a:r>
              <a:rPr lang="en-US" sz="1700" b="1" spc="500" kern="0" dirty="0">
                <a:solidFill>
                  <a:srgbClr val="FFFFFF"/>
                </a:solidFill>
                <a:latin typeface="Arial" pitchFamily="34" charset="0"/>
                <a:ea typeface="Arial" pitchFamily="34" charset="-122"/>
                <a:cs typeface="Arial" pitchFamily="34" charset="-120"/>
              </a:rPr>
              <a:t>JESS MOVE</a:t>
            </a:r>
            <a:endParaRPr lang="en-US" sz="1700" dirty="0"/>
          </a:p>
        </p:txBody>
      </p:sp>
      <p:sp>
        <p:nvSpPr>
          <p:cNvPr id="4" name="Text 2"/>
          <p:cNvSpPr txBox="1"/>
          <p:nvPr/>
        </p:nvSpPr>
        <p:spPr>
          <a:xfrm>
            <a:off x="731520" y="2194560"/>
            <a:ext cx="8778240" cy="2011680"/>
          </a:xfrm>
          <a:prstGeom prst="rect">
            <a:avLst/>
          </a:prstGeom>
          <a:noFill/>
          <a:ln/>
        </p:spPr>
        <p:txBody>
          <a:bodyPr wrap="square" lIns="0" tIns="0" rIns="0" bIns="0" rtlCol="0" anchor="ctr"/>
          <a:lstStyle/>
          <a:p>
            <a:pPr indent="0" marL="0">
              <a:lnSpc>
                <a:spcPts val="5600"/>
              </a:lnSpc>
              <a:buNone/>
            </a:pPr>
            <a:r>
              <a:rPr lang="en-US" sz="5200" b="1" dirty="0">
                <a:solidFill>
                  <a:srgbClr val="FFFFFF"/>
                </a:solidFill>
                <a:latin typeface="Cambria" pitchFamily="34" charset="0"/>
                <a:ea typeface="Cambria" pitchFamily="34" charset="-122"/>
                <a:cs typeface="Cambria" pitchFamily="34" charset="-120"/>
              </a:rPr>
              <a:t>Movement that fits</a:t>
            </a:r>
            <a:endParaRPr lang="en-US" sz="5200" dirty="0"/>
          </a:p>
          <a:p>
            <a:pPr indent="0" marL="0">
              <a:lnSpc>
                <a:spcPts val="5600"/>
              </a:lnSpc>
              <a:buNone/>
            </a:pPr>
            <a:r>
              <a:rPr lang="en-US" sz="5200" b="1" dirty="0">
                <a:solidFill>
                  <a:srgbClr val="FFFFFF"/>
                </a:solidFill>
                <a:latin typeface="Cambria" pitchFamily="34" charset="0"/>
                <a:ea typeface="Cambria" pitchFamily="34" charset="-122"/>
                <a:cs typeface="Cambria" pitchFamily="34" charset="-120"/>
              </a:rPr>
              <a:t>the working day.</a:t>
            </a:r>
            <a:endParaRPr lang="en-US" sz="5200" dirty="0"/>
          </a:p>
        </p:txBody>
      </p:sp>
      <p:sp>
        <p:nvSpPr>
          <p:cNvPr id="5" name="Text 3"/>
          <p:cNvSpPr txBox="1"/>
          <p:nvPr/>
        </p:nvSpPr>
        <p:spPr>
          <a:xfrm>
            <a:off x="731520" y="4297680"/>
            <a:ext cx="7315200" cy="365760"/>
          </a:xfrm>
          <a:prstGeom prst="rect">
            <a:avLst/>
          </a:prstGeom>
          <a:noFill/>
          <a:ln/>
        </p:spPr>
        <p:txBody>
          <a:bodyPr wrap="square" lIns="0" tIns="0" rIns="0" bIns="0" rtlCol="0" anchor="ctr"/>
          <a:lstStyle/>
          <a:p>
            <a:pPr indent="0" marL="0">
              <a:buNone/>
            </a:pPr>
            <a:r>
              <a:rPr lang="en-US" sz="1800" i="1" dirty="0">
                <a:solidFill>
                  <a:srgbClr val="B7E436"/>
                </a:solidFill>
                <a:latin typeface="Calibri" pitchFamily="34" charset="0"/>
                <a:ea typeface="Calibri" pitchFamily="34" charset="-122"/>
                <a:cs typeface="Calibri" pitchFamily="34" charset="-120"/>
              </a:rPr>
              <a:t>Small Moves. Powerful Change.</a:t>
            </a:r>
            <a:endParaRPr lang="en-US" sz="1800" dirty="0"/>
          </a:p>
        </p:txBody>
      </p:sp>
      <p:sp>
        <p:nvSpPr>
          <p:cNvPr id="6" name="Text 4"/>
          <p:cNvSpPr txBox="1"/>
          <p:nvPr/>
        </p:nvSpPr>
        <p:spPr>
          <a:xfrm>
            <a:off x="731520" y="4892040"/>
            <a:ext cx="9326880" cy="822960"/>
          </a:xfrm>
          <a:prstGeom prst="rect">
            <a:avLst/>
          </a:prstGeom>
          <a:noFill/>
          <a:ln/>
        </p:spPr>
        <p:txBody>
          <a:bodyPr wrap="square" lIns="0" tIns="0" rIns="0" bIns="0" rtlCol="0" anchor="ctr"/>
          <a:lstStyle/>
          <a:p>
            <a:pPr indent="0" marL="0">
              <a:lnSpc>
                <a:spcPts val="2200"/>
              </a:lnSpc>
              <a:buNone/>
            </a:pPr>
            <a:r>
              <a:rPr lang="en-US" sz="1400" dirty="0">
                <a:solidFill>
                  <a:srgbClr val="B8C6D1"/>
                </a:solidFill>
                <a:latin typeface="Calibri" pitchFamily="34" charset="0"/>
                <a:ea typeface="Calibri" pitchFamily="34" charset="-122"/>
                <a:cs typeface="Calibri" pitchFamily="34" charset="-120"/>
              </a:rPr>
              <a:t>A movement and food-intelligence platform for your workforce — built so an employer can run a programme without ever seeing one employee.</a:t>
            </a:r>
            <a:endParaRPr lang="en-US" sz="1400" dirty="0"/>
          </a:p>
        </p:txBody>
      </p:sp>
      <p:sp>
        <p:nvSpPr>
          <p:cNvPr id="7" name="Text 5"/>
          <p:cNvSpPr txBox="1"/>
          <p:nvPr/>
        </p:nvSpPr>
        <p:spPr>
          <a:xfrm>
            <a:off x="731520" y="5989320"/>
            <a:ext cx="7315200" cy="274320"/>
          </a:xfrm>
          <a:prstGeom prst="rect">
            <a:avLst/>
          </a:prstGeom>
          <a:noFill/>
          <a:ln/>
        </p:spPr>
        <p:txBody>
          <a:bodyPr wrap="square" lIns="0" tIns="0" rIns="0" bIns="0" rtlCol="0" anchor="ctr"/>
          <a:lstStyle/>
          <a:p>
            <a:pPr indent="0" marL="0">
              <a:buNone/>
            </a:pPr>
            <a:r>
              <a:rPr lang="en-US" sz="1100" spc="100" kern="0" dirty="0">
                <a:solidFill>
                  <a:srgbClr val="A7B8C6"/>
                </a:solidFill>
                <a:latin typeface="Arial" pitchFamily="34" charset="0"/>
                <a:ea typeface="Arial" pitchFamily="34" charset="-122"/>
                <a:cs typeface="Arial" pitchFamily="34" charset="-120"/>
              </a:rPr>
              <a:t>Design partner programme ·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690372"/>
            <a:ext cx="118872" cy="118872"/>
          </a:xfrm>
          <a:prstGeom prst="ellipse">
            <a:avLst/>
          </a:prstGeom>
          <a:solidFill>
            <a:srgbClr val="00A99D"/>
          </a:solidFill>
          <a:ln/>
        </p:spPr>
      </p:sp>
      <p:sp>
        <p:nvSpPr>
          <p:cNvPr id="3" name="Text 1"/>
          <p:cNvSpPr txBox="1"/>
          <p:nvPr/>
        </p:nvSpPr>
        <p:spPr>
          <a:xfrm>
            <a:off x="969264" y="640080"/>
            <a:ext cx="7315200" cy="274320"/>
          </a:xfrm>
          <a:prstGeom prst="rect">
            <a:avLst/>
          </a:prstGeom>
          <a:noFill/>
          <a:ln/>
        </p:spPr>
        <p:txBody>
          <a:bodyPr wrap="square" lIns="0" tIns="0" rIns="0" bIns="0" rtlCol="0" anchor="ctr"/>
          <a:lstStyle/>
          <a:p>
            <a:pPr indent="0" marL="0">
              <a:buNone/>
            </a:pPr>
            <a:r>
              <a:rPr lang="en-US" sz="1200" b="1" spc="200" kern="0" dirty="0">
                <a:solidFill>
                  <a:srgbClr val="00A99D"/>
                </a:solidFill>
                <a:latin typeface="Arial" pitchFamily="34" charset="0"/>
                <a:ea typeface="Arial" pitchFamily="34" charset="-122"/>
                <a:cs typeface="Arial" pitchFamily="34" charset="-120"/>
              </a:rPr>
              <a:t>WHERE WE ACTUALLY ARE</a:t>
            </a:r>
            <a:endParaRPr lang="en-US" sz="1200" dirty="0"/>
          </a:p>
        </p:txBody>
      </p:sp>
      <p:sp>
        <p:nvSpPr>
          <p:cNvPr id="4" name="Text 2"/>
          <p:cNvSpPr txBox="1"/>
          <p:nvPr/>
        </p:nvSpPr>
        <p:spPr>
          <a:xfrm>
            <a:off x="731520" y="1051560"/>
            <a:ext cx="10698480" cy="1005840"/>
          </a:xfrm>
          <a:prstGeom prst="rect">
            <a:avLst/>
          </a:prstGeom>
          <a:noFill/>
          <a:ln/>
        </p:spPr>
        <p:txBody>
          <a:bodyPr wrap="square" lIns="0" tIns="0" rIns="0" bIns="0" rtlCol="0" anchor="ctr"/>
          <a:lstStyle/>
          <a:p>
            <a:pPr indent="0" marL="0">
              <a:buNone/>
            </a:pPr>
            <a:r>
              <a:rPr lang="en-US" sz="3800" b="1" dirty="0">
                <a:solidFill>
                  <a:srgbClr val="102A43"/>
                </a:solidFill>
                <a:latin typeface="Cambria" pitchFamily="34" charset="0"/>
                <a:ea typeface="Cambria" pitchFamily="34" charset="-122"/>
                <a:cs typeface="Cambria" pitchFamily="34" charset="-120"/>
              </a:rPr>
              <a:t>No customers yet. That is the offer.</a:t>
            </a:r>
            <a:endParaRPr lang="en-US" sz="3800" dirty="0"/>
          </a:p>
        </p:txBody>
      </p:sp>
      <p:sp>
        <p:nvSpPr>
          <p:cNvPr id="5" name="Text 3"/>
          <p:cNvSpPr txBox="1"/>
          <p:nvPr/>
        </p:nvSpPr>
        <p:spPr>
          <a:xfrm>
            <a:off x="731520" y="2103120"/>
            <a:ext cx="5760720" cy="1371600"/>
          </a:xfrm>
          <a:prstGeom prst="rect">
            <a:avLst/>
          </a:prstGeom>
          <a:noFill/>
          <a:ln/>
        </p:spPr>
        <p:txBody>
          <a:bodyPr wrap="square" lIns="0" tIns="0" rIns="0" bIns="0" rtlCol="0" anchor="ctr"/>
          <a:lstStyle/>
          <a:p>
            <a:pPr indent="0" marL="0">
              <a:lnSpc>
                <a:spcPts val="2500"/>
              </a:lnSpc>
              <a:buNone/>
            </a:pPr>
            <a:r>
              <a:rPr lang="en-US" sz="1500" dirty="0">
                <a:solidFill>
                  <a:srgbClr val="475663"/>
                </a:solidFill>
                <a:latin typeface="Calibri" pitchFamily="34" charset="0"/>
                <a:ea typeface="Calibri" pitchFamily="34" charset="-122"/>
                <a:cs typeface="Calibri" pitchFamily="34" charset="-120"/>
              </a:rPr>
              <a:t>Most vendors you meet will show you logos and a case study. We have neither, and saying so is the point — you are not buying a finished programme, you are shaping one. What exists is the platform, built and tested; what does not exist is a track record.</a:t>
            </a:r>
            <a:endParaRPr lang="en-US" sz="1500" dirty="0"/>
          </a:p>
        </p:txBody>
      </p:sp>
      <p:sp>
        <p:nvSpPr>
          <p:cNvPr id="6" name="Text 4"/>
          <p:cNvSpPr txBox="1"/>
          <p:nvPr/>
        </p:nvSpPr>
        <p:spPr>
          <a:xfrm>
            <a:off x="731520" y="3749040"/>
            <a:ext cx="1828800" cy="685800"/>
          </a:xfrm>
          <a:prstGeom prst="rect">
            <a:avLst/>
          </a:prstGeom>
          <a:noFill/>
          <a:ln/>
        </p:spPr>
        <p:txBody>
          <a:bodyPr wrap="square" lIns="0" tIns="0" rIns="0" bIns="0" rtlCol="0" anchor="ctr"/>
          <a:lstStyle/>
          <a:p>
            <a:pPr indent="0" marL="0">
              <a:buNone/>
            </a:pPr>
            <a:r>
              <a:rPr lang="en-US" sz="4000" b="1" dirty="0">
                <a:solidFill>
                  <a:srgbClr val="00A99D"/>
                </a:solidFill>
                <a:latin typeface="Cambria" pitchFamily="34" charset="0"/>
                <a:ea typeface="Cambria" pitchFamily="34" charset="-122"/>
                <a:cs typeface="Cambria" pitchFamily="34" charset="-120"/>
              </a:rPr>
              <a:t>942</a:t>
            </a:r>
            <a:endParaRPr lang="en-US" sz="4000" dirty="0"/>
          </a:p>
        </p:txBody>
      </p:sp>
      <p:sp>
        <p:nvSpPr>
          <p:cNvPr id="7" name="Text 5"/>
          <p:cNvSpPr txBox="1"/>
          <p:nvPr/>
        </p:nvSpPr>
        <p:spPr>
          <a:xfrm>
            <a:off x="731520" y="4498848"/>
            <a:ext cx="1828800" cy="640080"/>
          </a:xfrm>
          <a:prstGeom prst="rect">
            <a:avLst/>
          </a:prstGeom>
          <a:noFill/>
          <a:ln/>
        </p:spPr>
        <p:txBody>
          <a:bodyPr wrap="square" lIns="0" tIns="0" rIns="0" bIns="0" rtlCol="0" anchor="ctr"/>
          <a:lstStyle/>
          <a:p>
            <a:pPr indent="0" marL="0">
              <a:lnSpc>
                <a:spcPts val="1500"/>
              </a:lnSpc>
              <a:buNone/>
            </a:pPr>
            <a:r>
              <a:rPr lang="en-US" sz="1100" dirty="0">
                <a:solidFill>
                  <a:srgbClr val="475663"/>
                </a:solidFill>
                <a:latin typeface="Calibri" pitchFamily="34" charset="0"/>
                <a:ea typeface="Calibri" pitchFamily="34" charset="-122"/>
                <a:cs typeface="Calibri" pitchFamily="34" charset="-120"/>
              </a:rPr>
              <a:t>automated tests in</a:t>
            </a:r>
            <a:endParaRPr lang="en-US" sz="1100" dirty="0"/>
          </a:p>
          <a:p>
            <a:pPr indent="0" marL="0">
              <a:lnSpc>
                <a:spcPts val="1500"/>
              </a:lnSpc>
              <a:buNone/>
            </a:pPr>
            <a:r>
              <a:rPr lang="en-US" sz="1100" dirty="0">
                <a:solidFill>
                  <a:srgbClr val="475663"/>
                </a:solidFill>
                <a:latin typeface="Calibri" pitchFamily="34" charset="0"/>
                <a:ea typeface="Calibri" pitchFamily="34" charset="-122"/>
                <a:cs typeface="Calibri" pitchFamily="34" charset="-120"/>
              </a:rPr>
              <a:t>the repository today</a:t>
            </a:r>
            <a:endParaRPr lang="en-US" sz="1100" dirty="0"/>
          </a:p>
        </p:txBody>
      </p:sp>
      <p:sp>
        <p:nvSpPr>
          <p:cNvPr id="8" name="Text 6"/>
          <p:cNvSpPr txBox="1"/>
          <p:nvPr/>
        </p:nvSpPr>
        <p:spPr>
          <a:xfrm>
            <a:off x="2697480" y="3749040"/>
            <a:ext cx="1828800" cy="685800"/>
          </a:xfrm>
          <a:prstGeom prst="rect">
            <a:avLst/>
          </a:prstGeom>
          <a:noFill/>
          <a:ln/>
        </p:spPr>
        <p:txBody>
          <a:bodyPr wrap="square" lIns="0" tIns="0" rIns="0" bIns="0" rtlCol="0" anchor="ctr"/>
          <a:lstStyle/>
          <a:p>
            <a:pPr indent="0" marL="0">
              <a:buNone/>
            </a:pPr>
            <a:r>
              <a:rPr lang="en-US" sz="4000" b="1" dirty="0">
                <a:solidFill>
                  <a:srgbClr val="00A99D"/>
                </a:solidFill>
                <a:latin typeface="Cambria" pitchFamily="34" charset="0"/>
                <a:ea typeface="Cambria" pitchFamily="34" charset="-122"/>
                <a:cs typeface="Cambria" pitchFamily="34" charset="-120"/>
              </a:rPr>
              <a:t>8</a:t>
            </a:r>
            <a:endParaRPr lang="en-US" sz="4000" dirty="0"/>
          </a:p>
        </p:txBody>
      </p:sp>
      <p:sp>
        <p:nvSpPr>
          <p:cNvPr id="9" name="Text 7"/>
          <p:cNvSpPr txBox="1"/>
          <p:nvPr/>
        </p:nvSpPr>
        <p:spPr>
          <a:xfrm>
            <a:off x="2697480" y="4498848"/>
            <a:ext cx="1828800" cy="640080"/>
          </a:xfrm>
          <a:prstGeom prst="rect">
            <a:avLst/>
          </a:prstGeom>
          <a:noFill/>
          <a:ln/>
        </p:spPr>
        <p:txBody>
          <a:bodyPr wrap="square" lIns="0" tIns="0" rIns="0" bIns="0" rtlCol="0" anchor="ctr"/>
          <a:lstStyle/>
          <a:p>
            <a:pPr indent="0" marL="0">
              <a:lnSpc>
                <a:spcPts val="1500"/>
              </a:lnSpc>
              <a:buNone/>
            </a:pPr>
            <a:r>
              <a:rPr lang="en-US" sz="1100" dirty="0">
                <a:solidFill>
                  <a:srgbClr val="475663"/>
                </a:solidFill>
                <a:latin typeface="Calibri" pitchFamily="34" charset="0"/>
                <a:ea typeface="Calibri" pitchFamily="34" charset="-122"/>
                <a:cs typeface="Calibri" pitchFamily="34" charset="-120"/>
              </a:rPr>
              <a:t>people needed before</a:t>
            </a:r>
            <a:endParaRPr lang="en-US" sz="1100" dirty="0"/>
          </a:p>
          <a:p>
            <a:pPr indent="0" marL="0">
              <a:lnSpc>
                <a:spcPts val="1500"/>
              </a:lnSpc>
              <a:buNone/>
            </a:pPr>
            <a:r>
              <a:rPr lang="en-US" sz="1100" dirty="0">
                <a:solidFill>
                  <a:srgbClr val="475663"/>
                </a:solidFill>
                <a:latin typeface="Calibri" pitchFamily="34" charset="0"/>
                <a:ea typeface="Calibri" pitchFamily="34" charset="-122"/>
                <a:cs typeface="Calibri" pitchFamily="34" charset="-120"/>
              </a:rPr>
              <a:t>a figure is reported</a:t>
            </a:r>
            <a:endParaRPr lang="en-US" sz="1100" dirty="0"/>
          </a:p>
        </p:txBody>
      </p:sp>
      <p:sp>
        <p:nvSpPr>
          <p:cNvPr id="10" name="Text 8"/>
          <p:cNvSpPr txBox="1"/>
          <p:nvPr/>
        </p:nvSpPr>
        <p:spPr>
          <a:xfrm>
            <a:off x="4663440" y="3749040"/>
            <a:ext cx="1828800" cy="685800"/>
          </a:xfrm>
          <a:prstGeom prst="rect">
            <a:avLst/>
          </a:prstGeom>
          <a:noFill/>
          <a:ln/>
        </p:spPr>
        <p:txBody>
          <a:bodyPr wrap="square" lIns="0" tIns="0" rIns="0" bIns="0" rtlCol="0" anchor="ctr"/>
          <a:lstStyle/>
          <a:p>
            <a:pPr indent="0" marL="0">
              <a:buNone/>
            </a:pPr>
            <a:r>
              <a:rPr lang="en-US" sz="4000" b="1" dirty="0">
                <a:solidFill>
                  <a:srgbClr val="00A99D"/>
                </a:solidFill>
                <a:latin typeface="Cambria" pitchFamily="34" charset="0"/>
                <a:ea typeface="Cambria" pitchFamily="34" charset="-122"/>
                <a:cs typeface="Cambria" pitchFamily="34" charset="-120"/>
              </a:rPr>
              <a:t>0</a:t>
            </a:r>
            <a:endParaRPr lang="en-US" sz="4000" dirty="0"/>
          </a:p>
        </p:txBody>
      </p:sp>
      <p:sp>
        <p:nvSpPr>
          <p:cNvPr id="11" name="Text 9"/>
          <p:cNvSpPr txBox="1"/>
          <p:nvPr/>
        </p:nvSpPr>
        <p:spPr>
          <a:xfrm>
            <a:off x="4663440" y="4498848"/>
            <a:ext cx="1828800" cy="640080"/>
          </a:xfrm>
          <a:prstGeom prst="rect">
            <a:avLst/>
          </a:prstGeom>
          <a:noFill/>
          <a:ln/>
        </p:spPr>
        <p:txBody>
          <a:bodyPr wrap="square" lIns="0" tIns="0" rIns="0" bIns="0" rtlCol="0" anchor="ctr"/>
          <a:lstStyle/>
          <a:p>
            <a:pPr indent="0" marL="0">
              <a:lnSpc>
                <a:spcPts val="1500"/>
              </a:lnSpc>
              <a:buNone/>
            </a:pPr>
            <a:r>
              <a:rPr lang="en-US" sz="1100" dirty="0">
                <a:solidFill>
                  <a:srgbClr val="475663"/>
                </a:solidFill>
                <a:latin typeface="Calibri" pitchFamily="34" charset="0"/>
                <a:ea typeface="Calibri" pitchFamily="34" charset="-122"/>
                <a:cs typeface="Calibri" pitchFamily="34" charset="-120"/>
              </a:rPr>
              <a:t>organisations that have</a:t>
            </a:r>
            <a:endParaRPr lang="en-US" sz="1100" dirty="0"/>
          </a:p>
          <a:p>
            <a:pPr indent="0" marL="0">
              <a:lnSpc>
                <a:spcPts val="1500"/>
              </a:lnSpc>
              <a:buNone/>
            </a:pPr>
            <a:r>
              <a:rPr lang="en-US" sz="1100" dirty="0">
                <a:solidFill>
                  <a:srgbClr val="475663"/>
                </a:solidFill>
                <a:latin typeface="Calibri" pitchFamily="34" charset="0"/>
                <a:ea typeface="Calibri" pitchFamily="34" charset="-122"/>
                <a:cs typeface="Calibri" pitchFamily="34" charset="-120"/>
              </a:rPr>
              <a:t>run a cohort so far</a:t>
            </a:r>
            <a:endParaRPr lang="en-US" sz="1100" dirty="0"/>
          </a:p>
        </p:txBody>
      </p:sp>
      <p:sp>
        <p:nvSpPr>
          <p:cNvPr id="12" name="Shape 10"/>
          <p:cNvSpPr/>
          <p:nvPr/>
        </p:nvSpPr>
        <p:spPr>
          <a:xfrm>
            <a:off x="6720840" y="2103120"/>
            <a:ext cx="4709160" cy="1207008"/>
          </a:xfrm>
          <a:prstGeom prst="roundRect">
            <a:avLst>
              <a:gd name="adj" fmla="val 6061"/>
            </a:avLst>
          </a:prstGeom>
          <a:solidFill>
            <a:srgbClr val="F4F7F9"/>
          </a:solidFill>
          <a:ln w="12700">
            <a:solidFill>
              <a:srgbClr val="F4F7F9"/>
            </a:solidFill>
            <a:prstDash val="solid"/>
          </a:ln>
          <a:effectLst>
            <a:outerShdw sx="100000" sy="100000" kx="0" ky="0" algn="bl" rotWithShape="0" blurRad="127000" dist="508" dir="5400000">
              <a:srgbClr val="9AA8B4">
                <a:alpha val="25000"/>
              </a:srgbClr>
            </a:outerShdw>
          </a:effectLst>
        </p:spPr>
      </p:sp>
      <p:sp>
        <p:nvSpPr>
          <p:cNvPr id="13" name="Shape 11"/>
          <p:cNvSpPr/>
          <p:nvPr/>
        </p:nvSpPr>
        <p:spPr>
          <a:xfrm>
            <a:off x="6949440" y="2359152"/>
            <a:ext cx="274320" cy="274320"/>
          </a:xfrm>
          <a:prstGeom prst="ellipse">
            <a:avLst/>
          </a:prstGeom>
          <a:solidFill>
            <a:srgbClr val="00A99D"/>
          </a:solidFill>
          <a:ln/>
        </p:spPr>
      </p:sp>
      <p:sp>
        <p:nvSpPr>
          <p:cNvPr id="14" name="Text 12"/>
          <p:cNvSpPr txBox="1"/>
          <p:nvPr/>
        </p:nvSpPr>
        <p:spPr>
          <a:xfrm>
            <a:off x="7360920" y="2304288"/>
            <a:ext cx="3931920" cy="320040"/>
          </a:xfrm>
          <a:prstGeom prst="rect">
            <a:avLst/>
          </a:prstGeom>
          <a:noFill/>
          <a:ln/>
        </p:spPr>
        <p:txBody>
          <a:bodyPr wrap="square" lIns="0" tIns="0" rIns="0" bIns="0" rtlCol="0" anchor="ctr"/>
          <a:lstStyle/>
          <a:p>
            <a:pPr indent="0" marL="0">
              <a:buNone/>
            </a:pPr>
            <a:r>
              <a:rPr lang="en-US" sz="1400" b="1" dirty="0">
                <a:solidFill>
                  <a:srgbClr val="102A43"/>
                </a:solidFill>
                <a:latin typeface="Arial" pitchFamily="34" charset="0"/>
                <a:ea typeface="Arial" pitchFamily="34" charset="-122"/>
                <a:cs typeface="Arial" pitchFamily="34" charset="-120"/>
              </a:rPr>
              <a:t>Built and tested</a:t>
            </a:r>
            <a:endParaRPr lang="en-US" sz="1400" dirty="0"/>
          </a:p>
        </p:txBody>
      </p:sp>
      <p:sp>
        <p:nvSpPr>
          <p:cNvPr id="15" name="Text 13"/>
          <p:cNvSpPr txBox="1"/>
          <p:nvPr/>
        </p:nvSpPr>
        <p:spPr>
          <a:xfrm>
            <a:off x="7360920" y="2651760"/>
            <a:ext cx="3886200" cy="566928"/>
          </a:xfrm>
          <a:prstGeom prst="rect">
            <a:avLst/>
          </a:prstGeom>
          <a:noFill/>
          <a:ln/>
        </p:spPr>
        <p:txBody>
          <a:bodyPr wrap="square" lIns="0" tIns="0" rIns="0" bIns="0" rtlCol="0" anchor="ctr"/>
          <a:lstStyle/>
          <a:p>
            <a:pPr indent="0" marL="0">
              <a:lnSpc>
                <a:spcPts val="1600"/>
              </a:lnSpc>
              <a:buNone/>
            </a:pPr>
            <a:r>
              <a:rPr lang="en-US" sz="1150" dirty="0">
                <a:solidFill>
                  <a:srgbClr val="475663"/>
                </a:solidFill>
                <a:latin typeface="Calibri" pitchFamily="34" charset="0"/>
                <a:ea typeface="Calibri" pitchFamily="34" charset="-122"/>
                <a:cs typeface="Calibri" pitchFamily="34" charset="-120"/>
              </a:rPr>
              <a:t>Safeguarding and privacy rules enforced in the database, not the interface.</a:t>
            </a:r>
            <a:endParaRPr lang="en-US" sz="1150" dirty="0"/>
          </a:p>
        </p:txBody>
      </p:sp>
      <p:sp>
        <p:nvSpPr>
          <p:cNvPr id="16" name="Shape 14"/>
          <p:cNvSpPr/>
          <p:nvPr/>
        </p:nvSpPr>
        <p:spPr>
          <a:xfrm>
            <a:off x="6720840" y="3474720"/>
            <a:ext cx="4709160" cy="1207008"/>
          </a:xfrm>
          <a:prstGeom prst="roundRect">
            <a:avLst>
              <a:gd name="adj" fmla="val 6061"/>
            </a:avLst>
          </a:prstGeom>
          <a:solidFill>
            <a:srgbClr val="F4F7F9"/>
          </a:solidFill>
          <a:ln w="12700">
            <a:solidFill>
              <a:srgbClr val="F4F7F9"/>
            </a:solidFill>
            <a:prstDash val="solid"/>
          </a:ln>
          <a:effectLst>
            <a:outerShdw sx="100000" sy="100000" kx="0" ky="0" algn="bl" rotWithShape="0" blurRad="127000" dist="508" dir="5400000">
              <a:srgbClr val="9AA8B4">
                <a:alpha val="25000"/>
              </a:srgbClr>
            </a:outerShdw>
          </a:effectLst>
        </p:spPr>
      </p:sp>
      <p:sp>
        <p:nvSpPr>
          <p:cNvPr id="17" name="Shape 15"/>
          <p:cNvSpPr/>
          <p:nvPr/>
        </p:nvSpPr>
        <p:spPr>
          <a:xfrm>
            <a:off x="6949440" y="3730752"/>
            <a:ext cx="274320" cy="274320"/>
          </a:xfrm>
          <a:prstGeom prst="ellipse">
            <a:avLst/>
          </a:prstGeom>
          <a:solidFill>
            <a:srgbClr val="FF6B5E"/>
          </a:solidFill>
          <a:ln/>
        </p:spPr>
      </p:sp>
      <p:sp>
        <p:nvSpPr>
          <p:cNvPr id="18" name="Text 16"/>
          <p:cNvSpPr txBox="1"/>
          <p:nvPr/>
        </p:nvSpPr>
        <p:spPr>
          <a:xfrm>
            <a:off x="7360920" y="3675888"/>
            <a:ext cx="3931920" cy="320040"/>
          </a:xfrm>
          <a:prstGeom prst="rect">
            <a:avLst/>
          </a:prstGeom>
          <a:noFill/>
          <a:ln/>
        </p:spPr>
        <p:txBody>
          <a:bodyPr wrap="square" lIns="0" tIns="0" rIns="0" bIns="0" rtlCol="0" anchor="ctr"/>
          <a:lstStyle/>
          <a:p>
            <a:pPr indent="0" marL="0">
              <a:buNone/>
            </a:pPr>
            <a:r>
              <a:rPr lang="en-US" sz="1400" b="1" dirty="0">
                <a:solidFill>
                  <a:srgbClr val="102A43"/>
                </a:solidFill>
                <a:latin typeface="Arial" pitchFamily="34" charset="0"/>
                <a:ea typeface="Arial" pitchFamily="34" charset="-122"/>
                <a:cs typeface="Arial" pitchFamily="34" charset="-120"/>
              </a:rPr>
              <a:t>Not yet proven in production</a:t>
            </a:r>
            <a:endParaRPr lang="en-US" sz="1400" dirty="0"/>
          </a:p>
        </p:txBody>
      </p:sp>
      <p:sp>
        <p:nvSpPr>
          <p:cNvPr id="19" name="Text 17"/>
          <p:cNvSpPr txBox="1"/>
          <p:nvPr/>
        </p:nvSpPr>
        <p:spPr>
          <a:xfrm>
            <a:off x="7360920" y="4023360"/>
            <a:ext cx="3886200" cy="566928"/>
          </a:xfrm>
          <a:prstGeom prst="rect">
            <a:avLst/>
          </a:prstGeom>
          <a:noFill/>
          <a:ln/>
        </p:spPr>
        <p:txBody>
          <a:bodyPr wrap="square" lIns="0" tIns="0" rIns="0" bIns="0" rtlCol="0" anchor="ctr"/>
          <a:lstStyle/>
          <a:p>
            <a:pPr indent="0" marL="0">
              <a:lnSpc>
                <a:spcPts val="1600"/>
              </a:lnSpc>
              <a:buNone/>
            </a:pPr>
            <a:r>
              <a:rPr lang="en-US" sz="1150" dirty="0">
                <a:solidFill>
                  <a:srgbClr val="475663"/>
                </a:solidFill>
                <a:latin typeface="Calibri" pitchFamily="34" charset="0"/>
                <a:ea typeface="Calibri" pitchFamily="34" charset="-122"/>
                <a:cs typeface="Calibri" pitchFamily="34" charset="-120"/>
              </a:rPr>
              <a:t>No organisation has run a cohort. Any figure we showed you would be invented.</a:t>
            </a:r>
            <a:endParaRPr lang="en-US" sz="1150" dirty="0"/>
          </a:p>
        </p:txBody>
      </p:sp>
      <p:sp>
        <p:nvSpPr>
          <p:cNvPr id="20" name="Shape 18"/>
          <p:cNvSpPr/>
          <p:nvPr/>
        </p:nvSpPr>
        <p:spPr>
          <a:xfrm>
            <a:off x="6720840" y="4846320"/>
            <a:ext cx="4709160" cy="1207008"/>
          </a:xfrm>
          <a:prstGeom prst="roundRect">
            <a:avLst>
              <a:gd name="adj" fmla="val 6061"/>
            </a:avLst>
          </a:prstGeom>
          <a:solidFill>
            <a:srgbClr val="F4F7F9"/>
          </a:solidFill>
          <a:ln w="12700">
            <a:solidFill>
              <a:srgbClr val="F4F7F9"/>
            </a:solidFill>
            <a:prstDash val="solid"/>
          </a:ln>
          <a:effectLst>
            <a:outerShdw sx="100000" sy="100000" kx="0" ky="0" algn="bl" rotWithShape="0" blurRad="127000" dist="508" dir="5400000">
              <a:srgbClr val="9AA8B4">
                <a:alpha val="25000"/>
              </a:srgbClr>
            </a:outerShdw>
          </a:effectLst>
        </p:spPr>
      </p:sp>
      <p:sp>
        <p:nvSpPr>
          <p:cNvPr id="21" name="Shape 19"/>
          <p:cNvSpPr/>
          <p:nvPr/>
        </p:nvSpPr>
        <p:spPr>
          <a:xfrm>
            <a:off x="6949440" y="5102352"/>
            <a:ext cx="274320" cy="274320"/>
          </a:xfrm>
          <a:prstGeom prst="ellipse">
            <a:avLst/>
          </a:prstGeom>
          <a:solidFill>
            <a:srgbClr val="B7E436"/>
          </a:solidFill>
          <a:ln/>
        </p:spPr>
      </p:sp>
      <p:sp>
        <p:nvSpPr>
          <p:cNvPr id="22" name="Text 20"/>
          <p:cNvSpPr txBox="1"/>
          <p:nvPr/>
        </p:nvSpPr>
        <p:spPr>
          <a:xfrm>
            <a:off x="7360920" y="5047488"/>
            <a:ext cx="3931920" cy="320040"/>
          </a:xfrm>
          <a:prstGeom prst="rect">
            <a:avLst/>
          </a:prstGeom>
          <a:noFill/>
          <a:ln/>
        </p:spPr>
        <p:txBody>
          <a:bodyPr wrap="square" lIns="0" tIns="0" rIns="0" bIns="0" rtlCol="0" anchor="ctr"/>
          <a:lstStyle/>
          <a:p>
            <a:pPr indent="0" marL="0">
              <a:buNone/>
            </a:pPr>
            <a:r>
              <a:rPr lang="en-US" sz="1400" b="1" dirty="0">
                <a:solidFill>
                  <a:srgbClr val="102A43"/>
                </a:solidFill>
                <a:latin typeface="Arial" pitchFamily="34" charset="0"/>
                <a:ea typeface="Arial" pitchFamily="34" charset="-122"/>
                <a:cs typeface="Arial" pitchFamily="34" charset="-120"/>
              </a:rPr>
              <a:t>What we want</a:t>
            </a:r>
            <a:endParaRPr lang="en-US" sz="1400" dirty="0"/>
          </a:p>
        </p:txBody>
      </p:sp>
      <p:sp>
        <p:nvSpPr>
          <p:cNvPr id="23" name="Text 21"/>
          <p:cNvSpPr txBox="1"/>
          <p:nvPr/>
        </p:nvSpPr>
        <p:spPr>
          <a:xfrm>
            <a:off x="7360920" y="5394960"/>
            <a:ext cx="3886200" cy="566928"/>
          </a:xfrm>
          <a:prstGeom prst="rect">
            <a:avLst/>
          </a:prstGeom>
          <a:noFill/>
          <a:ln/>
        </p:spPr>
        <p:txBody>
          <a:bodyPr wrap="square" lIns="0" tIns="0" rIns="0" bIns="0" rtlCol="0" anchor="ctr"/>
          <a:lstStyle/>
          <a:p>
            <a:pPr indent="0" marL="0">
              <a:lnSpc>
                <a:spcPts val="1600"/>
              </a:lnSpc>
              <a:buNone/>
            </a:pPr>
            <a:r>
              <a:rPr lang="en-US" sz="1150" dirty="0">
                <a:solidFill>
                  <a:srgbClr val="475663"/>
                </a:solidFill>
                <a:latin typeface="Calibri" pitchFamily="34" charset="0"/>
                <a:ea typeface="Calibri" pitchFamily="34" charset="-122"/>
                <a:cs typeface="Calibri" pitchFamily="34" charset="-120"/>
              </a:rPr>
              <a:t>Three to five design partners. Real employees, real calendars, real feedback.</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690372"/>
            <a:ext cx="118872" cy="118872"/>
          </a:xfrm>
          <a:prstGeom prst="ellipse">
            <a:avLst/>
          </a:prstGeom>
          <a:solidFill>
            <a:srgbClr val="00A99D"/>
          </a:solidFill>
          <a:ln/>
        </p:spPr>
      </p:sp>
      <p:sp>
        <p:nvSpPr>
          <p:cNvPr id="3" name="Text 1"/>
          <p:cNvSpPr txBox="1"/>
          <p:nvPr/>
        </p:nvSpPr>
        <p:spPr>
          <a:xfrm>
            <a:off x="969264" y="640080"/>
            <a:ext cx="7315200" cy="274320"/>
          </a:xfrm>
          <a:prstGeom prst="rect">
            <a:avLst/>
          </a:prstGeom>
          <a:noFill/>
          <a:ln/>
        </p:spPr>
        <p:txBody>
          <a:bodyPr wrap="square" lIns="0" tIns="0" rIns="0" bIns="0" rtlCol="0" anchor="ctr"/>
          <a:lstStyle/>
          <a:p>
            <a:pPr indent="0" marL="0">
              <a:buNone/>
            </a:pPr>
            <a:r>
              <a:rPr lang="en-US" sz="1200" b="1" spc="200" kern="0" dirty="0">
                <a:solidFill>
                  <a:srgbClr val="00A99D"/>
                </a:solidFill>
                <a:latin typeface="Arial" pitchFamily="34" charset="0"/>
                <a:ea typeface="Arial" pitchFamily="34" charset="-122"/>
                <a:cs typeface="Arial" pitchFamily="34" charset="-120"/>
              </a:rPr>
              <a:t>THE PROBLEM YOU ALREADY HAVE</a:t>
            </a:r>
            <a:endParaRPr lang="en-US" sz="1200" dirty="0"/>
          </a:p>
        </p:txBody>
      </p:sp>
      <p:sp>
        <p:nvSpPr>
          <p:cNvPr id="4" name="Text 2"/>
          <p:cNvSpPr txBox="1"/>
          <p:nvPr/>
        </p:nvSpPr>
        <p:spPr>
          <a:xfrm>
            <a:off x="731520" y="1051560"/>
            <a:ext cx="10698480" cy="1005840"/>
          </a:xfrm>
          <a:prstGeom prst="rect">
            <a:avLst/>
          </a:prstGeom>
          <a:noFill/>
          <a:ln/>
        </p:spPr>
        <p:txBody>
          <a:bodyPr wrap="square" lIns="0" tIns="0" rIns="0" bIns="0" rtlCol="0" anchor="ctr"/>
          <a:lstStyle/>
          <a:p>
            <a:pPr indent="0" marL="0">
              <a:buNone/>
            </a:pPr>
            <a:r>
              <a:rPr lang="en-US" sz="3800" b="1" dirty="0">
                <a:solidFill>
                  <a:srgbClr val="102A43"/>
                </a:solidFill>
                <a:latin typeface="Cambria" pitchFamily="34" charset="0"/>
                <a:ea typeface="Cambria" pitchFamily="34" charset="-122"/>
                <a:cs typeface="Cambria" pitchFamily="34" charset="-120"/>
              </a:rPr>
              <a:t>Your people sit down at nine</a:t>
            </a:r>
            <a:endParaRPr lang="en-US" sz="3800" dirty="0"/>
          </a:p>
          <a:p>
            <a:pPr indent="0" marL="0">
              <a:buNone/>
            </a:pPr>
            <a:r>
              <a:rPr lang="en-US" sz="3800" b="1" dirty="0">
                <a:solidFill>
                  <a:srgbClr val="102A43"/>
                </a:solidFill>
                <a:latin typeface="Cambria" pitchFamily="34" charset="0"/>
                <a:ea typeface="Cambria" pitchFamily="34" charset="-122"/>
                <a:cs typeface="Cambria" pitchFamily="34" charset="-120"/>
              </a:rPr>
              <a:t>and stand up at five.</a:t>
            </a:r>
            <a:endParaRPr lang="en-US" sz="3800" dirty="0"/>
          </a:p>
        </p:txBody>
      </p:sp>
      <p:sp>
        <p:nvSpPr>
          <p:cNvPr id="5" name="Shape 3"/>
          <p:cNvSpPr/>
          <p:nvPr/>
        </p:nvSpPr>
        <p:spPr>
          <a:xfrm>
            <a:off x="731520" y="2651760"/>
            <a:ext cx="3502152" cy="2514600"/>
          </a:xfrm>
          <a:prstGeom prst="roundRect">
            <a:avLst>
              <a:gd name="adj" fmla="val 2909"/>
            </a:avLst>
          </a:prstGeom>
          <a:solidFill>
            <a:srgbClr val="F4F7F9"/>
          </a:solidFill>
          <a:ln w="12700">
            <a:solidFill>
              <a:srgbClr val="F4F7F9"/>
            </a:solidFill>
            <a:prstDash val="solid"/>
          </a:ln>
          <a:effectLst>
            <a:outerShdw sx="100000" sy="100000" kx="0" ky="0" algn="bl" rotWithShape="0" blurRad="127000" dist="508" dir="5400000">
              <a:srgbClr val="9AA8B4">
                <a:alpha val="25000"/>
              </a:srgbClr>
            </a:outerShdw>
          </a:effectLst>
        </p:spPr>
      </p:sp>
      <p:sp>
        <p:nvSpPr>
          <p:cNvPr id="6" name="Text 4"/>
          <p:cNvSpPr txBox="1"/>
          <p:nvPr/>
        </p:nvSpPr>
        <p:spPr>
          <a:xfrm>
            <a:off x="1051560" y="2926080"/>
            <a:ext cx="2880360" cy="731520"/>
          </a:xfrm>
          <a:prstGeom prst="rect">
            <a:avLst/>
          </a:prstGeom>
          <a:noFill/>
          <a:ln/>
        </p:spPr>
        <p:txBody>
          <a:bodyPr wrap="square" lIns="0" tIns="0" rIns="0" bIns="0" rtlCol="0" anchor="ctr"/>
          <a:lstStyle/>
          <a:p>
            <a:pPr indent="0" marL="0">
              <a:buNone/>
            </a:pPr>
            <a:r>
              <a:rPr lang="en-US" sz="1600" b="1" dirty="0">
                <a:solidFill>
                  <a:srgbClr val="102A43"/>
                </a:solidFill>
                <a:latin typeface="Cambria" pitchFamily="34" charset="0"/>
                <a:ea typeface="Cambria" pitchFamily="34" charset="-122"/>
                <a:cs typeface="Cambria" pitchFamily="34" charset="-120"/>
              </a:rPr>
              <a:t>The programme nobody opens</a:t>
            </a:r>
            <a:endParaRPr lang="en-US" sz="1600" dirty="0"/>
          </a:p>
        </p:txBody>
      </p:sp>
      <p:sp>
        <p:nvSpPr>
          <p:cNvPr id="7" name="Text 5"/>
          <p:cNvSpPr txBox="1"/>
          <p:nvPr/>
        </p:nvSpPr>
        <p:spPr>
          <a:xfrm>
            <a:off x="1051560" y="3703320"/>
            <a:ext cx="2880360" cy="1280160"/>
          </a:xfrm>
          <a:prstGeom prst="rect">
            <a:avLst/>
          </a:prstGeom>
          <a:noFill/>
          <a:ln/>
        </p:spPr>
        <p:txBody>
          <a:bodyPr wrap="square" lIns="0" tIns="0" rIns="0" bIns="0" rtlCol="0" anchor="t"/>
          <a:lstStyle/>
          <a:p>
            <a:pPr indent="0" marL="0">
              <a:lnSpc>
                <a:spcPts val="1900"/>
              </a:lnSpc>
              <a:buNone/>
            </a:pPr>
            <a:r>
              <a:rPr lang="en-US" sz="1250" dirty="0">
                <a:solidFill>
                  <a:srgbClr val="475663"/>
                </a:solidFill>
                <a:latin typeface="Calibri" pitchFamily="34" charset="0"/>
                <a:ea typeface="Calibri" pitchFamily="34" charset="-122"/>
                <a:cs typeface="Calibri" pitchFamily="34" charset="-120"/>
              </a:rPr>
              <a:t>A wellbeing app is bought, announced, used enthusiastically for two weeks, and then quietly abandoned. Renewal becomes a conversation about why.</a:t>
            </a:r>
            <a:endParaRPr lang="en-US" sz="1250" dirty="0"/>
          </a:p>
        </p:txBody>
      </p:sp>
      <p:sp>
        <p:nvSpPr>
          <p:cNvPr id="8" name="Shape 6"/>
          <p:cNvSpPr/>
          <p:nvPr/>
        </p:nvSpPr>
        <p:spPr>
          <a:xfrm>
            <a:off x="4389120" y="2651760"/>
            <a:ext cx="3502152" cy="2514600"/>
          </a:xfrm>
          <a:prstGeom prst="roundRect">
            <a:avLst>
              <a:gd name="adj" fmla="val 2909"/>
            </a:avLst>
          </a:prstGeom>
          <a:solidFill>
            <a:srgbClr val="F4F7F9"/>
          </a:solidFill>
          <a:ln w="12700">
            <a:solidFill>
              <a:srgbClr val="F4F7F9"/>
            </a:solidFill>
            <a:prstDash val="solid"/>
          </a:ln>
          <a:effectLst>
            <a:outerShdw sx="100000" sy="100000" kx="0" ky="0" algn="bl" rotWithShape="0" blurRad="127000" dist="508" dir="5400000">
              <a:srgbClr val="9AA8B4">
                <a:alpha val="25000"/>
              </a:srgbClr>
            </a:outerShdw>
          </a:effectLst>
        </p:spPr>
      </p:sp>
      <p:sp>
        <p:nvSpPr>
          <p:cNvPr id="9" name="Text 7"/>
          <p:cNvSpPr txBox="1"/>
          <p:nvPr/>
        </p:nvSpPr>
        <p:spPr>
          <a:xfrm>
            <a:off x="4709160" y="2926080"/>
            <a:ext cx="2880360" cy="731520"/>
          </a:xfrm>
          <a:prstGeom prst="rect">
            <a:avLst/>
          </a:prstGeom>
          <a:noFill/>
          <a:ln/>
        </p:spPr>
        <p:txBody>
          <a:bodyPr wrap="square" lIns="0" tIns="0" rIns="0" bIns="0" rtlCol="0" anchor="ctr"/>
          <a:lstStyle/>
          <a:p>
            <a:pPr indent="0" marL="0">
              <a:buNone/>
            </a:pPr>
            <a:r>
              <a:rPr lang="en-US" sz="1600" b="1" dirty="0">
                <a:solidFill>
                  <a:srgbClr val="102A43"/>
                </a:solidFill>
                <a:latin typeface="Cambria" pitchFamily="34" charset="0"/>
                <a:ea typeface="Cambria" pitchFamily="34" charset="-122"/>
                <a:cs typeface="Cambria" pitchFamily="34" charset="-120"/>
              </a:rPr>
              <a:t>The programme nobody trusts</a:t>
            </a:r>
            <a:endParaRPr lang="en-US" sz="1600" dirty="0"/>
          </a:p>
        </p:txBody>
      </p:sp>
      <p:sp>
        <p:nvSpPr>
          <p:cNvPr id="10" name="Text 8"/>
          <p:cNvSpPr txBox="1"/>
          <p:nvPr/>
        </p:nvSpPr>
        <p:spPr>
          <a:xfrm>
            <a:off x="4709160" y="3703320"/>
            <a:ext cx="2880360" cy="1280160"/>
          </a:xfrm>
          <a:prstGeom prst="rect">
            <a:avLst/>
          </a:prstGeom>
          <a:noFill/>
          <a:ln/>
        </p:spPr>
        <p:txBody>
          <a:bodyPr wrap="square" lIns="0" tIns="0" rIns="0" bIns="0" rtlCol="0" anchor="t"/>
          <a:lstStyle/>
          <a:p>
            <a:pPr indent="0" marL="0">
              <a:lnSpc>
                <a:spcPts val="1900"/>
              </a:lnSpc>
              <a:buNone/>
            </a:pPr>
            <a:r>
              <a:rPr lang="en-US" sz="1250" dirty="0">
                <a:solidFill>
                  <a:srgbClr val="475663"/>
                </a:solidFill>
                <a:latin typeface="Calibri" pitchFamily="34" charset="0"/>
                <a:ea typeface="Calibri" pitchFamily="34" charset="-122"/>
                <a:cs typeface="Calibri" pitchFamily="34" charset="-120"/>
              </a:rPr>
              <a:t>Anything that can show an individual’s activity to their employer will eventually be asked to. Your people know that, and behave accordingly.</a:t>
            </a:r>
            <a:endParaRPr lang="en-US" sz="1250" dirty="0"/>
          </a:p>
        </p:txBody>
      </p:sp>
      <p:sp>
        <p:nvSpPr>
          <p:cNvPr id="11" name="Shape 9"/>
          <p:cNvSpPr/>
          <p:nvPr/>
        </p:nvSpPr>
        <p:spPr>
          <a:xfrm>
            <a:off x="8046720" y="2651760"/>
            <a:ext cx="3502152" cy="2514600"/>
          </a:xfrm>
          <a:prstGeom prst="roundRect">
            <a:avLst>
              <a:gd name="adj" fmla="val 2909"/>
            </a:avLst>
          </a:prstGeom>
          <a:solidFill>
            <a:srgbClr val="F4F7F9"/>
          </a:solidFill>
          <a:ln w="12700">
            <a:solidFill>
              <a:srgbClr val="F4F7F9"/>
            </a:solidFill>
            <a:prstDash val="solid"/>
          </a:ln>
          <a:effectLst>
            <a:outerShdw sx="100000" sy="100000" kx="0" ky="0" algn="bl" rotWithShape="0" blurRad="127000" dist="508" dir="5400000">
              <a:srgbClr val="9AA8B4">
                <a:alpha val="25000"/>
              </a:srgbClr>
            </a:outerShdw>
          </a:effectLst>
        </p:spPr>
      </p:sp>
      <p:sp>
        <p:nvSpPr>
          <p:cNvPr id="12" name="Text 10"/>
          <p:cNvSpPr txBox="1"/>
          <p:nvPr/>
        </p:nvSpPr>
        <p:spPr>
          <a:xfrm>
            <a:off x="8366760" y="2926080"/>
            <a:ext cx="2880360" cy="731520"/>
          </a:xfrm>
          <a:prstGeom prst="rect">
            <a:avLst/>
          </a:prstGeom>
          <a:noFill/>
          <a:ln/>
        </p:spPr>
        <p:txBody>
          <a:bodyPr wrap="square" lIns="0" tIns="0" rIns="0" bIns="0" rtlCol="0" anchor="ctr"/>
          <a:lstStyle/>
          <a:p>
            <a:pPr indent="0" marL="0">
              <a:buNone/>
            </a:pPr>
            <a:r>
              <a:rPr lang="en-US" sz="1600" b="1" dirty="0">
                <a:solidFill>
                  <a:srgbClr val="102A43"/>
                </a:solidFill>
                <a:latin typeface="Cambria" pitchFamily="34" charset="0"/>
                <a:ea typeface="Cambria" pitchFamily="34" charset="-122"/>
                <a:cs typeface="Cambria" pitchFamily="34" charset="-120"/>
              </a:rPr>
              <a:t>The programme that excludes</a:t>
            </a:r>
            <a:endParaRPr lang="en-US" sz="1600" dirty="0"/>
          </a:p>
        </p:txBody>
      </p:sp>
      <p:sp>
        <p:nvSpPr>
          <p:cNvPr id="13" name="Text 11"/>
          <p:cNvSpPr txBox="1"/>
          <p:nvPr/>
        </p:nvSpPr>
        <p:spPr>
          <a:xfrm>
            <a:off x="8366760" y="3703320"/>
            <a:ext cx="2880360" cy="1280160"/>
          </a:xfrm>
          <a:prstGeom prst="rect">
            <a:avLst/>
          </a:prstGeom>
          <a:noFill/>
          <a:ln/>
        </p:spPr>
        <p:txBody>
          <a:bodyPr wrap="square" lIns="0" tIns="0" rIns="0" bIns="0" rtlCol="0" anchor="t"/>
          <a:lstStyle/>
          <a:p>
            <a:pPr indent="0" marL="0">
              <a:lnSpc>
                <a:spcPts val="1900"/>
              </a:lnSpc>
              <a:buNone/>
            </a:pPr>
            <a:r>
              <a:rPr lang="en-US" sz="1250" dirty="0">
                <a:solidFill>
                  <a:srgbClr val="475663"/>
                </a:solidFill>
                <a:latin typeface="Calibri" pitchFamily="34" charset="0"/>
                <a:ea typeface="Calibri" pitchFamily="34" charset="-122"/>
                <a:cs typeface="Calibri" pitchFamily="34" charset="-120"/>
              </a:rPr>
              <a:t>Step challenges reward the people who were already fit. The employee who most needs it is the one who cannot take part.</a:t>
            </a:r>
            <a:endParaRPr lang="en-US" sz="1250" dirty="0"/>
          </a:p>
        </p:txBody>
      </p:sp>
      <p:sp>
        <p:nvSpPr>
          <p:cNvPr id="14" name="Text 12"/>
          <p:cNvSpPr txBox="1"/>
          <p:nvPr/>
        </p:nvSpPr>
        <p:spPr>
          <a:xfrm>
            <a:off x="731520" y="5532120"/>
            <a:ext cx="10698480" cy="457200"/>
          </a:xfrm>
          <a:prstGeom prst="rect">
            <a:avLst/>
          </a:prstGeom>
          <a:noFill/>
          <a:ln/>
        </p:spPr>
        <p:txBody>
          <a:bodyPr wrap="square" lIns="0" tIns="0" rIns="0" bIns="0" rtlCol="0" anchor="ctr"/>
          <a:lstStyle/>
          <a:p>
            <a:pPr indent="0" marL="0">
              <a:buNone/>
            </a:pPr>
            <a:r>
              <a:rPr lang="en-US" sz="1300" i="1" dirty="0">
                <a:solidFill>
                  <a:srgbClr val="475663"/>
                </a:solidFill>
                <a:latin typeface="Calibri" pitchFamily="34" charset="0"/>
                <a:ea typeface="Calibri" pitchFamily="34" charset="-122"/>
                <a:cs typeface="Calibri" pitchFamily="34" charset="-120"/>
              </a:rPr>
              <a:t>We have built for the second and third of these deliberately, because they are the ones a platform can actually decide.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731520" y="690372"/>
            <a:ext cx="118872" cy="118872"/>
          </a:xfrm>
          <a:prstGeom prst="ellipse">
            <a:avLst/>
          </a:prstGeom>
          <a:solidFill>
            <a:srgbClr val="B7E436"/>
          </a:solidFill>
          <a:ln/>
        </p:spPr>
      </p:sp>
      <p:sp>
        <p:nvSpPr>
          <p:cNvPr id="3" name="Text 1"/>
          <p:cNvSpPr txBox="1"/>
          <p:nvPr/>
        </p:nvSpPr>
        <p:spPr>
          <a:xfrm>
            <a:off x="969264" y="640080"/>
            <a:ext cx="7315200" cy="274320"/>
          </a:xfrm>
          <a:prstGeom prst="rect">
            <a:avLst/>
          </a:prstGeom>
          <a:noFill/>
          <a:ln/>
        </p:spPr>
        <p:txBody>
          <a:bodyPr wrap="square" lIns="0" tIns="0" rIns="0" bIns="0" rtlCol="0" anchor="ctr"/>
          <a:lstStyle/>
          <a:p>
            <a:pPr indent="0" marL="0">
              <a:buNone/>
            </a:pPr>
            <a:r>
              <a:rPr lang="en-US" sz="1200" b="1" spc="200" kern="0" dirty="0">
                <a:solidFill>
                  <a:srgbClr val="B7E436"/>
                </a:solidFill>
                <a:latin typeface="Arial" pitchFamily="34" charset="0"/>
                <a:ea typeface="Arial" pitchFamily="34" charset="-122"/>
                <a:cs typeface="Arial" pitchFamily="34" charset="-120"/>
              </a:rPr>
              <a:t>THE PROCUREMENT QUESTION</a:t>
            </a:r>
            <a:endParaRPr lang="en-US" sz="1200" dirty="0"/>
          </a:p>
        </p:txBody>
      </p:sp>
      <p:sp>
        <p:nvSpPr>
          <p:cNvPr id="4" name="Text 2"/>
          <p:cNvSpPr txBox="1"/>
          <p:nvPr/>
        </p:nvSpPr>
        <p:spPr>
          <a:xfrm>
            <a:off x="731520" y="1051560"/>
            <a:ext cx="10698480" cy="10058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Can an employer see one</a:t>
            </a:r>
            <a:endParaRPr lang="en-US" sz="3800" dirty="0"/>
          </a:p>
          <a:p>
            <a:pPr indent="0" marL="0">
              <a:buNone/>
            </a:pPr>
            <a:r>
              <a:rPr lang="en-US" sz="3800" b="1" dirty="0">
                <a:solidFill>
                  <a:srgbClr val="FFFFFF"/>
                </a:solidFill>
                <a:latin typeface="Cambria" pitchFamily="34" charset="0"/>
                <a:ea typeface="Cambria" pitchFamily="34" charset="-122"/>
                <a:cs typeface="Cambria" pitchFamily="34" charset="-120"/>
              </a:rPr>
              <a:t>named person’s activity?</a:t>
            </a:r>
            <a:endParaRPr lang="en-US" sz="3800" dirty="0"/>
          </a:p>
        </p:txBody>
      </p:sp>
      <p:sp>
        <p:nvSpPr>
          <p:cNvPr id="5" name="Text 3"/>
          <p:cNvSpPr txBox="1"/>
          <p:nvPr/>
        </p:nvSpPr>
        <p:spPr>
          <a:xfrm>
            <a:off x="731520" y="2697480"/>
            <a:ext cx="2743200" cy="1188720"/>
          </a:xfrm>
          <a:prstGeom prst="rect">
            <a:avLst/>
          </a:prstGeom>
          <a:noFill/>
          <a:ln/>
        </p:spPr>
        <p:txBody>
          <a:bodyPr wrap="square" lIns="0" tIns="0" rIns="0" bIns="0" rtlCol="0" anchor="ctr"/>
          <a:lstStyle/>
          <a:p>
            <a:pPr indent="0" marL="0">
              <a:buNone/>
            </a:pPr>
            <a:r>
              <a:rPr lang="en-US" sz="9200" b="1" dirty="0">
                <a:solidFill>
                  <a:srgbClr val="B7E436"/>
                </a:solidFill>
                <a:latin typeface="Cambria" pitchFamily="34" charset="0"/>
                <a:ea typeface="Cambria" pitchFamily="34" charset="-122"/>
                <a:cs typeface="Cambria" pitchFamily="34" charset="-120"/>
              </a:rPr>
              <a:t>No.</a:t>
            </a:r>
            <a:endParaRPr lang="en-US" sz="9200" dirty="0"/>
          </a:p>
        </p:txBody>
      </p:sp>
      <p:sp>
        <p:nvSpPr>
          <p:cNvPr id="6" name="Text 4"/>
          <p:cNvSpPr txBox="1"/>
          <p:nvPr/>
        </p:nvSpPr>
        <p:spPr>
          <a:xfrm>
            <a:off x="731520" y="3886200"/>
            <a:ext cx="4754880" cy="731520"/>
          </a:xfrm>
          <a:prstGeom prst="rect">
            <a:avLst/>
          </a:prstGeom>
          <a:noFill/>
          <a:ln/>
        </p:spPr>
        <p:txBody>
          <a:bodyPr wrap="square" lIns="0" tIns="0" rIns="0" bIns="0" rtlCol="0" anchor="ctr"/>
          <a:lstStyle/>
          <a:p>
            <a:pPr indent="0" marL="0">
              <a:lnSpc>
                <a:spcPts val="2200"/>
              </a:lnSpc>
              <a:buNone/>
            </a:pPr>
            <a:r>
              <a:rPr lang="en-US" sz="1500" dirty="0">
                <a:solidFill>
                  <a:srgbClr val="FFFFFF"/>
                </a:solidFill>
                <a:latin typeface="Calibri" pitchFamily="34" charset="0"/>
                <a:ea typeface="Calibri" pitchFamily="34" charset="-122"/>
                <a:cs typeface="Calibri" pitchFamily="34" charset="-120"/>
              </a:rPr>
              <a:t>Not restricted. Not audited. Not available to a super-admin.</a:t>
            </a:r>
            <a:endParaRPr lang="en-US" sz="1500" dirty="0"/>
          </a:p>
        </p:txBody>
      </p:sp>
      <p:sp>
        <p:nvSpPr>
          <p:cNvPr id="7" name="Text 5"/>
          <p:cNvSpPr txBox="1"/>
          <p:nvPr/>
        </p:nvSpPr>
        <p:spPr>
          <a:xfrm>
            <a:off x="731520" y="4892040"/>
            <a:ext cx="4206240" cy="274320"/>
          </a:xfrm>
          <a:prstGeom prst="rect">
            <a:avLst/>
          </a:prstGeom>
          <a:noFill/>
          <a:ln/>
        </p:spPr>
        <p:txBody>
          <a:bodyPr wrap="square" lIns="0" tIns="0" rIns="0" bIns="0" rtlCol="0" anchor="ctr"/>
          <a:lstStyle/>
          <a:p>
            <a:pPr indent="0" marL="0">
              <a:buNone/>
            </a:pPr>
            <a:r>
              <a:rPr lang="en-US" sz="1300" b="1" dirty="0">
                <a:solidFill>
                  <a:srgbClr val="B7E436"/>
                </a:solidFill>
                <a:latin typeface="Courier New" pitchFamily="34" charset="0"/>
                <a:ea typeface="Courier New" pitchFamily="34" charset="-122"/>
                <a:cs typeface="Courier New" pitchFamily="34" charset="-120"/>
              </a:rPr>
              <a:t>OrganisationReport</a:t>
            </a:r>
            <a:endParaRPr lang="en-US" sz="1300" dirty="0"/>
          </a:p>
        </p:txBody>
      </p:sp>
      <p:sp>
        <p:nvSpPr>
          <p:cNvPr id="8" name="Text 6"/>
          <p:cNvSpPr txBox="1"/>
          <p:nvPr/>
        </p:nvSpPr>
        <p:spPr>
          <a:xfrm>
            <a:off x="731520" y="5230368"/>
            <a:ext cx="4754880" cy="548640"/>
          </a:xfrm>
          <a:prstGeom prst="rect">
            <a:avLst/>
          </a:prstGeom>
          <a:noFill/>
          <a:ln/>
        </p:spPr>
        <p:txBody>
          <a:bodyPr wrap="square" lIns="0" tIns="0" rIns="0" bIns="0" rtlCol="0" anchor="ctr"/>
          <a:lstStyle/>
          <a:p>
            <a:pPr indent="0" marL="0">
              <a:lnSpc>
                <a:spcPts val="1800"/>
              </a:lnSpc>
              <a:buNone/>
            </a:pPr>
            <a:r>
              <a:rPr lang="en-US" sz="1200" dirty="0">
                <a:solidFill>
                  <a:srgbClr val="B8C6D1"/>
                </a:solidFill>
                <a:latin typeface="Calibri" pitchFamily="34" charset="0"/>
                <a:ea typeface="Calibri" pitchFamily="34" charset="-122"/>
                <a:cs typeface="Calibri" pitchFamily="34" charset="-120"/>
              </a:rPr>
              <a:t>apps/backend/src/groups/groups.logic.ts — the type your</a:t>
            </a:r>
            <a:endParaRPr lang="en-US" sz="1200" dirty="0"/>
          </a:p>
          <a:p>
            <a:pPr indent="0" marL="0">
              <a:lnSpc>
                <a:spcPts val="1800"/>
              </a:lnSpc>
              <a:buNone/>
            </a:pPr>
            <a:r>
              <a:rPr lang="en-US" sz="1200" dirty="0">
                <a:solidFill>
                  <a:srgbClr val="B8C6D1"/>
                </a:solidFill>
                <a:latin typeface="Calibri" pitchFamily="34" charset="0"/>
                <a:ea typeface="Calibri" pitchFamily="34" charset="-122"/>
                <a:cs typeface="Calibri" pitchFamily="34" charset="-120"/>
              </a:rPr>
              <a:t>engineers can read in five minutes.</a:t>
            </a:r>
            <a:endParaRPr lang="en-US" sz="1200" dirty="0"/>
          </a:p>
        </p:txBody>
      </p:sp>
      <p:sp>
        <p:nvSpPr>
          <p:cNvPr id="9" name="Shape 7"/>
          <p:cNvSpPr/>
          <p:nvPr/>
        </p:nvSpPr>
        <p:spPr>
          <a:xfrm>
            <a:off x="5760720" y="2377440"/>
            <a:ext cx="5669280" cy="3566160"/>
          </a:xfrm>
          <a:prstGeom prst="roundRect">
            <a:avLst>
              <a:gd name="adj" fmla="val 2051"/>
            </a:avLst>
          </a:prstGeom>
          <a:solidFill>
            <a:srgbClr val="1B3A54"/>
          </a:solidFill>
          <a:ln w="12700">
            <a:solidFill>
              <a:srgbClr val="1B3A54"/>
            </a:solidFill>
            <a:prstDash val="solid"/>
          </a:ln>
          <a:effectLst>
            <a:outerShdw sx="100000" sy="100000" kx="0" ky="0" algn="bl" rotWithShape="0" blurRad="127000" dist="508" dir="5400000">
              <a:srgbClr val="9AA8B4">
                <a:alpha val="25000"/>
              </a:srgbClr>
            </a:outerShdw>
          </a:effectLst>
        </p:spPr>
      </p:sp>
      <p:sp>
        <p:nvSpPr>
          <p:cNvPr id="10" name="Text 8"/>
          <p:cNvSpPr txBox="1"/>
          <p:nvPr/>
        </p:nvSpPr>
        <p:spPr>
          <a:xfrm>
            <a:off x="6172200" y="2651760"/>
            <a:ext cx="4846320" cy="320040"/>
          </a:xfrm>
          <a:prstGeom prst="rect">
            <a:avLst/>
          </a:prstGeom>
          <a:noFill/>
          <a:ln/>
        </p:spPr>
        <p:txBody>
          <a:bodyPr wrap="square" lIns="0" tIns="0" rIns="0" bIns="0" rtlCol="0" anchor="ctr"/>
          <a:lstStyle/>
          <a:p>
            <a:pPr indent="0" marL="0">
              <a:buNone/>
            </a:pPr>
            <a:r>
              <a:rPr lang="en-US" sz="1500" b="1" dirty="0">
                <a:solidFill>
                  <a:srgbClr val="B7E436"/>
                </a:solidFill>
                <a:latin typeface="Arial" pitchFamily="34" charset="0"/>
                <a:ea typeface="Arial" pitchFamily="34" charset="-122"/>
                <a:cs typeface="Arial" pitchFamily="34" charset="-120"/>
              </a:rPr>
              <a:t>Why that answer holds</a:t>
            </a:r>
            <a:endParaRPr lang="en-US" sz="1500" dirty="0"/>
          </a:p>
        </p:txBody>
      </p:sp>
      <p:sp>
        <p:nvSpPr>
          <p:cNvPr id="11" name="Text 9"/>
          <p:cNvSpPr txBox="1"/>
          <p:nvPr/>
        </p:nvSpPr>
        <p:spPr>
          <a:xfrm>
            <a:off x="6217920" y="3154680"/>
            <a:ext cx="4754880" cy="2560320"/>
          </a:xfrm>
          <a:prstGeom prst="rect">
            <a:avLst/>
          </a:prstGeom>
          <a:noFill/>
          <a:ln/>
        </p:spPr>
        <p:txBody>
          <a:bodyPr wrap="square" lIns="0" tIns="0" rIns="0" bIns="0" rtlCol="0" anchor="t"/>
          <a:lstStyle/>
          <a:p>
            <a:pPr marL="342900" indent="-342900">
              <a:lnSpc>
                <a:spcPts val="1700"/>
              </a:lnSpc>
              <a:spcAft>
                <a:spcPts val="1200"/>
              </a:spcAft>
              <a:buSzPct val="100000"/>
              <a:buChar char="•"/>
            </a:pPr>
            <a:r>
              <a:rPr lang="en-US" sz="1200" dirty="0">
                <a:solidFill>
                  <a:srgbClr val="D6E2EA"/>
                </a:solidFill>
                <a:latin typeface="Calibri" pitchFamily="34" charset="0"/>
                <a:ea typeface="Calibri" pitchFamily="34" charset="-122"/>
                <a:cs typeface="Calibri" pitchFamily="34" charset="-120"/>
              </a:rPr>
              <a:t>The organisation report type has no field for a person. It carries a size, a participation percentage, an active count, a median and a suppression flag — so a client asking for a name does not compile.</a:t>
            </a:r>
            <a:endParaRPr lang="en-US" sz="1200" dirty="0"/>
          </a:p>
          <a:p>
            <a:pPr marL="342900" indent="-342900">
              <a:lnSpc>
                <a:spcPts val="1700"/>
              </a:lnSpc>
              <a:spcAft>
                <a:spcPts val="1200"/>
              </a:spcAft>
              <a:buSzPct val="100000"/>
              <a:buChar char="•"/>
            </a:pPr>
            <a:r>
              <a:rPr lang="en-US" sz="1200" dirty="0">
                <a:solidFill>
                  <a:srgbClr val="D6E2EA"/>
                </a:solidFill>
                <a:latin typeface="Calibri" pitchFamily="34" charset="0"/>
                <a:ea typeface="Calibri" pitchFamily="34" charset="-122"/>
                <a:cs typeface="Calibri" pitchFamily="34" charset="-120"/>
              </a:rPr>
              <a:t>A permission is a setting, and settings change when somebody senior asks. Because the capability was never built, adding one takes a schema change, a migration and a code review.</a:t>
            </a:r>
            <a:endParaRPr lang="en-US" sz="1200" dirty="0"/>
          </a:p>
          <a:p>
            <a:pPr marL="342900" indent="-342900">
              <a:lnSpc>
                <a:spcPts val="1700"/>
              </a:lnSpc>
              <a:buSzPct val="100000"/>
              <a:buChar char="•"/>
            </a:pPr>
            <a:r>
              <a:rPr lang="en-US" sz="1200" dirty="0">
                <a:solidFill>
                  <a:srgbClr val="D6E2EA"/>
                </a:solidFill>
                <a:latin typeface="Calibri" pitchFamily="34" charset="0"/>
                <a:ea typeface="Calibri" pitchFamily="34" charset="-122"/>
                <a:cs typeface="Calibri" pitchFamily="34" charset="-120"/>
              </a:rPr>
              <a:t>A cohort figure needs at least 8 contributing people. Below that the field is null, not a rounded stand-in.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690372"/>
            <a:ext cx="118872" cy="118872"/>
          </a:xfrm>
          <a:prstGeom prst="ellipse">
            <a:avLst/>
          </a:prstGeom>
          <a:solidFill>
            <a:srgbClr val="00A99D"/>
          </a:solidFill>
          <a:ln/>
        </p:spPr>
      </p:sp>
      <p:sp>
        <p:nvSpPr>
          <p:cNvPr id="3" name="Text 1"/>
          <p:cNvSpPr txBox="1"/>
          <p:nvPr/>
        </p:nvSpPr>
        <p:spPr>
          <a:xfrm>
            <a:off x="969264" y="640080"/>
            <a:ext cx="7315200" cy="274320"/>
          </a:xfrm>
          <a:prstGeom prst="rect">
            <a:avLst/>
          </a:prstGeom>
          <a:noFill/>
          <a:ln/>
        </p:spPr>
        <p:txBody>
          <a:bodyPr wrap="square" lIns="0" tIns="0" rIns="0" bIns="0" rtlCol="0" anchor="ctr"/>
          <a:lstStyle/>
          <a:p>
            <a:pPr indent="0" marL="0">
              <a:buNone/>
            </a:pPr>
            <a:r>
              <a:rPr lang="en-US" sz="1200" b="1" spc="200" kern="0" dirty="0">
                <a:solidFill>
                  <a:srgbClr val="00A99D"/>
                </a:solidFill>
                <a:latin typeface="Arial" pitchFamily="34" charset="0"/>
                <a:ea typeface="Arial" pitchFamily="34" charset="-122"/>
                <a:cs typeface="Arial" pitchFamily="34" charset="-120"/>
              </a:rPr>
              <a:t>NOBODY IS EXCLUDED BY DESIGN</a:t>
            </a:r>
            <a:endParaRPr lang="en-US" sz="1200" dirty="0"/>
          </a:p>
        </p:txBody>
      </p:sp>
      <p:sp>
        <p:nvSpPr>
          <p:cNvPr id="4" name="Text 2"/>
          <p:cNvSpPr txBox="1"/>
          <p:nvPr/>
        </p:nvSpPr>
        <p:spPr>
          <a:xfrm>
            <a:off x="731520" y="1051560"/>
            <a:ext cx="10698480" cy="1005840"/>
          </a:xfrm>
          <a:prstGeom prst="rect">
            <a:avLst/>
          </a:prstGeom>
          <a:noFill/>
          <a:ln/>
        </p:spPr>
        <p:txBody>
          <a:bodyPr wrap="square" lIns="0" tIns="0" rIns="0" bIns="0" rtlCol="0" anchor="ctr"/>
          <a:lstStyle/>
          <a:p>
            <a:pPr indent="0" marL="0">
              <a:buNone/>
            </a:pPr>
            <a:r>
              <a:rPr lang="en-US" sz="3800" b="1" dirty="0">
                <a:solidFill>
                  <a:srgbClr val="102A43"/>
                </a:solidFill>
                <a:latin typeface="Cambria" pitchFamily="34" charset="0"/>
                <a:ea typeface="Cambria" pitchFamily="34" charset="-122"/>
                <a:cs typeface="Cambria" pitchFamily="34" charset="-120"/>
              </a:rPr>
              <a:t>Five variants, or it does not ship.</a:t>
            </a:r>
            <a:endParaRPr lang="en-US" sz="3800" dirty="0"/>
          </a:p>
        </p:txBody>
      </p:sp>
      <p:sp>
        <p:nvSpPr>
          <p:cNvPr id="5" name="Text 3"/>
          <p:cNvSpPr txBox="1"/>
          <p:nvPr/>
        </p:nvSpPr>
        <p:spPr>
          <a:xfrm>
            <a:off x="731520" y="2103120"/>
            <a:ext cx="10698480" cy="914400"/>
          </a:xfrm>
          <a:prstGeom prst="rect">
            <a:avLst/>
          </a:prstGeom>
          <a:noFill/>
          <a:ln/>
        </p:spPr>
        <p:txBody>
          <a:bodyPr wrap="square" lIns="0" tIns="0" rIns="0" bIns="0" rtlCol="0" anchor="ctr"/>
          <a:lstStyle/>
          <a:p>
            <a:pPr indent="0" marL="0">
              <a:lnSpc>
                <a:spcPts val="2300"/>
              </a:lnSpc>
              <a:buNone/>
            </a:pPr>
            <a:r>
              <a:rPr lang="en-US" sz="1450" dirty="0">
                <a:solidFill>
                  <a:srgbClr val="475663"/>
                </a:solidFill>
                <a:latin typeface="Calibri" pitchFamily="34" charset="0"/>
                <a:ea typeface="Calibri" pitchFamily="34" charset="-122"/>
                <a:cs typeface="Calibri" pitchFamily="34" charset="-120"/>
              </a:rPr>
              <a:t>Every movement in the library exists as five independently authored variants. Not one version with things removed — a good seated movement uses the chair. The publishing gate refuses anything with fewer. There is no force-publish flag and no admin bypass.</a:t>
            </a:r>
            <a:endParaRPr lang="en-US" sz="1450" dirty="0"/>
          </a:p>
        </p:txBody>
      </p:sp>
      <p:sp>
        <p:nvSpPr>
          <p:cNvPr id="6" name="Shape 4"/>
          <p:cNvSpPr/>
          <p:nvPr/>
        </p:nvSpPr>
        <p:spPr>
          <a:xfrm>
            <a:off x="731520" y="3291840"/>
            <a:ext cx="1975104" cy="1371600"/>
          </a:xfrm>
          <a:prstGeom prst="roundRect">
            <a:avLst>
              <a:gd name="adj" fmla="val 5333"/>
            </a:avLst>
          </a:prstGeom>
          <a:solidFill>
            <a:srgbClr val="F4F7F9"/>
          </a:solidFill>
          <a:ln w="12700">
            <a:solidFill>
              <a:srgbClr val="F4F7F9"/>
            </a:solidFill>
            <a:prstDash val="solid"/>
          </a:ln>
          <a:effectLst>
            <a:outerShdw sx="100000" sy="100000" kx="0" ky="0" algn="bl" rotWithShape="0" blurRad="127000" dist="508" dir="5400000">
              <a:srgbClr val="9AA8B4">
                <a:alpha val="25000"/>
              </a:srgbClr>
            </a:outerShdw>
          </a:effectLst>
        </p:spPr>
      </p:sp>
      <p:sp>
        <p:nvSpPr>
          <p:cNvPr id="7" name="Text 5"/>
          <p:cNvSpPr txBox="1"/>
          <p:nvPr/>
        </p:nvSpPr>
        <p:spPr>
          <a:xfrm>
            <a:off x="1005840" y="3474720"/>
            <a:ext cx="457200" cy="411480"/>
          </a:xfrm>
          <a:prstGeom prst="rect">
            <a:avLst/>
          </a:prstGeom>
          <a:noFill/>
          <a:ln/>
        </p:spPr>
        <p:txBody>
          <a:bodyPr wrap="square" lIns="0" tIns="0" rIns="0" bIns="0" rtlCol="0" anchor="ctr"/>
          <a:lstStyle/>
          <a:p>
            <a:pPr indent="0" marL="0">
              <a:buNone/>
            </a:pPr>
            <a:r>
              <a:rPr lang="en-US" sz="2600" b="1" dirty="0">
                <a:solidFill>
                  <a:srgbClr val="00A99D"/>
                </a:solidFill>
                <a:latin typeface="Cambria" pitchFamily="34" charset="0"/>
                <a:ea typeface="Cambria" pitchFamily="34" charset="-122"/>
                <a:cs typeface="Cambria" pitchFamily="34" charset="-120"/>
              </a:rPr>
              <a:t>1</a:t>
            </a:r>
            <a:endParaRPr lang="en-US" sz="2600" dirty="0"/>
          </a:p>
        </p:txBody>
      </p:sp>
      <p:sp>
        <p:nvSpPr>
          <p:cNvPr id="8" name="Text 6"/>
          <p:cNvSpPr txBox="1"/>
          <p:nvPr/>
        </p:nvSpPr>
        <p:spPr>
          <a:xfrm>
            <a:off x="1005840" y="3950208"/>
            <a:ext cx="1426464" cy="594360"/>
          </a:xfrm>
          <a:prstGeom prst="rect">
            <a:avLst/>
          </a:prstGeom>
          <a:noFill/>
          <a:ln/>
        </p:spPr>
        <p:txBody>
          <a:bodyPr wrap="square" lIns="0" tIns="0" rIns="0" bIns="0" rtlCol="0" anchor="ctr"/>
          <a:lstStyle/>
          <a:p>
            <a:pPr indent="0" marL="0">
              <a:lnSpc>
                <a:spcPts val="1500"/>
              </a:lnSpc>
              <a:buNone/>
            </a:pPr>
            <a:r>
              <a:rPr lang="en-US" sz="1200" b="1" dirty="0">
                <a:solidFill>
                  <a:srgbClr val="102A43"/>
                </a:solidFill>
                <a:latin typeface="Arial" pitchFamily="34" charset="0"/>
                <a:ea typeface="Arial" pitchFamily="34" charset="-122"/>
                <a:cs typeface="Arial" pitchFamily="34" charset="-120"/>
              </a:rPr>
              <a:t>Standing</a:t>
            </a:r>
            <a:endParaRPr lang="en-US" sz="1200" dirty="0"/>
          </a:p>
        </p:txBody>
      </p:sp>
      <p:sp>
        <p:nvSpPr>
          <p:cNvPr id="9" name="Shape 7"/>
          <p:cNvSpPr/>
          <p:nvPr/>
        </p:nvSpPr>
        <p:spPr>
          <a:xfrm>
            <a:off x="2862072" y="3291840"/>
            <a:ext cx="1975104" cy="1371600"/>
          </a:xfrm>
          <a:prstGeom prst="roundRect">
            <a:avLst>
              <a:gd name="adj" fmla="val 5333"/>
            </a:avLst>
          </a:prstGeom>
          <a:solidFill>
            <a:srgbClr val="F4F7F9"/>
          </a:solidFill>
          <a:ln w="12700">
            <a:solidFill>
              <a:srgbClr val="F4F7F9"/>
            </a:solidFill>
            <a:prstDash val="solid"/>
          </a:ln>
          <a:effectLst>
            <a:outerShdw sx="100000" sy="100000" kx="0" ky="0" algn="bl" rotWithShape="0" blurRad="127000" dist="508" dir="5400000">
              <a:srgbClr val="9AA8B4">
                <a:alpha val="25000"/>
              </a:srgbClr>
            </a:outerShdw>
          </a:effectLst>
        </p:spPr>
      </p:sp>
      <p:sp>
        <p:nvSpPr>
          <p:cNvPr id="10" name="Text 8"/>
          <p:cNvSpPr txBox="1"/>
          <p:nvPr/>
        </p:nvSpPr>
        <p:spPr>
          <a:xfrm>
            <a:off x="3136392" y="3474720"/>
            <a:ext cx="457200" cy="411480"/>
          </a:xfrm>
          <a:prstGeom prst="rect">
            <a:avLst/>
          </a:prstGeom>
          <a:noFill/>
          <a:ln/>
        </p:spPr>
        <p:txBody>
          <a:bodyPr wrap="square" lIns="0" tIns="0" rIns="0" bIns="0" rtlCol="0" anchor="ctr"/>
          <a:lstStyle/>
          <a:p>
            <a:pPr indent="0" marL="0">
              <a:buNone/>
            </a:pPr>
            <a:r>
              <a:rPr lang="en-US" sz="2600" b="1" dirty="0">
                <a:solidFill>
                  <a:srgbClr val="00A99D"/>
                </a:solidFill>
                <a:latin typeface="Cambria" pitchFamily="34" charset="0"/>
                <a:ea typeface="Cambria" pitchFamily="34" charset="-122"/>
                <a:cs typeface="Cambria" pitchFamily="34" charset="-120"/>
              </a:rPr>
              <a:t>2</a:t>
            </a:r>
            <a:endParaRPr lang="en-US" sz="2600" dirty="0"/>
          </a:p>
        </p:txBody>
      </p:sp>
      <p:sp>
        <p:nvSpPr>
          <p:cNvPr id="11" name="Text 9"/>
          <p:cNvSpPr txBox="1"/>
          <p:nvPr/>
        </p:nvSpPr>
        <p:spPr>
          <a:xfrm>
            <a:off x="3136392" y="3950208"/>
            <a:ext cx="1426464" cy="594360"/>
          </a:xfrm>
          <a:prstGeom prst="rect">
            <a:avLst/>
          </a:prstGeom>
          <a:noFill/>
          <a:ln/>
        </p:spPr>
        <p:txBody>
          <a:bodyPr wrap="square" lIns="0" tIns="0" rIns="0" bIns="0" rtlCol="0" anchor="ctr"/>
          <a:lstStyle/>
          <a:p>
            <a:pPr indent="0" marL="0">
              <a:lnSpc>
                <a:spcPts val="1500"/>
              </a:lnSpc>
              <a:buNone/>
            </a:pPr>
            <a:r>
              <a:rPr lang="en-US" sz="1200" b="1" dirty="0">
                <a:solidFill>
                  <a:srgbClr val="102A43"/>
                </a:solidFill>
                <a:latin typeface="Arial" pitchFamily="34" charset="0"/>
                <a:ea typeface="Arial" pitchFamily="34" charset="-122"/>
                <a:cs typeface="Arial" pitchFamily="34" charset="-120"/>
              </a:rPr>
              <a:t>Seated</a:t>
            </a:r>
            <a:endParaRPr lang="en-US" sz="1200" dirty="0"/>
          </a:p>
        </p:txBody>
      </p:sp>
      <p:sp>
        <p:nvSpPr>
          <p:cNvPr id="12" name="Shape 10"/>
          <p:cNvSpPr/>
          <p:nvPr/>
        </p:nvSpPr>
        <p:spPr>
          <a:xfrm>
            <a:off x="4992624" y="3291840"/>
            <a:ext cx="1975104" cy="1371600"/>
          </a:xfrm>
          <a:prstGeom prst="roundRect">
            <a:avLst>
              <a:gd name="adj" fmla="val 5333"/>
            </a:avLst>
          </a:prstGeom>
          <a:solidFill>
            <a:srgbClr val="F4F7F9"/>
          </a:solidFill>
          <a:ln w="12700">
            <a:solidFill>
              <a:srgbClr val="F4F7F9"/>
            </a:solidFill>
            <a:prstDash val="solid"/>
          </a:ln>
          <a:effectLst>
            <a:outerShdw sx="100000" sy="100000" kx="0" ky="0" algn="bl" rotWithShape="0" blurRad="127000" dist="508" dir="5400000">
              <a:srgbClr val="9AA8B4">
                <a:alpha val="25000"/>
              </a:srgbClr>
            </a:outerShdw>
          </a:effectLst>
        </p:spPr>
      </p:sp>
      <p:sp>
        <p:nvSpPr>
          <p:cNvPr id="13" name="Text 11"/>
          <p:cNvSpPr txBox="1"/>
          <p:nvPr/>
        </p:nvSpPr>
        <p:spPr>
          <a:xfrm>
            <a:off x="5266944" y="3474720"/>
            <a:ext cx="457200" cy="411480"/>
          </a:xfrm>
          <a:prstGeom prst="rect">
            <a:avLst/>
          </a:prstGeom>
          <a:noFill/>
          <a:ln/>
        </p:spPr>
        <p:txBody>
          <a:bodyPr wrap="square" lIns="0" tIns="0" rIns="0" bIns="0" rtlCol="0" anchor="ctr"/>
          <a:lstStyle/>
          <a:p>
            <a:pPr indent="0" marL="0">
              <a:buNone/>
            </a:pPr>
            <a:r>
              <a:rPr lang="en-US" sz="2600" b="1" dirty="0">
                <a:solidFill>
                  <a:srgbClr val="00A99D"/>
                </a:solidFill>
                <a:latin typeface="Cambria" pitchFamily="34" charset="0"/>
                <a:ea typeface="Cambria" pitchFamily="34" charset="-122"/>
                <a:cs typeface="Cambria" pitchFamily="34" charset="-120"/>
              </a:rPr>
              <a:t>3</a:t>
            </a:r>
            <a:endParaRPr lang="en-US" sz="2600" dirty="0"/>
          </a:p>
        </p:txBody>
      </p:sp>
      <p:sp>
        <p:nvSpPr>
          <p:cNvPr id="14" name="Text 12"/>
          <p:cNvSpPr txBox="1"/>
          <p:nvPr/>
        </p:nvSpPr>
        <p:spPr>
          <a:xfrm>
            <a:off x="5266944" y="3950208"/>
            <a:ext cx="1426464" cy="594360"/>
          </a:xfrm>
          <a:prstGeom prst="rect">
            <a:avLst/>
          </a:prstGeom>
          <a:noFill/>
          <a:ln/>
        </p:spPr>
        <p:txBody>
          <a:bodyPr wrap="square" lIns="0" tIns="0" rIns="0" bIns="0" rtlCol="0" anchor="ctr"/>
          <a:lstStyle/>
          <a:p>
            <a:pPr indent="0" marL="0">
              <a:lnSpc>
                <a:spcPts val="1500"/>
              </a:lnSpc>
              <a:buNone/>
            </a:pPr>
            <a:r>
              <a:rPr lang="en-US" sz="1200" b="1" dirty="0">
                <a:solidFill>
                  <a:srgbClr val="102A43"/>
                </a:solidFill>
                <a:latin typeface="Arial" pitchFamily="34" charset="0"/>
                <a:ea typeface="Arial" pitchFamily="34" charset="-122"/>
                <a:cs typeface="Arial" pitchFamily="34" charset="-120"/>
              </a:rPr>
              <a:t>Chair-supported</a:t>
            </a:r>
            <a:endParaRPr lang="en-US" sz="1200" dirty="0"/>
          </a:p>
        </p:txBody>
      </p:sp>
      <p:sp>
        <p:nvSpPr>
          <p:cNvPr id="15" name="Shape 13"/>
          <p:cNvSpPr/>
          <p:nvPr/>
        </p:nvSpPr>
        <p:spPr>
          <a:xfrm>
            <a:off x="7123176" y="3291840"/>
            <a:ext cx="1975104" cy="1371600"/>
          </a:xfrm>
          <a:prstGeom prst="roundRect">
            <a:avLst>
              <a:gd name="adj" fmla="val 5333"/>
            </a:avLst>
          </a:prstGeom>
          <a:solidFill>
            <a:srgbClr val="F4F7F9"/>
          </a:solidFill>
          <a:ln w="12700">
            <a:solidFill>
              <a:srgbClr val="F4F7F9"/>
            </a:solidFill>
            <a:prstDash val="solid"/>
          </a:ln>
          <a:effectLst>
            <a:outerShdw sx="100000" sy="100000" kx="0" ky="0" algn="bl" rotWithShape="0" blurRad="127000" dist="508" dir="5400000">
              <a:srgbClr val="9AA8B4">
                <a:alpha val="25000"/>
              </a:srgbClr>
            </a:outerShdw>
          </a:effectLst>
        </p:spPr>
      </p:sp>
      <p:sp>
        <p:nvSpPr>
          <p:cNvPr id="16" name="Text 14"/>
          <p:cNvSpPr txBox="1"/>
          <p:nvPr/>
        </p:nvSpPr>
        <p:spPr>
          <a:xfrm>
            <a:off x="7397496" y="3474720"/>
            <a:ext cx="457200" cy="411480"/>
          </a:xfrm>
          <a:prstGeom prst="rect">
            <a:avLst/>
          </a:prstGeom>
          <a:noFill/>
          <a:ln/>
        </p:spPr>
        <p:txBody>
          <a:bodyPr wrap="square" lIns="0" tIns="0" rIns="0" bIns="0" rtlCol="0" anchor="ctr"/>
          <a:lstStyle/>
          <a:p>
            <a:pPr indent="0" marL="0">
              <a:buNone/>
            </a:pPr>
            <a:r>
              <a:rPr lang="en-US" sz="2600" b="1" dirty="0">
                <a:solidFill>
                  <a:srgbClr val="00A99D"/>
                </a:solidFill>
                <a:latin typeface="Cambria" pitchFamily="34" charset="0"/>
                <a:ea typeface="Cambria" pitchFamily="34" charset="-122"/>
                <a:cs typeface="Cambria" pitchFamily="34" charset="-120"/>
              </a:rPr>
              <a:t>4</a:t>
            </a:r>
            <a:endParaRPr lang="en-US" sz="2600" dirty="0"/>
          </a:p>
        </p:txBody>
      </p:sp>
      <p:sp>
        <p:nvSpPr>
          <p:cNvPr id="17" name="Text 15"/>
          <p:cNvSpPr txBox="1"/>
          <p:nvPr/>
        </p:nvSpPr>
        <p:spPr>
          <a:xfrm>
            <a:off x="7397496" y="3950208"/>
            <a:ext cx="1426464" cy="594360"/>
          </a:xfrm>
          <a:prstGeom prst="rect">
            <a:avLst/>
          </a:prstGeom>
          <a:noFill/>
          <a:ln/>
        </p:spPr>
        <p:txBody>
          <a:bodyPr wrap="square" lIns="0" tIns="0" rIns="0" bIns="0" rtlCol="0" anchor="ctr"/>
          <a:lstStyle/>
          <a:p>
            <a:pPr indent="0" marL="0">
              <a:lnSpc>
                <a:spcPts val="1500"/>
              </a:lnSpc>
              <a:buNone/>
            </a:pPr>
            <a:r>
              <a:rPr lang="en-US" sz="1200" b="1" dirty="0">
                <a:solidFill>
                  <a:srgbClr val="102A43"/>
                </a:solidFill>
                <a:latin typeface="Arial" pitchFamily="34" charset="0"/>
                <a:ea typeface="Arial" pitchFamily="34" charset="-122"/>
                <a:cs typeface="Arial" pitchFamily="34" charset="-120"/>
              </a:rPr>
              <a:t>Bed / Recliner</a:t>
            </a:r>
            <a:endParaRPr lang="en-US" sz="1200" dirty="0"/>
          </a:p>
        </p:txBody>
      </p:sp>
      <p:sp>
        <p:nvSpPr>
          <p:cNvPr id="18" name="Shape 16"/>
          <p:cNvSpPr/>
          <p:nvPr/>
        </p:nvSpPr>
        <p:spPr>
          <a:xfrm>
            <a:off x="9253728" y="3291840"/>
            <a:ext cx="1975104" cy="1371600"/>
          </a:xfrm>
          <a:prstGeom prst="roundRect">
            <a:avLst>
              <a:gd name="adj" fmla="val 5333"/>
            </a:avLst>
          </a:prstGeom>
          <a:solidFill>
            <a:srgbClr val="F4F7F9"/>
          </a:solidFill>
          <a:ln w="12700">
            <a:solidFill>
              <a:srgbClr val="F4F7F9"/>
            </a:solidFill>
            <a:prstDash val="solid"/>
          </a:ln>
          <a:effectLst>
            <a:outerShdw sx="100000" sy="100000" kx="0" ky="0" algn="bl" rotWithShape="0" blurRad="127000" dist="508" dir="5400000">
              <a:srgbClr val="9AA8B4">
                <a:alpha val="25000"/>
              </a:srgbClr>
            </a:outerShdw>
          </a:effectLst>
        </p:spPr>
      </p:sp>
      <p:sp>
        <p:nvSpPr>
          <p:cNvPr id="19" name="Text 17"/>
          <p:cNvSpPr txBox="1"/>
          <p:nvPr/>
        </p:nvSpPr>
        <p:spPr>
          <a:xfrm>
            <a:off x="9528048" y="3474720"/>
            <a:ext cx="457200" cy="411480"/>
          </a:xfrm>
          <a:prstGeom prst="rect">
            <a:avLst/>
          </a:prstGeom>
          <a:noFill/>
          <a:ln/>
        </p:spPr>
        <p:txBody>
          <a:bodyPr wrap="square" lIns="0" tIns="0" rIns="0" bIns="0" rtlCol="0" anchor="ctr"/>
          <a:lstStyle/>
          <a:p>
            <a:pPr indent="0" marL="0">
              <a:buNone/>
            </a:pPr>
            <a:r>
              <a:rPr lang="en-US" sz="2600" b="1" dirty="0">
                <a:solidFill>
                  <a:srgbClr val="00A99D"/>
                </a:solidFill>
                <a:latin typeface="Cambria" pitchFamily="34" charset="0"/>
                <a:ea typeface="Cambria" pitchFamily="34" charset="-122"/>
                <a:cs typeface="Cambria" pitchFamily="34" charset="-120"/>
              </a:rPr>
              <a:t>5</a:t>
            </a:r>
            <a:endParaRPr lang="en-US" sz="2600" dirty="0"/>
          </a:p>
        </p:txBody>
      </p:sp>
      <p:sp>
        <p:nvSpPr>
          <p:cNvPr id="20" name="Text 18"/>
          <p:cNvSpPr txBox="1"/>
          <p:nvPr/>
        </p:nvSpPr>
        <p:spPr>
          <a:xfrm>
            <a:off x="9528048" y="3950208"/>
            <a:ext cx="1426464" cy="594360"/>
          </a:xfrm>
          <a:prstGeom prst="rect">
            <a:avLst/>
          </a:prstGeom>
          <a:noFill/>
          <a:ln/>
        </p:spPr>
        <p:txBody>
          <a:bodyPr wrap="square" lIns="0" tIns="0" rIns="0" bIns="0" rtlCol="0" anchor="ctr"/>
          <a:lstStyle/>
          <a:p>
            <a:pPr indent="0" marL="0">
              <a:lnSpc>
                <a:spcPts val="1500"/>
              </a:lnSpc>
              <a:buNone/>
            </a:pPr>
            <a:r>
              <a:rPr lang="en-US" sz="1200" b="1" dirty="0">
                <a:solidFill>
                  <a:srgbClr val="102A43"/>
                </a:solidFill>
                <a:latin typeface="Arial" pitchFamily="34" charset="0"/>
                <a:ea typeface="Arial" pitchFamily="34" charset="-122"/>
                <a:cs typeface="Arial" pitchFamily="34" charset="-120"/>
              </a:rPr>
              <a:t>Single-limb /</a:t>
            </a:r>
            <a:endParaRPr lang="en-US" sz="1200" dirty="0"/>
          </a:p>
          <a:p>
            <a:pPr indent="0" marL="0">
              <a:lnSpc>
                <a:spcPts val="1500"/>
              </a:lnSpc>
              <a:buNone/>
            </a:pPr>
            <a:r>
              <a:rPr lang="en-US" sz="1200" b="1" dirty="0">
                <a:solidFill>
                  <a:srgbClr val="102A43"/>
                </a:solidFill>
                <a:latin typeface="Arial" pitchFamily="34" charset="0"/>
                <a:ea typeface="Arial" pitchFamily="34" charset="-122"/>
                <a:cs typeface="Arial" pitchFamily="34" charset="-120"/>
              </a:rPr>
              <a:t>Adaptive</a:t>
            </a:r>
            <a:endParaRPr lang="en-US" sz="1200" dirty="0"/>
          </a:p>
        </p:txBody>
      </p:sp>
      <p:sp>
        <p:nvSpPr>
          <p:cNvPr id="21" name="Shape 19"/>
          <p:cNvSpPr/>
          <p:nvPr/>
        </p:nvSpPr>
        <p:spPr>
          <a:xfrm>
            <a:off x="731520" y="4937760"/>
            <a:ext cx="10698480" cy="1051560"/>
          </a:xfrm>
          <a:prstGeom prst="roundRect">
            <a:avLst>
              <a:gd name="adj" fmla="val 6957"/>
            </a:avLst>
          </a:prstGeom>
          <a:solidFill>
            <a:srgbClr val="102A43"/>
          </a:solidFill>
          <a:ln w="12700">
            <a:solidFill>
              <a:srgbClr val="102A43"/>
            </a:solidFill>
            <a:prstDash val="solid"/>
          </a:ln>
          <a:effectLst>
            <a:outerShdw sx="100000" sy="100000" kx="0" ky="0" algn="bl" rotWithShape="0" blurRad="127000" dist="508" dir="5400000">
              <a:srgbClr val="9AA8B4">
                <a:alpha val="25000"/>
              </a:srgbClr>
            </a:outerShdw>
          </a:effectLst>
        </p:spPr>
      </p:sp>
      <p:sp>
        <p:nvSpPr>
          <p:cNvPr id="22" name="Text 20"/>
          <p:cNvSpPr txBox="1"/>
          <p:nvPr/>
        </p:nvSpPr>
        <p:spPr>
          <a:xfrm>
            <a:off x="1097280" y="5120640"/>
            <a:ext cx="9966960" cy="731520"/>
          </a:xfrm>
          <a:prstGeom prst="rect">
            <a:avLst/>
          </a:prstGeom>
          <a:noFill/>
          <a:ln/>
        </p:spPr>
        <p:txBody>
          <a:bodyPr wrap="square" lIns="0" tIns="0" rIns="0" bIns="0" rtlCol="0" anchor="ctr"/>
          <a:lstStyle/>
          <a:p>
            <a:pPr indent="0" marL="0">
              <a:lnSpc>
                <a:spcPts val="1900"/>
              </a:lnSpc>
              <a:buNone/>
            </a:pPr>
            <a:r>
              <a:rPr lang="en-US" sz="1300" dirty="0">
                <a:solidFill>
                  <a:srgbClr val="FFFFFF"/>
                </a:solidFill>
                <a:latin typeface="Calibri" pitchFamily="34" charset="0"/>
                <a:ea typeface="Calibri" pitchFamily="34" charset="-122"/>
                <a:cs typeface="Calibri" pitchFamily="34" charset="-120"/>
              </a:rPr>
              <a:t>Four of the six age bands are working age — 18–39, 40–64 and 65–79, plus apprentices under 18. The band is derived, not chosen, and it changes the mechanics, the daily prompt cap and the clinical guardrails. It is not one programme with the age swapped.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690372"/>
            <a:ext cx="118872" cy="118872"/>
          </a:xfrm>
          <a:prstGeom prst="ellipse">
            <a:avLst/>
          </a:prstGeom>
          <a:solidFill>
            <a:srgbClr val="00A99D"/>
          </a:solidFill>
          <a:ln/>
        </p:spPr>
      </p:sp>
      <p:sp>
        <p:nvSpPr>
          <p:cNvPr id="3" name="Text 1"/>
          <p:cNvSpPr txBox="1"/>
          <p:nvPr/>
        </p:nvSpPr>
        <p:spPr>
          <a:xfrm>
            <a:off x="969264" y="640080"/>
            <a:ext cx="7315200" cy="274320"/>
          </a:xfrm>
          <a:prstGeom prst="rect">
            <a:avLst/>
          </a:prstGeom>
          <a:noFill/>
          <a:ln/>
        </p:spPr>
        <p:txBody>
          <a:bodyPr wrap="square" lIns="0" tIns="0" rIns="0" bIns="0" rtlCol="0" anchor="ctr"/>
          <a:lstStyle/>
          <a:p>
            <a:pPr indent="0" marL="0">
              <a:buNone/>
            </a:pPr>
            <a:r>
              <a:rPr lang="en-US" sz="1200" b="1" spc="200" kern="0" dirty="0">
                <a:solidFill>
                  <a:srgbClr val="00A99D"/>
                </a:solidFill>
                <a:latin typeface="Arial" pitchFamily="34" charset="0"/>
                <a:ea typeface="Arial" pitchFamily="34" charset="-122"/>
                <a:cs typeface="Arial" pitchFamily="34" charset="-120"/>
              </a:rPr>
              <a:t>WHY ENGAGEMENT DOES NOT DECAY</a:t>
            </a:r>
            <a:endParaRPr lang="en-US" sz="1200" dirty="0"/>
          </a:p>
        </p:txBody>
      </p:sp>
      <p:sp>
        <p:nvSpPr>
          <p:cNvPr id="4" name="Text 2"/>
          <p:cNvSpPr txBox="1"/>
          <p:nvPr/>
        </p:nvSpPr>
        <p:spPr>
          <a:xfrm>
            <a:off x="731520" y="1051560"/>
            <a:ext cx="10698480" cy="1005840"/>
          </a:xfrm>
          <a:prstGeom prst="rect">
            <a:avLst/>
          </a:prstGeom>
          <a:noFill/>
          <a:ln/>
        </p:spPr>
        <p:txBody>
          <a:bodyPr wrap="square" lIns="0" tIns="0" rIns="0" bIns="0" rtlCol="0" anchor="ctr"/>
          <a:lstStyle/>
          <a:p>
            <a:pPr indent="0" marL="0">
              <a:buNone/>
            </a:pPr>
            <a:r>
              <a:rPr lang="en-US" sz="3800" b="1" dirty="0">
                <a:solidFill>
                  <a:srgbClr val="102A43"/>
                </a:solidFill>
                <a:latin typeface="Cambria" pitchFamily="34" charset="0"/>
                <a:ea typeface="Cambria" pitchFamily="34" charset="-122"/>
                <a:cs typeface="Cambria" pitchFamily="34" charset="-120"/>
              </a:rPr>
              <a:t>It decides when to say nothing.</a:t>
            </a:r>
            <a:endParaRPr lang="en-US" sz="3800" dirty="0"/>
          </a:p>
        </p:txBody>
      </p:sp>
      <p:sp>
        <p:nvSpPr>
          <p:cNvPr id="5" name="Text 3"/>
          <p:cNvSpPr txBox="1"/>
          <p:nvPr/>
        </p:nvSpPr>
        <p:spPr>
          <a:xfrm>
            <a:off x="731520" y="2103120"/>
            <a:ext cx="5669280" cy="1554480"/>
          </a:xfrm>
          <a:prstGeom prst="rect">
            <a:avLst/>
          </a:prstGeom>
          <a:noFill/>
          <a:ln/>
        </p:spPr>
        <p:txBody>
          <a:bodyPr wrap="square" lIns="0" tIns="0" rIns="0" bIns="0" rtlCol="0" anchor="ctr"/>
          <a:lstStyle/>
          <a:p>
            <a:pPr indent="0" marL="0">
              <a:lnSpc>
                <a:spcPts val="2300"/>
              </a:lnSpc>
              <a:buNone/>
            </a:pPr>
            <a:r>
              <a:rPr lang="en-US" sz="1450" dirty="0">
                <a:solidFill>
                  <a:srgbClr val="475663"/>
                </a:solidFill>
                <a:latin typeface="Calibri" pitchFamily="34" charset="0"/>
                <a:ea typeface="Calibri" pitchFamily="34" charset="-122"/>
                <a:cs typeface="Calibri" pitchFamily="34" charset="-120"/>
              </a:rPr>
              <a:t>A reminder delivered while somebody is driving is not a neutral event. It costs attention, then trust, and eventually the notification is switched off — at which point the programme is finished however good the recommendation was. So a block is recorded as a successful decision, not a failed delivery.</a:t>
            </a:r>
            <a:endParaRPr lang="en-US" sz="1450" dirty="0"/>
          </a:p>
        </p:txBody>
      </p:sp>
      <p:sp>
        <p:nvSpPr>
          <p:cNvPr id="6" name="Text 4"/>
          <p:cNvSpPr txBox="1"/>
          <p:nvPr/>
        </p:nvSpPr>
        <p:spPr>
          <a:xfrm>
            <a:off x="731520" y="3794760"/>
            <a:ext cx="5486400" cy="365760"/>
          </a:xfrm>
          <a:prstGeom prst="rect">
            <a:avLst/>
          </a:prstGeom>
          <a:noFill/>
          <a:ln/>
        </p:spPr>
        <p:txBody>
          <a:bodyPr wrap="square" lIns="0" tIns="0" rIns="0" bIns="0" rtlCol="0" anchor="ctr"/>
          <a:lstStyle/>
          <a:p>
            <a:pPr indent="0" marL="0">
              <a:buNone/>
            </a:pPr>
            <a:r>
              <a:rPr lang="en-US" sz="1500" b="1" dirty="0">
                <a:solidFill>
                  <a:srgbClr val="102A43"/>
                </a:solidFill>
                <a:latin typeface="Arial" pitchFamily="34" charset="0"/>
                <a:ea typeface="Arial" pitchFamily="34" charset="-122"/>
                <a:cs typeface="Arial" pitchFamily="34" charset="-120"/>
              </a:rPr>
              <a:t>What silences a prompt</a:t>
            </a:r>
            <a:endParaRPr lang="en-US" sz="1500" dirty="0"/>
          </a:p>
        </p:txBody>
      </p:sp>
      <p:sp>
        <p:nvSpPr>
          <p:cNvPr id="7" name="Text 5"/>
          <p:cNvSpPr txBox="1"/>
          <p:nvPr/>
        </p:nvSpPr>
        <p:spPr>
          <a:xfrm>
            <a:off x="731520" y="4206240"/>
            <a:ext cx="5577840" cy="17830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475663"/>
                </a:solidFill>
                <a:latin typeface="Calibri" pitchFamily="34" charset="0"/>
                <a:ea typeface="Calibri" pitchFamily="34" charset="-122"/>
                <a:cs typeface="Calibri" pitchFamily="34" charset="-120"/>
              </a:rPr>
              <a:t>Driving, from motion state rather than location</a:t>
            </a:r>
            <a:endParaRPr lang="en-US" sz="1300" dirty="0"/>
          </a:p>
          <a:p>
            <a:pPr marL="342900" indent="-342900">
              <a:spcAft>
                <a:spcPts val="600"/>
              </a:spcAft>
              <a:buSzPct val="100000"/>
              <a:buChar char="•"/>
            </a:pPr>
            <a:r>
              <a:rPr lang="en-US" sz="1300" dirty="0">
                <a:solidFill>
                  <a:srgbClr val="475663"/>
                </a:solidFill>
                <a:latin typeface="Calibri" pitchFamily="34" charset="0"/>
                <a:ea typeface="Calibri" pitchFamily="34" charset="-122"/>
                <a:cs typeface="Calibri" pitchFamily="34" charset="-120"/>
              </a:rPr>
              <a:t>On a call, in a lesson, or notifications turned off</a:t>
            </a:r>
            <a:endParaRPr lang="en-US" sz="1300" dirty="0"/>
          </a:p>
          <a:p>
            <a:pPr marL="342900" indent="-342900">
              <a:spcAft>
                <a:spcPts val="600"/>
              </a:spcAft>
              <a:buSzPct val="100000"/>
              <a:buChar char="•"/>
            </a:pPr>
            <a:r>
              <a:rPr lang="en-US" sz="1300" dirty="0">
                <a:solidFill>
                  <a:srgbClr val="475663"/>
                </a:solidFill>
                <a:latin typeface="Calibri" pitchFamily="34" charset="0"/>
                <a:ea typeface="Calibri" pitchFamily="34" charset="-122"/>
                <a:cs typeface="Calibri" pitchFamily="34" charset="-120"/>
              </a:rPr>
              <a:t>The daily cap, which differs by age mode</a:t>
            </a:r>
            <a:endParaRPr lang="en-US" sz="1300" dirty="0"/>
          </a:p>
          <a:p>
            <a:pPr marL="342900" indent="-342900">
              <a:spcAft>
                <a:spcPts val="600"/>
              </a:spcAft>
              <a:buSzPct val="100000"/>
              <a:buChar char="•"/>
            </a:pPr>
            <a:r>
              <a:rPr lang="en-US" sz="1300" dirty="0">
                <a:solidFill>
                  <a:srgbClr val="475663"/>
                </a:solidFill>
                <a:latin typeface="Calibri" pitchFamily="34" charset="0"/>
                <a:ea typeface="Calibri" pitchFamily="34" charset="-122"/>
                <a:cs typeface="Calibri" pitchFamily="34" charset="-120"/>
              </a:rPr>
              <a:t>Quiet hours, the sleep window, or an active cooldown</a:t>
            </a:r>
            <a:endParaRPr lang="en-US" sz="1300" dirty="0"/>
          </a:p>
          <a:p>
            <a:pPr marL="342900" indent="-342900">
              <a:buSzPct val="100000"/>
              <a:buChar char="•"/>
            </a:pPr>
            <a:r>
              <a:rPr lang="en-US" sz="1300" dirty="0">
                <a:solidFill>
                  <a:srgbClr val="475663"/>
                </a:solidFill>
                <a:latin typeface="Calibri" pitchFamily="34" charset="0"/>
                <a:ea typeface="Calibri" pitchFamily="34" charset="-122"/>
                <a:cs typeface="Calibri" pitchFamily="34" charset="-120"/>
              </a:rPr>
              <a:t>A clinical rest flag, a safeguarding hold or a bereavement hold</a:t>
            </a:r>
            <a:endParaRPr lang="en-US" sz="1300" dirty="0"/>
          </a:p>
        </p:txBody>
      </p:sp>
      <p:sp>
        <p:nvSpPr>
          <p:cNvPr id="8" name="Shape 6"/>
          <p:cNvSpPr/>
          <p:nvPr/>
        </p:nvSpPr>
        <p:spPr>
          <a:xfrm>
            <a:off x="6675120" y="2103120"/>
            <a:ext cx="4754880" cy="3657600"/>
          </a:xfrm>
          <a:prstGeom prst="roundRect">
            <a:avLst>
              <a:gd name="adj" fmla="val 2000"/>
            </a:avLst>
          </a:prstGeom>
          <a:solidFill>
            <a:srgbClr val="102A43"/>
          </a:solidFill>
          <a:ln w="12700">
            <a:solidFill>
              <a:srgbClr val="102A43"/>
            </a:solidFill>
            <a:prstDash val="solid"/>
          </a:ln>
          <a:effectLst>
            <a:outerShdw sx="100000" sy="100000" kx="0" ky="0" algn="bl" rotWithShape="0" blurRad="127000" dist="508" dir="5400000">
              <a:srgbClr val="9AA8B4">
                <a:alpha val="25000"/>
              </a:srgbClr>
            </a:outerShdw>
          </a:effectLst>
        </p:spPr>
      </p:sp>
      <p:sp>
        <p:nvSpPr>
          <p:cNvPr id="9" name="Text 7"/>
          <p:cNvSpPr txBox="1"/>
          <p:nvPr/>
        </p:nvSpPr>
        <p:spPr>
          <a:xfrm>
            <a:off x="7040880" y="2423160"/>
            <a:ext cx="4114800" cy="822960"/>
          </a:xfrm>
          <a:prstGeom prst="rect">
            <a:avLst/>
          </a:prstGeom>
          <a:noFill/>
          <a:ln/>
        </p:spPr>
        <p:txBody>
          <a:bodyPr wrap="square" lIns="0" tIns="0" rIns="0" bIns="0" rtlCol="0" anchor="ctr"/>
          <a:lstStyle/>
          <a:p>
            <a:pPr indent="0" marL="0">
              <a:lnSpc>
                <a:spcPts val="2600"/>
              </a:lnSpc>
              <a:buNone/>
            </a:pPr>
            <a:r>
              <a:rPr lang="en-US" sz="2000" b="1" dirty="0">
                <a:solidFill>
                  <a:srgbClr val="FFFFFF"/>
                </a:solidFill>
                <a:latin typeface="Cambria" pitchFamily="34" charset="0"/>
                <a:ea typeface="Cambria" pitchFamily="34" charset="-122"/>
                <a:cs typeface="Cambria" pitchFamily="34" charset="-120"/>
              </a:rPr>
              <a:t>The calendar, read</a:t>
            </a:r>
            <a:endParaRPr lang="en-US" sz="2000" dirty="0"/>
          </a:p>
          <a:p>
            <a:pPr indent="0" marL="0">
              <a:lnSpc>
                <a:spcPts val="2600"/>
              </a:lnSpc>
              <a:buNone/>
            </a:pPr>
            <a:r>
              <a:rPr lang="en-US" sz="2000" b="1" dirty="0">
                <a:solidFill>
                  <a:srgbClr val="FFFFFF"/>
                </a:solidFill>
                <a:latin typeface="Cambria" pitchFamily="34" charset="0"/>
                <a:ea typeface="Cambria" pitchFamily="34" charset="-122"/>
                <a:cs typeface="Cambria" pitchFamily="34" charset="-120"/>
              </a:rPr>
              <a:t>without being read</a:t>
            </a:r>
            <a:endParaRPr lang="en-US" sz="2000" dirty="0"/>
          </a:p>
        </p:txBody>
      </p:sp>
      <p:sp>
        <p:nvSpPr>
          <p:cNvPr id="10" name="Text 8"/>
          <p:cNvSpPr txBox="1"/>
          <p:nvPr/>
        </p:nvSpPr>
        <p:spPr>
          <a:xfrm>
            <a:off x="7040880" y="3383280"/>
            <a:ext cx="4023360" cy="731520"/>
          </a:xfrm>
          <a:prstGeom prst="rect">
            <a:avLst/>
          </a:prstGeom>
          <a:noFill/>
          <a:ln/>
        </p:spPr>
        <p:txBody>
          <a:bodyPr wrap="square" lIns="0" tIns="0" rIns="0" bIns="0" rtlCol="0" anchor="ctr"/>
          <a:lstStyle/>
          <a:p>
            <a:pPr indent="0" marL="0">
              <a:lnSpc>
                <a:spcPts val="1900"/>
              </a:lnSpc>
              <a:buNone/>
            </a:pPr>
            <a:r>
              <a:rPr lang="en-US" sz="1300" dirty="0">
                <a:solidFill>
                  <a:srgbClr val="D6E2EA"/>
                </a:solidFill>
                <a:latin typeface="Calibri" pitchFamily="34" charset="0"/>
                <a:ea typeface="Calibri" pitchFamily="34" charset="-122"/>
                <a:cs typeface="Calibri" pitchFamily="34" charset="-120"/>
              </a:rPr>
              <a:t>Start time, end time, busy or free, attendee count, whether it recurs.</a:t>
            </a:r>
            <a:endParaRPr lang="en-US" sz="1300" dirty="0"/>
          </a:p>
        </p:txBody>
      </p:sp>
      <p:sp>
        <p:nvSpPr>
          <p:cNvPr id="11" name="Text 9"/>
          <p:cNvSpPr txBox="1"/>
          <p:nvPr/>
        </p:nvSpPr>
        <p:spPr>
          <a:xfrm>
            <a:off x="7040880" y="4160520"/>
            <a:ext cx="4023360" cy="1371600"/>
          </a:xfrm>
          <a:prstGeom prst="rect">
            <a:avLst/>
          </a:prstGeom>
          <a:noFill/>
          <a:ln/>
        </p:spPr>
        <p:txBody>
          <a:bodyPr wrap="square" lIns="0" tIns="0" rIns="0" bIns="0" rtlCol="0" anchor="ctr"/>
          <a:lstStyle/>
          <a:p>
            <a:pPr indent="0" marL="0">
              <a:lnSpc>
                <a:spcPts val="1900"/>
              </a:lnSpc>
              <a:buNone/>
            </a:pPr>
            <a:r>
              <a:rPr lang="en-US" sz="1250" i="1" dirty="0">
                <a:solidFill>
                  <a:srgbClr val="B7E436"/>
                </a:solidFill>
                <a:latin typeface="Calibri" pitchFamily="34" charset="0"/>
                <a:ea typeface="Calibri" pitchFamily="34" charset="-122"/>
                <a:cs typeface="Calibri" pitchFamily="34" charset="-120"/>
              </a:rPr>
              <a:t>The title is never transmitted, never logged and never sent to a model. It costs us accuracy — a one-to-one and a board review look identical to us — and we accept the worse recommendation.</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690372"/>
            <a:ext cx="118872" cy="118872"/>
          </a:xfrm>
          <a:prstGeom prst="ellipse">
            <a:avLst/>
          </a:prstGeom>
          <a:solidFill>
            <a:srgbClr val="00A99D"/>
          </a:solidFill>
          <a:ln/>
        </p:spPr>
      </p:sp>
      <p:sp>
        <p:nvSpPr>
          <p:cNvPr id="3" name="Text 1"/>
          <p:cNvSpPr txBox="1"/>
          <p:nvPr/>
        </p:nvSpPr>
        <p:spPr>
          <a:xfrm>
            <a:off x="969264" y="640080"/>
            <a:ext cx="7315200" cy="274320"/>
          </a:xfrm>
          <a:prstGeom prst="rect">
            <a:avLst/>
          </a:prstGeom>
          <a:noFill/>
          <a:ln/>
        </p:spPr>
        <p:txBody>
          <a:bodyPr wrap="square" lIns="0" tIns="0" rIns="0" bIns="0" rtlCol="0" anchor="ctr"/>
          <a:lstStyle/>
          <a:p>
            <a:pPr indent="0" marL="0">
              <a:buNone/>
            </a:pPr>
            <a:r>
              <a:rPr lang="en-US" sz="1200" b="1" spc="200" kern="0" dirty="0">
                <a:solidFill>
                  <a:srgbClr val="00A99D"/>
                </a:solidFill>
                <a:latin typeface="Arial" pitchFamily="34" charset="0"/>
                <a:ea typeface="Arial" pitchFamily="34" charset="-122"/>
                <a:cs typeface="Arial" pitchFamily="34" charset="-120"/>
              </a:rPr>
              <a:t>WHAT YOU ACTUALLY RECEIVE</a:t>
            </a:r>
            <a:endParaRPr lang="en-US" sz="1200" dirty="0"/>
          </a:p>
        </p:txBody>
      </p:sp>
      <p:sp>
        <p:nvSpPr>
          <p:cNvPr id="4" name="Text 2"/>
          <p:cNvSpPr txBox="1"/>
          <p:nvPr/>
        </p:nvSpPr>
        <p:spPr>
          <a:xfrm>
            <a:off x="731520" y="1051560"/>
            <a:ext cx="10698480" cy="1005840"/>
          </a:xfrm>
          <a:prstGeom prst="rect">
            <a:avLst/>
          </a:prstGeom>
          <a:noFill/>
          <a:ln/>
        </p:spPr>
        <p:txBody>
          <a:bodyPr wrap="square" lIns="0" tIns="0" rIns="0" bIns="0" rtlCol="0" anchor="ctr"/>
          <a:lstStyle/>
          <a:p>
            <a:pPr indent="0" marL="0">
              <a:buNone/>
            </a:pPr>
            <a:r>
              <a:rPr lang="en-US" sz="3400" b="1" dirty="0">
                <a:solidFill>
                  <a:srgbClr val="102A43"/>
                </a:solidFill>
                <a:latin typeface="Cambria" pitchFamily="34" charset="0"/>
                <a:ea typeface="Cambria" pitchFamily="34" charset="-122"/>
                <a:cs typeface="Cambria" pitchFamily="34" charset="-120"/>
              </a:rPr>
              <a:t>Enough to run a programme.</a:t>
            </a:r>
            <a:endParaRPr lang="en-US" sz="3400" dirty="0"/>
          </a:p>
          <a:p>
            <a:pPr indent="0" marL="0">
              <a:buNone/>
            </a:pPr>
            <a:r>
              <a:rPr lang="en-US" sz="3400" b="1" dirty="0">
                <a:solidFill>
                  <a:srgbClr val="102A43"/>
                </a:solidFill>
                <a:latin typeface="Cambria" pitchFamily="34" charset="0"/>
                <a:ea typeface="Cambria" pitchFamily="34" charset="-122"/>
                <a:cs typeface="Cambria" pitchFamily="34" charset="-120"/>
              </a:rPr>
              <a:t>Not enough to manage a person.</a:t>
            </a:r>
            <a:endParaRPr lang="en-US" sz="3400" dirty="0"/>
          </a:p>
        </p:txBody>
      </p:sp>
      <p:sp>
        <p:nvSpPr>
          <p:cNvPr id="5" name="Text 3"/>
          <p:cNvSpPr txBox="1"/>
          <p:nvPr/>
        </p:nvSpPr>
        <p:spPr>
          <a:xfrm>
            <a:off x="731520" y="2468880"/>
            <a:ext cx="5166360" cy="274320"/>
          </a:xfrm>
          <a:prstGeom prst="rect">
            <a:avLst/>
          </a:prstGeom>
          <a:noFill/>
          <a:ln/>
        </p:spPr>
        <p:txBody>
          <a:bodyPr wrap="square" lIns="0" tIns="0" rIns="0" bIns="0" rtlCol="0" anchor="ctr"/>
          <a:lstStyle/>
          <a:p>
            <a:pPr indent="0" marL="0">
              <a:buNone/>
            </a:pPr>
            <a:r>
              <a:rPr lang="en-US" sz="1200" b="1" spc="200" kern="0" dirty="0">
                <a:solidFill>
                  <a:srgbClr val="00A99D"/>
                </a:solidFill>
                <a:latin typeface="Arial" pitchFamily="34" charset="0"/>
                <a:ea typeface="Arial" pitchFamily="34" charset="-122"/>
                <a:cs typeface="Arial" pitchFamily="34" charset="-120"/>
              </a:rPr>
              <a:t>Today</a:t>
            </a:r>
            <a:endParaRPr lang="en-US" sz="1200" dirty="0"/>
          </a:p>
        </p:txBody>
      </p:sp>
      <p:sp>
        <p:nvSpPr>
          <p:cNvPr id="6" name="Text 4"/>
          <p:cNvSpPr txBox="1"/>
          <p:nvPr/>
        </p:nvSpPr>
        <p:spPr>
          <a:xfrm>
            <a:off x="6263640" y="2468880"/>
            <a:ext cx="5166360" cy="274320"/>
          </a:xfrm>
          <a:prstGeom prst="rect">
            <a:avLst/>
          </a:prstGeom>
          <a:noFill/>
          <a:ln/>
        </p:spPr>
        <p:txBody>
          <a:bodyPr wrap="square" lIns="0" tIns="0" rIns="0" bIns="0" rtlCol="0" anchor="ctr"/>
          <a:lstStyle/>
          <a:p>
            <a:pPr indent="0" marL="0">
              <a:buNone/>
            </a:pPr>
            <a:r>
              <a:rPr lang="en-US" sz="1200" b="1" spc="200" kern="0" dirty="0">
                <a:solidFill>
                  <a:srgbClr val="FF6B5E"/>
                </a:solidFill>
                <a:latin typeface="Arial" pitchFamily="34" charset="0"/>
                <a:ea typeface="Arial" pitchFamily="34" charset="-122"/>
                <a:cs typeface="Arial" pitchFamily="34" charset="-120"/>
              </a:rPr>
              <a:t>Not built yet</a:t>
            </a:r>
            <a:endParaRPr lang="en-US" sz="1200" dirty="0"/>
          </a:p>
        </p:txBody>
      </p:sp>
      <p:sp>
        <p:nvSpPr>
          <p:cNvPr id="7" name="Shape 5"/>
          <p:cNvSpPr/>
          <p:nvPr/>
        </p:nvSpPr>
        <p:spPr>
          <a:xfrm>
            <a:off x="731520" y="2834640"/>
            <a:ext cx="5166360" cy="1965960"/>
          </a:xfrm>
          <a:prstGeom prst="roundRect">
            <a:avLst>
              <a:gd name="adj" fmla="val 3721"/>
            </a:avLst>
          </a:prstGeom>
          <a:solidFill>
            <a:srgbClr val="F4F7F9"/>
          </a:solidFill>
          <a:ln w="12700">
            <a:solidFill>
              <a:srgbClr val="F4F7F9"/>
            </a:solidFill>
            <a:prstDash val="solid"/>
          </a:ln>
          <a:effectLst>
            <a:outerShdw sx="100000" sy="100000" kx="0" ky="0" algn="bl" rotWithShape="0" blurRad="127000" dist="508" dir="5400000">
              <a:srgbClr val="9AA8B4">
                <a:alpha val="25000"/>
              </a:srgbClr>
            </a:outerShdw>
          </a:effectLst>
        </p:spPr>
      </p:sp>
      <p:sp>
        <p:nvSpPr>
          <p:cNvPr id="8" name="Text 6"/>
          <p:cNvSpPr txBox="1"/>
          <p:nvPr/>
        </p:nvSpPr>
        <p:spPr>
          <a:xfrm>
            <a:off x="1097280" y="3063240"/>
            <a:ext cx="4480560" cy="274320"/>
          </a:xfrm>
          <a:prstGeom prst="rect">
            <a:avLst/>
          </a:prstGeom>
          <a:noFill/>
          <a:ln/>
        </p:spPr>
        <p:txBody>
          <a:bodyPr wrap="square" lIns="0" tIns="0" rIns="0" bIns="0" rtlCol="0" anchor="ctr"/>
          <a:lstStyle/>
          <a:p>
            <a:pPr indent="0" marL="0">
              <a:buNone/>
            </a:pPr>
            <a:r>
              <a:rPr lang="en-US" sz="1350" b="1" dirty="0">
                <a:solidFill>
                  <a:srgbClr val="102A43"/>
                </a:solidFill>
                <a:latin typeface="Arial" pitchFamily="34" charset="0"/>
                <a:ea typeface="Arial" pitchFamily="34" charset="-122"/>
                <a:cs typeface="Arial" pitchFamily="34" charset="-120"/>
              </a:rPr>
              <a:t>The cohort report returns</a:t>
            </a:r>
            <a:endParaRPr lang="en-US" sz="1350" dirty="0"/>
          </a:p>
        </p:txBody>
      </p:sp>
      <p:sp>
        <p:nvSpPr>
          <p:cNvPr id="9" name="Text 7"/>
          <p:cNvSpPr txBox="1"/>
          <p:nvPr/>
        </p:nvSpPr>
        <p:spPr>
          <a:xfrm>
            <a:off x="1097280" y="3474720"/>
            <a:ext cx="4434840" cy="173736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200" dirty="0">
                <a:solidFill>
                  <a:srgbClr val="475663"/>
                </a:solidFill>
                <a:latin typeface="Calibri" pitchFamily="34" charset="0"/>
                <a:ea typeface="Calibri" pitchFamily="34" charset="-122"/>
                <a:cs typeface="Calibri" pitchFamily="34" charset="-120"/>
              </a:rPr>
              <a:t>Participation rate across the cohort</a:t>
            </a:r>
            <a:endParaRPr lang="en-US" sz="1200" dirty="0"/>
          </a:p>
          <a:p>
            <a:pPr marL="342900" indent="-342900">
              <a:lnSpc>
                <a:spcPts val="1700"/>
              </a:lnSpc>
              <a:spcAft>
                <a:spcPts val="700"/>
              </a:spcAft>
              <a:buSzPct val="100000"/>
              <a:buChar char="•"/>
            </a:pPr>
            <a:r>
              <a:rPr lang="en-US" sz="1200" dirty="0">
                <a:solidFill>
                  <a:srgbClr val="475663"/>
                </a:solidFill>
                <a:latin typeface="Calibri" pitchFamily="34" charset="0"/>
                <a:ea typeface="Calibri" pitchFamily="34" charset="-122"/>
                <a:cs typeface="Calibri" pitchFamily="34" charset="-120"/>
              </a:rPr>
              <a:t>How many people were active</a:t>
            </a:r>
            <a:endParaRPr lang="en-US" sz="1200" dirty="0"/>
          </a:p>
          <a:p>
            <a:pPr marL="342900" indent="-342900">
              <a:lnSpc>
                <a:spcPts val="1700"/>
              </a:lnSpc>
              <a:spcAft>
                <a:spcPts val="700"/>
              </a:spcAft>
              <a:buSzPct val="100000"/>
              <a:buChar char="•"/>
            </a:pPr>
            <a:r>
              <a:rPr lang="en-US" sz="1200" dirty="0">
                <a:solidFill>
                  <a:srgbClr val="475663"/>
                </a:solidFill>
                <a:latin typeface="Calibri" pitchFamily="34" charset="0"/>
                <a:ea typeface="Calibri" pitchFamily="34" charset="-122"/>
                <a:cs typeface="Calibri" pitchFamily="34" charset="-120"/>
              </a:rPr>
              <a:t>Median days moved in the period</a:t>
            </a:r>
            <a:endParaRPr lang="en-US" sz="1200" dirty="0"/>
          </a:p>
          <a:p>
            <a:pPr marL="342900" indent="-342900">
              <a:lnSpc>
                <a:spcPts val="1700"/>
              </a:lnSpc>
              <a:buSzPct val="100000"/>
              <a:buChar char="•"/>
            </a:pPr>
            <a:r>
              <a:rPr lang="en-US" sz="1200" dirty="0">
                <a:solidFill>
                  <a:srgbClr val="475663"/>
                </a:solidFill>
                <a:latin typeface="Calibri" pitchFamily="34" charset="0"/>
                <a:ea typeface="Calibri" pitchFamily="34" charset="-122"/>
                <a:cs typeface="Calibri" pitchFamily="34" charset="-120"/>
              </a:rPr>
              <a:t>Whether the answer was suppressed, and the floor</a:t>
            </a:r>
            <a:endParaRPr lang="en-US" sz="1200" dirty="0"/>
          </a:p>
        </p:txBody>
      </p:sp>
      <p:sp>
        <p:nvSpPr>
          <p:cNvPr id="10" name="Shape 8"/>
          <p:cNvSpPr/>
          <p:nvPr/>
        </p:nvSpPr>
        <p:spPr>
          <a:xfrm>
            <a:off x="6263640" y="2834640"/>
            <a:ext cx="5166360" cy="1965960"/>
          </a:xfrm>
          <a:prstGeom prst="roundRect">
            <a:avLst>
              <a:gd name="adj" fmla="val 3721"/>
            </a:avLst>
          </a:prstGeom>
          <a:solidFill>
            <a:srgbClr val="F4F7F9"/>
          </a:solidFill>
          <a:ln w="12700">
            <a:solidFill>
              <a:srgbClr val="F4F7F9"/>
            </a:solidFill>
            <a:prstDash val="solid"/>
          </a:ln>
          <a:effectLst>
            <a:outerShdw sx="100000" sy="100000" kx="0" ky="0" algn="bl" rotWithShape="0" blurRad="127000" dist="508" dir="5400000">
              <a:srgbClr val="9AA8B4">
                <a:alpha val="25000"/>
              </a:srgbClr>
            </a:outerShdw>
          </a:effectLst>
        </p:spPr>
      </p:sp>
      <p:sp>
        <p:nvSpPr>
          <p:cNvPr id="11" name="Text 9"/>
          <p:cNvSpPr txBox="1"/>
          <p:nvPr/>
        </p:nvSpPr>
        <p:spPr>
          <a:xfrm>
            <a:off x="6629400" y="3063240"/>
            <a:ext cx="4480560" cy="274320"/>
          </a:xfrm>
          <a:prstGeom prst="rect">
            <a:avLst/>
          </a:prstGeom>
          <a:noFill/>
          <a:ln/>
        </p:spPr>
        <p:txBody>
          <a:bodyPr wrap="square" lIns="0" tIns="0" rIns="0" bIns="0" rtlCol="0" anchor="ctr"/>
          <a:lstStyle/>
          <a:p>
            <a:pPr indent="0" marL="0">
              <a:buNone/>
            </a:pPr>
            <a:r>
              <a:rPr lang="en-US" sz="1350" b="1" dirty="0">
                <a:solidFill>
                  <a:srgbClr val="102A43"/>
                </a:solidFill>
                <a:latin typeface="Arial" pitchFamily="34" charset="0"/>
                <a:ea typeface="Arial" pitchFamily="34" charset="-122"/>
                <a:cs typeface="Arial" pitchFamily="34" charset="-120"/>
              </a:rPr>
              <a:t>Built with a design partner</a:t>
            </a:r>
            <a:endParaRPr lang="en-US" sz="1350" dirty="0"/>
          </a:p>
        </p:txBody>
      </p:sp>
      <p:sp>
        <p:nvSpPr>
          <p:cNvPr id="12" name="Text 10"/>
          <p:cNvSpPr txBox="1"/>
          <p:nvPr/>
        </p:nvSpPr>
        <p:spPr>
          <a:xfrm>
            <a:off x="6629400" y="3474720"/>
            <a:ext cx="4434840" cy="173736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200" dirty="0">
                <a:solidFill>
                  <a:srgbClr val="475663"/>
                </a:solidFill>
                <a:latin typeface="Calibri" pitchFamily="34" charset="0"/>
                <a:ea typeface="Calibri" pitchFamily="34" charset="-122"/>
                <a:cs typeface="Calibri" pitchFamily="34" charset="-120"/>
              </a:rPr>
              <a:t>A trend series against a baseline</a:t>
            </a:r>
            <a:endParaRPr lang="en-US" sz="1200" dirty="0"/>
          </a:p>
          <a:p>
            <a:pPr marL="342900" indent="-342900">
              <a:lnSpc>
                <a:spcPts val="1700"/>
              </a:lnSpc>
              <a:spcAft>
                <a:spcPts val="700"/>
              </a:spcAft>
              <a:buSzPct val="100000"/>
              <a:buChar char="•"/>
            </a:pPr>
            <a:r>
              <a:rPr lang="en-US" sz="1200" dirty="0">
                <a:solidFill>
                  <a:srgbClr val="475663"/>
                </a:solidFill>
                <a:latin typeface="Calibri" pitchFamily="34" charset="0"/>
                <a:ea typeface="Calibri" pitchFamily="34" charset="-122"/>
                <a:cs typeface="Calibri" pitchFamily="34" charset="-120"/>
              </a:rPr>
              <a:t>Sedentary-risk distribution by cohort</a:t>
            </a:r>
            <a:endParaRPr lang="en-US" sz="1200" dirty="0"/>
          </a:p>
          <a:p>
            <a:pPr marL="342900" indent="-342900">
              <a:lnSpc>
                <a:spcPts val="1700"/>
              </a:lnSpc>
              <a:spcAft>
                <a:spcPts val="700"/>
              </a:spcAft>
              <a:buSzPct val="100000"/>
              <a:buChar char="•"/>
            </a:pPr>
            <a:r>
              <a:rPr lang="en-US" sz="1200" dirty="0">
                <a:solidFill>
                  <a:srgbClr val="475663"/>
                </a:solidFill>
                <a:latin typeface="Calibri" pitchFamily="34" charset="0"/>
                <a:ea typeface="Calibri" pitchFamily="34" charset="-122"/>
                <a:cs typeface="Calibri" pitchFamily="34" charset="-120"/>
              </a:rPr>
              <a:t>A return-on-investment model, assumptions shown</a:t>
            </a:r>
            <a:endParaRPr lang="en-US" sz="1200" dirty="0"/>
          </a:p>
          <a:p>
            <a:pPr marL="342900" indent="-342900">
              <a:lnSpc>
                <a:spcPts val="1700"/>
              </a:lnSpc>
              <a:buSzPct val="100000"/>
              <a:buChar char="•"/>
            </a:pPr>
            <a:r>
              <a:rPr lang="en-US" sz="1200" dirty="0">
                <a:solidFill>
                  <a:srgbClr val="475663"/>
                </a:solidFill>
                <a:latin typeface="Calibri" pitchFamily="34" charset="0"/>
                <a:ea typeface="Calibri" pitchFamily="34" charset="-122"/>
                <a:cs typeface="Calibri" pitchFamily="34" charset="-120"/>
              </a:rPr>
              <a:t>Single sign-on and directory sync</a:t>
            </a:r>
            <a:endParaRPr lang="en-US" sz="1200" dirty="0"/>
          </a:p>
        </p:txBody>
      </p:sp>
      <p:sp>
        <p:nvSpPr>
          <p:cNvPr id="13" name="Text 11"/>
          <p:cNvSpPr txBox="1"/>
          <p:nvPr/>
        </p:nvSpPr>
        <p:spPr>
          <a:xfrm>
            <a:off x="731520" y="5623560"/>
            <a:ext cx="10698480" cy="640080"/>
          </a:xfrm>
          <a:prstGeom prst="rect">
            <a:avLst/>
          </a:prstGeom>
          <a:noFill/>
          <a:ln/>
        </p:spPr>
        <p:txBody>
          <a:bodyPr wrap="square" lIns="0" tIns="0" rIns="0" bIns="0" rtlCol="0" anchor="ctr"/>
          <a:lstStyle/>
          <a:p>
            <a:pPr indent="0" marL="0">
              <a:lnSpc>
                <a:spcPts val="1800"/>
              </a:lnSpc>
              <a:buNone/>
            </a:pPr>
            <a:r>
              <a:rPr lang="en-US" sz="1250" i="1" dirty="0">
                <a:solidFill>
                  <a:srgbClr val="475663"/>
                </a:solidFill>
                <a:latin typeface="Calibri" pitchFamily="34" charset="0"/>
                <a:ea typeface="Calibri" pitchFamily="34" charset="-122"/>
                <a:cs typeface="Calibri" pitchFamily="34" charset="-120"/>
              </a:rPr>
              <a:t>Below eight contributing people every figure is null, not rounded — for you as well as for everyone else. An eleven-person company cannot have anonymous reporting however it is sold.</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731520" y="690372"/>
            <a:ext cx="118872" cy="118872"/>
          </a:xfrm>
          <a:prstGeom prst="ellipse">
            <a:avLst/>
          </a:prstGeom>
          <a:solidFill>
            <a:srgbClr val="B7E436"/>
          </a:solidFill>
          <a:ln/>
        </p:spPr>
      </p:sp>
      <p:sp>
        <p:nvSpPr>
          <p:cNvPr id="3" name="Text 1"/>
          <p:cNvSpPr txBox="1"/>
          <p:nvPr/>
        </p:nvSpPr>
        <p:spPr>
          <a:xfrm>
            <a:off x="969264" y="640080"/>
            <a:ext cx="7315200" cy="274320"/>
          </a:xfrm>
          <a:prstGeom prst="rect">
            <a:avLst/>
          </a:prstGeom>
          <a:noFill/>
          <a:ln/>
        </p:spPr>
        <p:txBody>
          <a:bodyPr wrap="square" lIns="0" tIns="0" rIns="0" bIns="0" rtlCol="0" anchor="ctr"/>
          <a:lstStyle/>
          <a:p>
            <a:pPr indent="0" marL="0">
              <a:buNone/>
            </a:pPr>
            <a:r>
              <a:rPr lang="en-US" sz="1200" b="1" spc="200" kern="0" dirty="0">
                <a:solidFill>
                  <a:srgbClr val="B7E436"/>
                </a:solidFill>
                <a:latin typeface="Arial" pitchFamily="34" charset="0"/>
                <a:ea typeface="Arial" pitchFamily="34" charset="-122"/>
                <a:cs typeface="Arial" pitchFamily="34" charset="-120"/>
              </a:rPr>
              <a:t>FOR YOUR SECURITY REVIEW</a:t>
            </a:r>
            <a:endParaRPr lang="en-US" sz="1200" dirty="0"/>
          </a:p>
        </p:txBody>
      </p:sp>
      <p:sp>
        <p:nvSpPr>
          <p:cNvPr id="4" name="Text 2"/>
          <p:cNvSpPr txBox="1"/>
          <p:nvPr/>
        </p:nvSpPr>
        <p:spPr>
          <a:xfrm>
            <a:off x="731520" y="1051560"/>
            <a:ext cx="10698480" cy="10058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A claim you can call is worth</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more than a claim you can read.</a:t>
            </a:r>
            <a:endParaRPr lang="en-US" sz="3400" dirty="0"/>
          </a:p>
        </p:txBody>
      </p:sp>
      <p:sp>
        <p:nvSpPr>
          <p:cNvPr id="5" name="Text 3"/>
          <p:cNvSpPr txBox="1"/>
          <p:nvPr/>
        </p:nvSpPr>
        <p:spPr>
          <a:xfrm>
            <a:off x="731520" y="2286000"/>
            <a:ext cx="10698480" cy="640080"/>
          </a:xfrm>
          <a:prstGeom prst="rect">
            <a:avLst/>
          </a:prstGeom>
          <a:noFill/>
          <a:ln/>
        </p:spPr>
        <p:txBody>
          <a:bodyPr wrap="square" lIns="0" tIns="0" rIns="0" bIns="0" rtlCol="0" anchor="ctr"/>
          <a:lstStyle/>
          <a:p>
            <a:pPr indent="0" marL="0">
              <a:lnSpc>
                <a:spcPts val="2000"/>
              </a:lnSpc>
              <a:buNone/>
            </a:pPr>
            <a:r>
              <a:rPr lang="en-US" sz="1350" dirty="0">
                <a:solidFill>
                  <a:srgbClr val="B8C6D1"/>
                </a:solidFill>
                <a:latin typeface="Calibri" pitchFamily="34" charset="0"/>
                <a:ea typeface="Calibri" pitchFamily="34" charset="-122"/>
                <a:cs typeface="Calibri" pitchFamily="34" charset="-120"/>
              </a:rPr>
              <a:t>Checkable from a terminal, without an account and without us in the room. The assurance endpoint lists 32 controls — 21 enforced in code, 7 implemented, 4 still open.</a:t>
            </a:r>
            <a:endParaRPr lang="en-US" sz="1350" dirty="0"/>
          </a:p>
        </p:txBody>
      </p:sp>
      <p:sp>
        <p:nvSpPr>
          <p:cNvPr id="6" name="Shape 4"/>
          <p:cNvSpPr/>
          <p:nvPr/>
        </p:nvSpPr>
        <p:spPr>
          <a:xfrm>
            <a:off x="731520" y="3108960"/>
            <a:ext cx="10698480" cy="694944"/>
          </a:xfrm>
          <a:prstGeom prst="roundRect">
            <a:avLst>
              <a:gd name="adj" fmla="val 10526"/>
            </a:avLst>
          </a:prstGeom>
          <a:solidFill>
            <a:srgbClr val="1B3A54"/>
          </a:solidFill>
          <a:ln w="12700">
            <a:solidFill>
              <a:srgbClr val="1B3A54"/>
            </a:solidFill>
            <a:prstDash val="solid"/>
          </a:ln>
          <a:effectLst>
            <a:outerShdw sx="100000" sy="100000" kx="0" ky="0" algn="bl" rotWithShape="0" blurRad="127000" dist="508" dir="5400000">
              <a:srgbClr val="9AA8B4">
                <a:alpha val="25000"/>
              </a:srgbClr>
            </a:outerShdw>
          </a:effectLst>
        </p:spPr>
      </p:sp>
      <p:sp>
        <p:nvSpPr>
          <p:cNvPr id="7" name="Text 5"/>
          <p:cNvSpPr txBox="1"/>
          <p:nvPr/>
        </p:nvSpPr>
        <p:spPr>
          <a:xfrm>
            <a:off x="1051560" y="3310128"/>
            <a:ext cx="3291840" cy="320040"/>
          </a:xfrm>
          <a:prstGeom prst="rect">
            <a:avLst/>
          </a:prstGeom>
          <a:noFill/>
          <a:ln/>
        </p:spPr>
        <p:txBody>
          <a:bodyPr wrap="square" lIns="0" tIns="0" rIns="0" bIns="0" rtlCol="0" anchor="ctr"/>
          <a:lstStyle/>
          <a:p>
            <a:pPr indent="0" marL="0">
              <a:buNone/>
            </a:pPr>
            <a:r>
              <a:rPr lang="en-US" sz="1250" b="1" dirty="0">
                <a:solidFill>
                  <a:srgbClr val="B7E436"/>
                </a:solidFill>
                <a:latin typeface="Courier New" pitchFamily="34" charset="0"/>
                <a:ea typeface="Courier New" pitchFamily="34" charset="-122"/>
                <a:cs typeface="Courier New" pitchFamily="34" charset="-120"/>
              </a:rPr>
              <a:t>GET  /api/assurance</a:t>
            </a:r>
            <a:endParaRPr lang="en-US" sz="1250" dirty="0"/>
          </a:p>
        </p:txBody>
      </p:sp>
      <p:sp>
        <p:nvSpPr>
          <p:cNvPr id="8" name="Text 6"/>
          <p:cNvSpPr txBox="1"/>
          <p:nvPr/>
        </p:nvSpPr>
        <p:spPr>
          <a:xfrm>
            <a:off x="4526280" y="3310128"/>
            <a:ext cx="6583680" cy="320040"/>
          </a:xfrm>
          <a:prstGeom prst="rect">
            <a:avLst/>
          </a:prstGeom>
          <a:noFill/>
          <a:ln/>
        </p:spPr>
        <p:txBody>
          <a:bodyPr wrap="square" lIns="0" tIns="0" rIns="0" bIns="0" rtlCol="0" anchor="ctr"/>
          <a:lstStyle/>
          <a:p>
            <a:pPr indent="0" marL="0">
              <a:buNone/>
            </a:pPr>
            <a:r>
              <a:rPr lang="en-US" sz="1200" dirty="0">
                <a:solidFill>
                  <a:srgbClr val="D6E2EA"/>
                </a:solidFill>
                <a:latin typeface="Calibri" pitchFamily="34" charset="0"/>
                <a:ea typeface="Calibri" pitchFamily="34" charset="-122"/>
                <a:cs typeface="Calibri" pitchFamily="34" charset="-120"/>
              </a:rPr>
              <a:t>Every control, its status, and the gaps — listed at the top, not buried.</a:t>
            </a:r>
            <a:endParaRPr lang="en-US" sz="1200" dirty="0"/>
          </a:p>
        </p:txBody>
      </p:sp>
      <p:sp>
        <p:nvSpPr>
          <p:cNvPr id="9" name="Shape 7"/>
          <p:cNvSpPr/>
          <p:nvPr/>
        </p:nvSpPr>
        <p:spPr>
          <a:xfrm>
            <a:off x="731520" y="3931920"/>
            <a:ext cx="10698480" cy="694944"/>
          </a:xfrm>
          <a:prstGeom prst="roundRect">
            <a:avLst>
              <a:gd name="adj" fmla="val 10526"/>
            </a:avLst>
          </a:prstGeom>
          <a:solidFill>
            <a:srgbClr val="1B3A54"/>
          </a:solidFill>
          <a:ln w="12700">
            <a:solidFill>
              <a:srgbClr val="1B3A54"/>
            </a:solidFill>
            <a:prstDash val="solid"/>
          </a:ln>
          <a:effectLst>
            <a:outerShdw sx="100000" sy="100000" kx="0" ky="0" algn="bl" rotWithShape="0" blurRad="127000" dist="508" dir="5400000">
              <a:srgbClr val="9AA8B4">
                <a:alpha val="25000"/>
              </a:srgbClr>
            </a:outerShdw>
          </a:effectLst>
        </p:spPr>
      </p:sp>
      <p:sp>
        <p:nvSpPr>
          <p:cNvPr id="10" name="Text 8"/>
          <p:cNvSpPr txBox="1"/>
          <p:nvPr/>
        </p:nvSpPr>
        <p:spPr>
          <a:xfrm>
            <a:off x="1051560" y="4133088"/>
            <a:ext cx="3291840" cy="320040"/>
          </a:xfrm>
          <a:prstGeom prst="rect">
            <a:avLst/>
          </a:prstGeom>
          <a:noFill/>
          <a:ln/>
        </p:spPr>
        <p:txBody>
          <a:bodyPr wrap="square" lIns="0" tIns="0" rIns="0" bIns="0" rtlCol="0" anchor="ctr"/>
          <a:lstStyle/>
          <a:p>
            <a:pPr indent="0" marL="0">
              <a:buNone/>
            </a:pPr>
            <a:r>
              <a:rPr lang="en-US" sz="1250" b="1" dirty="0">
                <a:solidFill>
                  <a:srgbClr val="B7E436"/>
                </a:solidFill>
                <a:latin typeface="Courier New" pitchFamily="34" charset="0"/>
                <a:ea typeface="Courier New" pitchFamily="34" charset="-122"/>
                <a:cs typeface="Courier New" pitchFamily="34" charset="-120"/>
              </a:rPr>
              <a:t>GET  /api/movements/gate</a:t>
            </a:r>
            <a:endParaRPr lang="en-US" sz="1250" dirty="0"/>
          </a:p>
        </p:txBody>
      </p:sp>
      <p:sp>
        <p:nvSpPr>
          <p:cNvPr id="11" name="Text 9"/>
          <p:cNvSpPr txBox="1"/>
          <p:nvPr/>
        </p:nvSpPr>
        <p:spPr>
          <a:xfrm>
            <a:off x="4526280" y="4133088"/>
            <a:ext cx="6583680" cy="320040"/>
          </a:xfrm>
          <a:prstGeom prst="rect">
            <a:avLst/>
          </a:prstGeom>
          <a:noFill/>
          <a:ln/>
        </p:spPr>
        <p:txBody>
          <a:bodyPr wrap="square" lIns="0" tIns="0" rIns="0" bIns="0" rtlCol="0" anchor="ctr"/>
          <a:lstStyle/>
          <a:p>
            <a:pPr indent="0" marL="0">
              <a:buNone/>
            </a:pPr>
            <a:r>
              <a:rPr lang="en-US" sz="1200" dirty="0">
                <a:solidFill>
                  <a:srgbClr val="D6E2EA"/>
                </a:solidFill>
                <a:latin typeface="Calibri" pitchFamily="34" charset="0"/>
                <a:ea typeface="Calibri" pitchFamily="34" charset="-122"/>
                <a:cs typeface="Calibri" pitchFamily="34" charset="-120"/>
              </a:rPr>
              <a:t>The publishing contract: five variants, a cue set per age mode, no override.</a:t>
            </a:r>
            <a:endParaRPr lang="en-US" sz="1200" dirty="0"/>
          </a:p>
        </p:txBody>
      </p:sp>
      <p:sp>
        <p:nvSpPr>
          <p:cNvPr id="12" name="Shape 10"/>
          <p:cNvSpPr/>
          <p:nvPr/>
        </p:nvSpPr>
        <p:spPr>
          <a:xfrm>
            <a:off x="731520" y="4754880"/>
            <a:ext cx="10698480" cy="694944"/>
          </a:xfrm>
          <a:prstGeom prst="roundRect">
            <a:avLst>
              <a:gd name="adj" fmla="val 10526"/>
            </a:avLst>
          </a:prstGeom>
          <a:solidFill>
            <a:srgbClr val="1B3A54"/>
          </a:solidFill>
          <a:ln w="12700">
            <a:solidFill>
              <a:srgbClr val="1B3A54"/>
            </a:solidFill>
            <a:prstDash val="solid"/>
          </a:ln>
          <a:effectLst>
            <a:outerShdw sx="100000" sy="100000" kx="0" ky="0" algn="bl" rotWithShape="0" blurRad="127000" dist="508" dir="5400000">
              <a:srgbClr val="9AA8B4">
                <a:alpha val="25000"/>
              </a:srgbClr>
            </a:outerShdw>
          </a:effectLst>
        </p:spPr>
      </p:sp>
      <p:sp>
        <p:nvSpPr>
          <p:cNvPr id="13" name="Text 11"/>
          <p:cNvSpPr txBox="1"/>
          <p:nvPr/>
        </p:nvSpPr>
        <p:spPr>
          <a:xfrm>
            <a:off x="1051560" y="4956048"/>
            <a:ext cx="3291840" cy="320040"/>
          </a:xfrm>
          <a:prstGeom prst="rect">
            <a:avLst/>
          </a:prstGeom>
          <a:noFill/>
          <a:ln/>
        </p:spPr>
        <p:txBody>
          <a:bodyPr wrap="square" lIns="0" tIns="0" rIns="0" bIns="0" rtlCol="0" anchor="ctr"/>
          <a:lstStyle/>
          <a:p>
            <a:pPr indent="0" marL="0">
              <a:buNone/>
            </a:pPr>
            <a:r>
              <a:rPr lang="en-US" sz="1250" b="1" dirty="0">
                <a:solidFill>
                  <a:srgbClr val="B7E436"/>
                </a:solidFill>
                <a:latin typeface="Courier New" pitchFamily="34" charset="0"/>
                <a:ea typeface="Courier New" pitchFamily="34" charset="-122"/>
                <a:cs typeface="Courier New" pitchFamily="34" charset="-120"/>
              </a:rPr>
              <a:t>POST /api/body/assess</a:t>
            </a:r>
            <a:endParaRPr lang="en-US" sz="1250" dirty="0"/>
          </a:p>
        </p:txBody>
      </p:sp>
      <p:sp>
        <p:nvSpPr>
          <p:cNvPr id="14" name="Text 12"/>
          <p:cNvSpPr txBox="1"/>
          <p:nvPr/>
        </p:nvSpPr>
        <p:spPr>
          <a:xfrm>
            <a:off x="4526280" y="4956048"/>
            <a:ext cx="6583680" cy="320040"/>
          </a:xfrm>
          <a:prstGeom prst="rect">
            <a:avLst/>
          </a:prstGeom>
          <a:noFill/>
          <a:ln/>
        </p:spPr>
        <p:txBody>
          <a:bodyPr wrap="square" lIns="0" tIns="0" rIns="0" bIns="0" rtlCol="0" anchor="ctr"/>
          <a:lstStyle/>
          <a:p>
            <a:pPr indent="0" marL="0">
              <a:buNone/>
            </a:pPr>
            <a:r>
              <a:rPr lang="en-US" sz="1200" dirty="0">
                <a:solidFill>
                  <a:srgbClr val="D6E2EA"/>
                </a:solidFill>
                <a:latin typeface="Calibri" pitchFamily="34" charset="0"/>
                <a:ea typeface="Calibri" pitchFamily="34" charset="-122"/>
                <a:cs typeface="Calibri" pitchFamily="34" charset="-120"/>
              </a:rPr>
              <a:t>Send a twelve-year-old with consent set true. It returns metrics: null.</a:t>
            </a:r>
            <a:endParaRPr lang="en-US" sz="1200" dirty="0"/>
          </a:p>
        </p:txBody>
      </p:sp>
      <p:sp>
        <p:nvSpPr>
          <p:cNvPr id="15" name="Shape 13"/>
          <p:cNvSpPr/>
          <p:nvPr/>
        </p:nvSpPr>
        <p:spPr>
          <a:xfrm>
            <a:off x="731520" y="5577840"/>
            <a:ext cx="10698480" cy="694944"/>
          </a:xfrm>
          <a:prstGeom prst="roundRect">
            <a:avLst>
              <a:gd name="adj" fmla="val 10526"/>
            </a:avLst>
          </a:prstGeom>
          <a:solidFill>
            <a:srgbClr val="1B3A54"/>
          </a:solidFill>
          <a:ln w="12700">
            <a:solidFill>
              <a:srgbClr val="1B3A54"/>
            </a:solidFill>
            <a:prstDash val="solid"/>
          </a:ln>
          <a:effectLst>
            <a:outerShdw sx="100000" sy="100000" kx="0" ky="0" algn="bl" rotWithShape="0" blurRad="127000" dist="508" dir="5400000">
              <a:srgbClr val="9AA8B4">
                <a:alpha val="25000"/>
              </a:srgbClr>
            </a:outerShdw>
          </a:effectLst>
        </p:spPr>
      </p:sp>
      <p:sp>
        <p:nvSpPr>
          <p:cNvPr id="16" name="Text 14"/>
          <p:cNvSpPr txBox="1"/>
          <p:nvPr/>
        </p:nvSpPr>
        <p:spPr>
          <a:xfrm>
            <a:off x="1051560" y="5779008"/>
            <a:ext cx="3291840" cy="320040"/>
          </a:xfrm>
          <a:prstGeom prst="rect">
            <a:avLst/>
          </a:prstGeom>
          <a:noFill/>
          <a:ln/>
        </p:spPr>
        <p:txBody>
          <a:bodyPr wrap="square" lIns="0" tIns="0" rIns="0" bIns="0" rtlCol="0" anchor="ctr"/>
          <a:lstStyle/>
          <a:p>
            <a:pPr indent="0" marL="0">
              <a:buNone/>
            </a:pPr>
            <a:r>
              <a:rPr lang="en-US" sz="1250" b="1" dirty="0">
                <a:solidFill>
                  <a:srgbClr val="B7E436"/>
                </a:solidFill>
                <a:latin typeface="Courier New" pitchFamily="34" charset="0"/>
                <a:ea typeface="Courier New" pitchFamily="34" charset="-122"/>
                <a:cs typeface="Courier New" pitchFamily="34" charset="-120"/>
              </a:rPr>
              <a:t>GET  /api/health</a:t>
            </a:r>
            <a:endParaRPr lang="en-US" sz="1250" dirty="0"/>
          </a:p>
        </p:txBody>
      </p:sp>
      <p:sp>
        <p:nvSpPr>
          <p:cNvPr id="17" name="Text 15"/>
          <p:cNvSpPr txBox="1"/>
          <p:nvPr/>
        </p:nvSpPr>
        <p:spPr>
          <a:xfrm>
            <a:off x="4526280" y="5779008"/>
            <a:ext cx="6583680" cy="320040"/>
          </a:xfrm>
          <a:prstGeom prst="rect">
            <a:avLst/>
          </a:prstGeom>
          <a:noFill/>
          <a:ln/>
        </p:spPr>
        <p:txBody>
          <a:bodyPr wrap="square" lIns="0" tIns="0" rIns="0" bIns="0" rtlCol="0" anchor="ctr"/>
          <a:lstStyle/>
          <a:p>
            <a:pPr indent="0" marL="0">
              <a:buNone/>
            </a:pPr>
            <a:r>
              <a:rPr lang="en-US" sz="1200" dirty="0">
                <a:solidFill>
                  <a:srgbClr val="D6E2EA"/>
                </a:solidFill>
                <a:latin typeface="Calibri" pitchFamily="34" charset="0"/>
                <a:ea typeface="Calibri" pitchFamily="34" charset="-122"/>
                <a:cs typeface="Calibri" pitchFamily="34" charset="-120"/>
              </a:rPr>
              <a:t>A live check that opens a database connection, never a stored badge.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690372"/>
            <a:ext cx="118872" cy="118872"/>
          </a:xfrm>
          <a:prstGeom prst="ellipse">
            <a:avLst/>
          </a:prstGeom>
          <a:solidFill>
            <a:srgbClr val="00A99D"/>
          </a:solidFill>
          <a:ln/>
        </p:spPr>
      </p:sp>
      <p:sp>
        <p:nvSpPr>
          <p:cNvPr id="3" name="Text 1"/>
          <p:cNvSpPr txBox="1"/>
          <p:nvPr/>
        </p:nvSpPr>
        <p:spPr>
          <a:xfrm>
            <a:off x="969264" y="640080"/>
            <a:ext cx="7315200" cy="274320"/>
          </a:xfrm>
          <a:prstGeom prst="rect">
            <a:avLst/>
          </a:prstGeom>
          <a:noFill/>
          <a:ln/>
        </p:spPr>
        <p:txBody>
          <a:bodyPr wrap="square" lIns="0" tIns="0" rIns="0" bIns="0" rtlCol="0" anchor="ctr"/>
          <a:lstStyle/>
          <a:p>
            <a:pPr indent="0" marL="0">
              <a:buNone/>
            </a:pPr>
            <a:r>
              <a:rPr lang="en-US" sz="1200" b="1" spc="200" kern="0" dirty="0">
                <a:solidFill>
                  <a:srgbClr val="00A99D"/>
                </a:solidFill>
                <a:latin typeface="Arial" pitchFamily="34" charset="0"/>
                <a:ea typeface="Arial" pitchFamily="34" charset="-122"/>
                <a:cs typeface="Arial" pitchFamily="34" charset="-120"/>
              </a:rPr>
              <a:t>YOUR LEGAL, HR AND SECURITY TEAMS</a:t>
            </a:r>
            <a:endParaRPr lang="en-US" sz="1200" dirty="0"/>
          </a:p>
        </p:txBody>
      </p:sp>
      <p:sp>
        <p:nvSpPr>
          <p:cNvPr id="4" name="Text 2"/>
          <p:cNvSpPr txBox="1"/>
          <p:nvPr/>
        </p:nvSpPr>
        <p:spPr>
          <a:xfrm>
            <a:off x="731520" y="1051560"/>
            <a:ext cx="10698480" cy="1005840"/>
          </a:xfrm>
          <a:prstGeom prst="rect">
            <a:avLst/>
          </a:prstGeom>
          <a:noFill/>
          <a:ln/>
        </p:spPr>
        <p:txBody>
          <a:bodyPr wrap="square" lIns="0" tIns="0" rIns="0" bIns="0" rtlCol="0" anchor="ctr"/>
          <a:lstStyle/>
          <a:p>
            <a:pPr indent="0" marL="0">
              <a:buNone/>
            </a:pPr>
            <a:r>
              <a:rPr lang="en-US" sz="3600" b="1" dirty="0">
                <a:solidFill>
                  <a:srgbClr val="102A43"/>
                </a:solidFill>
                <a:latin typeface="Cambria" pitchFamily="34" charset="0"/>
                <a:ea typeface="Cambria" pitchFamily="34" charset="-122"/>
                <a:cs typeface="Cambria" pitchFamily="34" charset="-120"/>
              </a:rPr>
              <a:t>Four things enforced. Four things open.</a:t>
            </a:r>
            <a:endParaRPr lang="en-US" sz="3600" dirty="0"/>
          </a:p>
        </p:txBody>
      </p:sp>
      <p:sp>
        <p:nvSpPr>
          <p:cNvPr id="5" name="Text 3"/>
          <p:cNvSpPr txBox="1"/>
          <p:nvPr/>
        </p:nvSpPr>
        <p:spPr>
          <a:xfrm>
            <a:off x="731520" y="2148840"/>
            <a:ext cx="5166360" cy="274320"/>
          </a:xfrm>
          <a:prstGeom prst="rect">
            <a:avLst/>
          </a:prstGeom>
          <a:noFill/>
          <a:ln/>
        </p:spPr>
        <p:txBody>
          <a:bodyPr wrap="square" lIns="0" tIns="0" rIns="0" bIns="0" rtlCol="0" anchor="ctr"/>
          <a:lstStyle/>
          <a:p>
            <a:pPr indent="0" marL="0">
              <a:buNone/>
            </a:pPr>
            <a:r>
              <a:rPr lang="en-US" sz="1200" b="1" spc="200" kern="0" dirty="0">
                <a:solidFill>
                  <a:srgbClr val="00A99D"/>
                </a:solidFill>
                <a:latin typeface="Arial" pitchFamily="34" charset="0"/>
                <a:ea typeface="Arial" pitchFamily="34" charset="-122"/>
                <a:cs typeface="Arial" pitchFamily="34" charset="-120"/>
              </a:rPr>
              <a:t>Enforced in code and schema</a:t>
            </a:r>
            <a:endParaRPr lang="en-US" sz="1200" dirty="0"/>
          </a:p>
        </p:txBody>
      </p:sp>
      <p:sp>
        <p:nvSpPr>
          <p:cNvPr id="6" name="Text 4"/>
          <p:cNvSpPr txBox="1"/>
          <p:nvPr/>
        </p:nvSpPr>
        <p:spPr>
          <a:xfrm>
            <a:off x="6263640" y="2148840"/>
            <a:ext cx="5166360" cy="274320"/>
          </a:xfrm>
          <a:prstGeom prst="rect">
            <a:avLst/>
          </a:prstGeom>
          <a:noFill/>
          <a:ln/>
        </p:spPr>
        <p:txBody>
          <a:bodyPr wrap="square" lIns="0" tIns="0" rIns="0" bIns="0" rtlCol="0" anchor="ctr"/>
          <a:lstStyle/>
          <a:p>
            <a:pPr indent="0" marL="0">
              <a:buNone/>
            </a:pPr>
            <a:r>
              <a:rPr lang="en-US" sz="1200" b="1" spc="200" kern="0" dirty="0">
                <a:solidFill>
                  <a:srgbClr val="FF6B5E"/>
                </a:solidFill>
                <a:latin typeface="Arial" pitchFamily="34" charset="0"/>
                <a:ea typeface="Arial" pitchFamily="34" charset="-122"/>
                <a:cs typeface="Arial" pitchFamily="34" charset="-120"/>
              </a:rPr>
              <a:t>Open, and named before you ask</a:t>
            </a:r>
            <a:endParaRPr lang="en-US" sz="1200" dirty="0"/>
          </a:p>
        </p:txBody>
      </p:sp>
      <p:sp>
        <p:nvSpPr>
          <p:cNvPr id="7" name="Shape 5"/>
          <p:cNvSpPr/>
          <p:nvPr/>
        </p:nvSpPr>
        <p:spPr>
          <a:xfrm>
            <a:off x="731520" y="2514600"/>
            <a:ext cx="5166360" cy="2971800"/>
          </a:xfrm>
          <a:prstGeom prst="roundRect">
            <a:avLst>
              <a:gd name="adj" fmla="val 2462"/>
            </a:avLst>
          </a:prstGeom>
          <a:solidFill>
            <a:srgbClr val="F4F7F9"/>
          </a:solidFill>
          <a:ln w="12700">
            <a:solidFill>
              <a:srgbClr val="F4F7F9"/>
            </a:solidFill>
            <a:prstDash val="solid"/>
          </a:ln>
          <a:effectLst>
            <a:outerShdw sx="100000" sy="100000" kx="0" ky="0" algn="bl" rotWithShape="0" blurRad="127000" dist="508" dir="5400000">
              <a:srgbClr val="9AA8B4">
                <a:alpha val="25000"/>
              </a:srgbClr>
            </a:outerShdw>
          </a:effectLst>
        </p:spPr>
      </p:sp>
      <p:sp>
        <p:nvSpPr>
          <p:cNvPr id="8" name="Text 6"/>
          <p:cNvSpPr txBox="1"/>
          <p:nvPr/>
        </p:nvSpPr>
        <p:spPr>
          <a:xfrm>
            <a:off x="1097280" y="2743200"/>
            <a:ext cx="4434840" cy="2560320"/>
          </a:xfrm>
          <a:prstGeom prst="rect">
            <a:avLst/>
          </a:prstGeom>
          <a:noFill/>
          <a:ln/>
        </p:spPr>
        <p:txBody>
          <a:bodyPr wrap="square" lIns="0" tIns="0" rIns="0" bIns="0" rtlCol="0" anchor="t"/>
          <a:lstStyle/>
          <a:p>
            <a:pPr marL="342900" indent="-342900">
              <a:lnSpc>
                <a:spcPts val="1600"/>
              </a:lnSpc>
              <a:spcAft>
                <a:spcPts val="900"/>
              </a:spcAft>
              <a:buSzPct val="100000"/>
              <a:buChar char="•"/>
            </a:pPr>
            <a:r>
              <a:rPr lang="en-US" sz="1150" dirty="0">
                <a:solidFill>
                  <a:srgbClr val="475663"/>
                </a:solidFill>
                <a:latin typeface="Calibri" pitchFamily="34" charset="0"/>
                <a:ea typeface="Calibri" pitchFamily="34" charset="-122"/>
                <a:cs typeface="Calibri" pitchFamily="34" charset="-120"/>
              </a:rPr>
              <a:t>A declared condition is stored as a catalogue identifier. No severity, no dates, no medication, no free text.</a:t>
            </a:r>
            <a:endParaRPr lang="en-US" sz="1150" dirty="0"/>
          </a:p>
          <a:p>
            <a:pPr marL="342900" indent="-342900">
              <a:lnSpc>
                <a:spcPts val="1600"/>
              </a:lnSpc>
              <a:spcAft>
                <a:spcPts val="900"/>
              </a:spcAft>
              <a:buSzPct val="100000"/>
              <a:buChar char="•"/>
            </a:pPr>
            <a:r>
              <a:rPr lang="en-US" sz="1150" dirty="0">
                <a:solidFill>
                  <a:srgbClr val="475663"/>
                </a:solidFill>
                <a:latin typeface="Calibri" pitchFamily="34" charset="0"/>
                <a:ea typeface="Calibri" pitchFamily="34" charset="-122"/>
                <a:cs typeface="Calibri" pitchFamily="34" charset="-120"/>
              </a:rPr>
              <a:t>Deleting an account cascades in the database from the user row — a guarantee, not a callback somebody has to remember.</a:t>
            </a:r>
            <a:endParaRPr lang="en-US" sz="1150" dirty="0"/>
          </a:p>
          <a:p>
            <a:pPr marL="342900" indent="-342900">
              <a:lnSpc>
                <a:spcPts val="1600"/>
              </a:lnSpc>
              <a:spcAft>
                <a:spcPts val="900"/>
              </a:spcAft>
              <a:buSzPct val="100000"/>
              <a:buChar char="•"/>
            </a:pPr>
            <a:r>
              <a:rPr lang="en-US" sz="1150" dirty="0">
                <a:solidFill>
                  <a:srgbClr val="475663"/>
                </a:solidFill>
                <a:latin typeface="Calibri" pitchFamily="34" charset="0"/>
                <a:ea typeface="Calibri" pitchFamily="34" charset="-122"/>
                <a:cs typeface="Calibri" pitchFamily="34" charset="-120"/>
              </a:rPr>
              <a:t>Health data never reaches an organisation view at any cohort size. A test asserts that no module outside the conditions service touches that table.</a:t>
            </a:r>
            <a:endParaRPr lang="en-US" sz="1150" dirty="0"/>
          </a:p>
          <a:p>
            <a:pPr marL="342900" indent="-342900">
              <a:lnSpc>
                <a:spcPts val="1600"/>
              </a:lnSpc>
              <a:buSzPct val="100000"/>
              <a:buChar char="•"/>
            </a:pPr>
            <a:r>
              <a:rPr lang="en-US" sz="1150" dirty="0">
                <a:solidFill>
                  <a:srgbClr val="475663"/>
                </a:solidFill>
                <a:latin typeface="Calibri" pitchFamily="34" charset="0"/>
                <a:ea typeface="Calibri" pitchFamily="34" charset="-122"/>
                <a:cs typeface="Calibri" pitchFamily="34" charset="-120"/>
              </a:rPr>
              <a:t>Analytics identifiers are hashed on arrival with a salt regenerated daily, and never outlive the request.</a:t>
            </a:r>
            <a:endParaRPr lang="en-US" sz="1150" dirty="0"/>
          </a:p>
        </p:txBody>
      </p:sp>
      <p:sp>
        <p:nvSpPr>
          <p:cNvPr id="9" name="Shape 7"/>
          <p:cNvSpPr/>
          <p:nvPr/>
        </p:nvSpPr>
        <p:spPr>
          <a:xfrm>
            <a:off x="6263640" y="2514600"/>
            <a:ext cx="5166360" cy="2971800"/>
          </a:xfrm>
          <a:prstGeom prst="roundRect">
            <a:avLst>
              <a:gd name="adj" fmla="val 2462"/>
            </a:avLst>
          </a:prstGeom>
          <a:solidFill>
            <a:srgbClr val="F4F7F9"/>
          </a:solidFill>
          <a:ln w="12700">
            <a:solidFill>
              <a:srgbClr val="F4F7F9"/>
            </a:solidFill>
            <a:prstDash val="solid"/>
          </a:ln>
          <a:effectLst>
            <a:outerShdw sx="100000" sy="100000" kx="0" ky="0" algn="bl" rotWithShape="0" blurRad="127000" dist="508" dir="5400000">
              <a:srgbClr val="9AA8B4">
                <a:alpha val="25000"/>
              </a:srgbClr>
            </a:outerShdw>
          </a:effectLst>
        </p:spPr>
      </p:sp>
      <p:sp>
        <p:nvSpPr>
          <p:cNvPr id="10" name="Text 8"/>
          <p:cNvSpPr txBox="1"/>
          <p:nvPr/>
        </p:nvSpPr>
        <p:spPr>
          <a:xfrm>
            <a:off x="6629400" y="2743200"/>
            <a:ext cx="4434840" cy="2560320"/>
          </a:xfrm>
          <a:prstGeom prst="rect">
            <a:avLst/>
          </a:prstGeom>
          <a:noFill/>
          <a:ln/>
        </p:spPr>
        <p:txBody>
          <a:bodyPr wrap="square" lIns="0" tIns="0" rIns="0" bIns="0" rtlCol="0" anchor="t"/>
          <a:lstStyle/>
          <a:p>
            <a:pPr marL="342900" indent="-342900">
              <a:lnSpc>
                <a:spcPts val="1600"/>
              </a:lnSpc>
              <a:spcAft>
                <a:spcPts val="900"/>
              </a:spcAft>
              <a:buSzPct val="100000"/>
              <a:buChar char="•"/>
            </a:pPr>
            <a:r>
              <a:rPr lang="en-US" sz="1150" dirty="0">
                <a:solidFill>
                  <a:srgbClr val="475663"/>
                </a:solidFill>
                <a:latin typeface="Calibri" pitchFamily="34" charset="0"/>
                <a:ea typeface="Calibri" pitchFamily="34" charset="-122"/>
                <a:cs typeface="Calibri" pitchFamily="34" charset="-120"/>
              </a:rPr>
              <a:t>No external WCAG 2.2 AA audit and no VPAT. Accessibility is designed for and tested in places, not certified.</a:t>
            </a:r>
            <a:endParaRPr lang="en-US" sz="1150" dirty="0"/>
          </a:p>
          <a:p>
            <a:pPr marL="342900" indent="-342900">
              <a:lnSpc>
                <a:spcPts val="1600"/>
              </a:lnSpc>
              <a:spcAft>
                <a:spcPts val="900"/>
              </a:spcAft>
              <a:buSzPct val="100000"/>
              <a:buChar char="•"/>
            </a:pPr>
            <a:r>
              <a:rPr lang="en-US" sz="1150" dirty="0">
                <a:solidFill>
                  <a:srgbClr val="475663"/>
                </a:solidFill>
                <a:latin typeface="Calibri" pitchFamily="34" charset="0"/>
                <a:ea typeface="Calibri" pitchFamily="34" charset="-122"/>
                <a:cs typeface="Calibri" pitchFamily="34" charset="-120"/>
              </a:rPr>
              <a:t>Age is self-declared. Ofcom’s position is that self-declaration is not highly effective age assurance.</a:t>
            </a:r>
            <a:endParaRPr lang="en-US" sz="1150" dirty="0"/>
          </a:p>
          <a:p>
            <a:pPr marL="342900" indent="-342900">
              <a:lnSpc>
                <a:spcPts val="1600"/>
              </a:lnSpc>
              <a:spcAft>
                <a:spcPts val="900"/>
              </a:spcAft>
              <a:buSzPct val="100000"/>
              <a:buChar char="•"/>
            </a:pPr>
            <a:r>
              <a:rPr lang="en-US" sz="1150" dirty="0">
                <a:solidFill>
                  <a:srgbClr val="475663"/>
                </a:solidFill>
                <a:latin typeface="Calibri" pitchFamily="34" charset="0"/>
                <a:ea typeface="Calibri" pitchFamily="34" charset="-122"/>
                <a:cs typeface="Calibri" pitchFamily="34" charset="-120"/>
              </a:rPr>
              <a:t>A member can read their whole record through their own endpoints, but there is no one-click export archive yet.</a:t>
            </a:r>
            <a:endParaRPr lang="en-US" sz="1150" dirty="0"/>
          </a:p>
          <a:p>
            <a:pPr marL="342900" indent="-342900">
              <a:lnSpc>
                <a:spcPts val="1600"/>
              </a:lnSpc>
              <a:buSzPct val="100000"/>
              <a:buChar char="•"/>
            </a:pPr>
            <a:r>
              <a:rPr lang="en-US" sz="1150" dirty="0">
                <a:solidFill>
                  <a:srgbClr val="475663"/>
                </a:solidFill>
                <a:latin typeface="Calibri" pitchFamily="34" charset="0"/>
                <a:ea typeface="Calibri" pitchFamily="34" charset="-122"/>
                <a:cs typeface="Calibri" pitchFamily="34" charset="-120"/>
              </a:rPr>
              <a:t>The Clinical Safety Officer appointment record is incomplete against DCB0129, and the hazard log says so itself.</a:t>
            </a:r>
            <a:endParaRPr lang="en-US" sz="1150" dirty="0"/>
          </a:p>
        </p:txBody>
      </p:sp>
      <p:sp>
        <p:nvSpPr>
          <p:cNvPr id="11" name="Text 9"/>
          <p:cNvSpPr txBox="1"/>
          <p:nvPr/>
        </p:nvSpPr>
        <p:spPr>
          <a:xfrm>
            <a:off x="731520" y="5715000"/>
            <a:ext cx="10698480" cy="640080"/>
          </a:xfrm>
          <a:prstGeom prst="rect">
            <a:avLst/>
          </a:prstGeom>
          <a:noFill/>
          <a:ln/>
        </p:spPr>
        <p:txBody>
          <a:bodyPr wrap="square" lIns="0" tIns="0" rIns="0" bIns="0" rtlCol="0" anchor="ctr"/>
          <a:lstStyle/>
          <a:p>
            <a:pPr indent="0" marL="0">
              <a:lnSpc>
                <a:spcPts val="1800"/>
              </a:lnSpc>
              <a:buNone/>
            </a:pPr>
            <a:r>
              <a:rPr lang="en-US" sz="1250" i="1" dirty="0">
                <a:solidFill>
                  <a:srgbClr val="475663"/>
                </a:solidFill>
                <a:latin typeface="Calibri" pitchFamily="34" charset="0"/>
                <a:ea typeface="Calibri" pitchFamily="34" charset="-122"/>
                <a:cs typeface="Calibri" pitchFamily="34" charset="-120"/>
              </a:rPr>
              <a:t>The right-hand column is not a list we were pushed into. It is what GET /api/assurance returns when anybody calls it, with the gaps lifted to the top of the response rather than left to be found area by area.</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690372"/>
            <a:ext cx="118872" cy="118872"/>
          </a:xfrm>
          <a:prstGeom prst="ellipse">
            <a:avLst/>
          </a:prstGeom>
          <a:solidFill>
            <a:srgbClr val="00A99D"/>
          </a:solidFill>
          <a:ln/>
        </p:spPr>
      </p:sp>
      <p:sp>
        <p:nvSpPr>
          <p:cNvPr id="3" name="Text 1"/>
          <p:cNvSpPr txBox="1"/>
          <p:nvPr/>
        </p:nvSpPr>
        <p:spPr>
          <a:xfrm>
            <a:off x="969264" y="640080"/>
            <a:ext cx="7315200" cy="274320"/>
          </a:xfrm>
          <a:prstGeom prst="rect">
            <a:avLst/>
          </a:prstGeom>
          <a:noFill/>
          <a:ln/>
        </p:spPr>
        <p:txBody>
          <a:bodyPr wrap="square" lIns="0" tIns="0" rIns="0" bIns="0" rtlCol="0" anchor="ctr"/>
          <a:lstStyle/>
          <a:p>
            <a:pPr indent="0" marL="0">
              <a:buNone/>
            </a:pPr>
            <a:r>
              <a:rPr lang="en-US" sz="1200" b="1" spc="200" kern="0" dirty="0">
                <a:solidFill>
                  <a:srgbClr val="00A99D"/>
                </a:solidFill>
                <a:latin typeface="Arial" pitchFamily="34" charset="0"/>
                <a:ea typeface="Arial" pitchFamily="34" charset="-122"/>
                <a:cs typeface="Arial" pitchFamily="34" charset="-120"/>
              </a:rPr>
              <a:t>COMMERCIALS</a:t>
            </a:r>
            <a:endParaRPr lang="en-US" sz="1200" dirty="0"/>
          </a:p>
        </p:txBody>
      </p:sp>
      <p:sp>
        <p:nvSpPr>
          <p:cNvPr id="4" name="Text 2"/>
          <p:cNvSpPr txBox="1"/>
          <p:nvPr/>
        </p:nvSpPr>
        <p:spPr>
          <a:xfrm>
            <a:off x="731520" y="1051560"/>
            <a:ext cx="10698480" cy="1005840"/>
          </a:xfrm>
          <a:prstGeom prst="rect">
            <a:avLst/>
          </a:prstGeom>
          <a:noFill/>
          <a:ln/>
        </p:spPr>
        <p:txBody>
          <a:bodyPr wrap="square" lIns="0" tIns="0" rIns="0" bIns="0" rtlCol="0" anchor="ctr"/>
          <a:lstStyle/>
          <a:p>
            <a:pPr indent="0" marL="0">
              <a:buNone/>
            </a:pPr>
            <a:r>
              <a:rPr lang="en-US" sz="3800" b="1" dirty="0">
                <a:solidFill>
                  <a:srgbClr val="102A43"/>
                </a:solidFill>
                <a:latin typeface="Cambria" pitchFamily="34" charset="0"/>
                <a:ea typeface="Cambria" pitchFamily="34" charset="-122"/>
                <a:cs typeface="Cambria" pitchFamily="34" charset="-120"/>
              </a:rPr>
              <a:t>From £2 per employee per month.</a:t>
            </a:r>
            <a:endParaRPr lang="en-US" sz="3800" dirty="0"/>
          </a:p>
        </p:txBody>
      </p:sp>
      <p:sp>
        <p:nvSpPr>
          <p:cNvPr id="5" name="Shape 3"/>
          <p:cNvSpPr/>
          <p:nvPr/>
        </p:nvSpPr>
        <p:spPr>
          <a:xfrm>
            <a:off x="731520" y="2194560"/>
            <a:ext cx="5166360" cy="3200400"/>
          </a:xfrm>
          <a:prstGeom prst="roundRect">
            <a:avLst>
              <a:gd name="adj" fmla="val 2286"/>
            </a:avLst>
          </a:prstGeom>
          <a:solidFill>
            <a:srgbClr val="102A43"/>
          </a:solidFill>
          <a:ln w="12700">
            <a:solidFill>
              <a:srgbClr val="102A43"/>
            </a:solidFill>
            <a:prstDash val="solid"/>
          </a:ln>
          <a:effectLst>
            <a:outerShdw sx="100000" sy="100000" kx="0" ky="0" algn="bl" rotWithShape="0" blurRad="127000" dist="508" dir="5400000">
              <a:srgbClr val="9AA8B4">
                <a:alpha val="25000"/>
              </a:srgbClr>
            </a:outerShdw>
          </a:effectLst>
        </p:spPr>
      </p:sp>
      <p:sp>
        <p:nvSpPr>
          <p:cNvPr id="6" name="Text 4"/>
          <p:cNvSpPr txBox="1"/>
          <p:nvPr/>
        </p:nvSpPr>
        <p:spPr>
          <a:xfrm>
            <a:off x="1143000" y="2560320"/>
            <a:ext cx="4114800" cy="914400"/>
          </a:xfrm>
          <a:prstGeom prst="rect">
            <a:avLst/>
          </a:prstGeom>
          <a:noFill/>
          <a:ln/>
        </p:spPr>
        <p:txBody>
          <a:bodyPr wrap="square" lIns="0" tIns="0" rIns="0" bIns="0" rtlCol="0" anchor="ctr"/>
          <a:lstStyle/>
          <a:p>
            <a:pPr indent="0" marL="0">
              <a:buNone/>
            </a:pPr>
            <a:r>
              <a:rPr lang="en-US" sz="5400" b="1" dirty="0">
                <a:solidFill>
                  <a:srgbClr val="B7E436"/>
                </a:solidFill>
                <a:latin typeface="Cambria" pitchFamily="34" charset="0"/>
                <a:ea typeface="Cambria" pitchFamily="34" charset="-122"/>
                <a:cs typeface="Cambria" pitchFamily="34" charset="-120"/>
              </a:rPr>
              <a:t>from £2</a:t>
            </a:r>
            <a:endParaRPr lang="en-US" sz="5400" dirty="0"/>
          </a:p>
        </p:txBody>
      </p:sp>
      <p:sp>
        <p:nvSpPr>
          <p:cNvPr id="7" name="Text 5"/>
          <p:cNvSpPr txBox="1"/>
          <p:nvPr/>
        </p:nvSpPr>
        <p:spPr>
          <a:xfrm>
            <a:off x="1143000" y="3520440"/>
            <a:ext cx="4114800" cy="3200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per seat, per month</a:t>
            </a:r>
            <a:endParaRPr lang="en-US" sz="1400" dirty="0"/>
          </a:p>
        </p:txBody>
      </p:sp>
      <p:sp>
        <p:nvSpPr>
          <p:cNvPr id="8" name="Text 6"/>
          <p:cNvSpPr txBox="1"/>
          <p:nvPr/>
        </p:nvSpPr>
        <p:spPr>
          <a:xfrm>
            <a:off x="1143000" y="4023360"/>
            <a:ext cx="4343400" cy="1097280"/>
          </a:xfrm>
          <a:prstGeom prst="rect">
            <a:avLst/>
          </a:prstGeom>
          <a:noFill/>
          <a:ln/>
        </p:spPr>
        <p:txBody>
          <a:bodyPr wrap="square" lIns="0" tIns="0" rIns="0" bIns="0" rtlCol="0" anchor="ctr"/>
          <a:lstStyle/>
          <a:p>
            <a:pPr indent="0" marL="0">
              <a:lnSpc>
                <a:spcPts val="1900"/>
              </a:lnSpc>
              <a:buNone/>
            </a:pPr>
            <a:r>
              <a:rPr lang="en-US" sz="1250" dirty="0">
                <a:solidFill>
                  <a:srgbClr val="B8C6D1"/>
                </a:solidFill>
                <a:latin typeface="Calibri" pitchFamily="34" charset="0"/>
                <a:ea typeface="Calibri" pitchFamily="34" charset="-122"/>
                <a:cs typeface="Calibri" pitchFamily="34" charset="-120"/>
              </a:rPr>
              <a:t>The floor, not a teaser. Up to £5 depending on sector, seat count and support level. Organisation deals are contracts, so the figure is agreed rather than picked at a checkout.</a:t>
            </a:r>
            <a:endParaRPr lang="en-US" sz="1250" dirty="0"/>
          </a:p>
        </p:txBody>
      </p:sp>
      <p:sp>
        <p:nvSpPr>
          <p:cNvPr id="9" name="Shape 7"/>
          <p:cNvSpPr/>
          <p:nvPr/>
        </p:nvSpPr>
        <p:spPr>
          <a:xfrm>
            <a:off x="6263640" y="2194560"/>
            <a:ext cx="5166360" cy="621792"/>
          </a:xfrm>
          <a:prstGeom prst="roundRect">
            <a:avLst>
              <a:gd name="adj" fmla="val 11765"/>
            </a:avLst>
          </a:prstGeom>
          <a:solidFill>
            <a:srgbClr val="F4F7F9"/>
          </a:solidFill>
          <a:ln w="12700">
            <a:solidFill>
              <a:srgbClr val="F4F7F9"/>
            </a:solidFill>
            <a:prstDash val="solid"/>
          </a:ln>
          <a:effectLst>
            <a:outerShdw sx="100000" sy="100000" kx="0" ky="0" algn="bl" rotWithShape="0" blurRad="127000" dist="508" dir="5400000">
              <a:srgbClr val="9AA8B4">
                <a:alpha val="25000"/>
              </a:srgbClr>
            </a:outerShdw>
          </a:effectLst>
        </p:spPr>
      </p:sp>
      <p:sp>
        <p:nvSpPr>
          <p:cNvPr id="10" name="Text 8"/>
          <p:cNvSpPr txBox="1"/>
          <p:nvPr/>
        </p:nvSpPr>
        <p:spPr>
          <a:xfrm>
            <a:off x="6583680" y="2304288"/>
            <a:ext cx="4572000" cy="274320"/>
          </a:xfrm>
          <a:prstGeom prst="rect">
            <a:avLst/>
          </a:prstGeom>
          <a:noFill/>
          <a:ln/>
        </p:spPr>
        <p:txBody>
          <a:bodyPr wrap="square" lIns="0" tIns="0" rIns="0" bIns="0" rtlCol="0" anchor="ctr"/>
          <a:lstStyle/>
          <a:p>
            <a:pPr indent="0" marL="0">
              <a:buNone/>
            </a:pPr>
            <a:r>
              <a:rPr lang="en-US" sz="1300" b="1" dirty="0">
                <a:solidFill>
                  <a:srgbClr val="102A43"/>
                </a:solidFill>
                <a:latin typeface="Arial" pitchFamily="34" charset="0"/>
                <a:ea typeface="Arial" pitchFamily="34" charset="-122"/>
                <a:cs typeface="Arial" pitchFamily="34" charset="-120"/>
              </a:rPr>
              <a:t>Minimum 10 seats</a:t>
            </a:r>
            <a:endParaRPr lang="en-US" sz="1300" dirty="0"/>
          </a:p>
        </p:txBody>
      </p:sp>
      <p:sp>
        <p:nvSpPr>
          <p:cNvPr id="11" name="Text 9"/>
          <p:cNvSpPr txBox="1"/>
          <p:nvPr/>
        </p:nvSpPr>
        <p:spPr>
          <a:xfrm>
            <a:off x="6583680" y="2578608"/>
            <a:ext cx="4572000" cy="274320"/>
          </a:xfrm>
          <a:prstGeom prst="rect">
            <a:avLst/>
          </a:prstGeom>
          <a:noFill/>
          <a:ln/>
        </p:spPr>
        <p:txBody>
          <a:bodyPr wrap="square" lIns="0" tIns="0" rIns="0" bIns="0" rtlCol="0" anchor="ctr"/>
          <a:lstStyle/>
          <a:p>
            <a:pPr indent="0" marL="0">
              <a:buNone/>
            </a:pPr>
            <a:r>
              <a:rPr lang="en-US" sz="1150" dirty="0">
                <a:solidFill>
                  <a:srgbClr val="475663"/>
                </a:solidFill>
                <a:latin typeface="Calibri" pitchFamily="34" charset="0"/>
                <a:ea typeface="Calibri" pitchFamily="34" charset="-122"/>
                <a:cs typeface="Calibri" pitchFamily="34" charset="-120"/>
              </a:rPr>
              <a:t>And a minimum annual contract.</a:t>
            </a:r>
            <a:endParaRPr lang="en-US" sz="1150" dirty="0"/>
          </a:p>
        </p:txBody>
      </p:sp>
      <p:sp>
        <p:nvSpPr>
          <p:cNvPr id="12" name="Shape 10"/>
          <p:cNvSpPr/>
          <p:nvPr/>
        </p:nvSpPr>
        <p:spPr>
          <a:xfrm>
            <a:off x="6263640" y="3063240"/>
            <a:ext cx="5166360" cy="621792"/>
          </a:xfrm>
          <a:prstGeom prst="roundRect">
            <a:avLst>
              <a:gd name="adj" fmla="val 11765"/>
            </a:avLst>
          </a:prstGeom>
          <a:solidFill>
            <a:srgbClr val="F4F7F9"/>
          </a:solidFill>
          <a:ln w="12700">
            <a:solidFill>
              <a:srgbClr val="F4F7F9"/>
            </a:solidFill>
            <a:prstDash val="solid"/>
          </a:ln>
          <a:effectLst>
            <a:outerShdw sx="100000" sy="100000" kx="0" ky="0" algn="bl" rotWithShape="0" blurRad="127000" dist="508" dir="5400000">
              <a:srgbClr val="9AA8B4">
                <a:alpha val="25000"/>
              </a:srgbClr>
            </a:outerShdw>
          </a:effectLst>
        </p:spPr>
      </p:sp>
      <p:sp>
        <p:nvSpPr>
          <p:cNvPr id="13" name="Text 11"/>
          <p:cNvSpPr txBox="1"/>
          <p:nvPr/>
        </p:nvSpPr>
        <p:spPr>
          <a:xfrm>
            <a:off x="6583680" y="3172968"/>
            <a:ext cx="4572000" cy="274320"/>
          </a:xfrm>
          <a:prstGeom prst="rect">
            <a:avLst/>
          </a:prstGeom>
          <a:noFill/>
          <a:ln/>
        </p:spPr>
        <p:txBody>
          <a:bodyPr wrap="square" lIns="0" tIns="0" rIns="0" bIns="0" rtlCol="0" anchor="ctr"/>
          <a:lstStyle/>
          <a:p>
            <a:pPr indent="0" marL="0">
              <a:buNone/>
            </a:pPr>
            <a:r>
              <a:rPr lang="en-US" sz="1300" b="1" dirty="0">
                <a:solidFill>
                  <a:srgbClr val="102A43"/>
                </a:solidFill>
                <a:latin typeface="Arial" pitchFamily="34" charset="0"/>
                <a:ea typeface="Arial" pitchFamily="34" charset="-122"/>
                <a:cs typeface="Arial" pitchFamily="34" charset="-120"/>
              </a:rPr>
              <a:t>Challenge builder and campaigns</a:t>
            </a:r>
            <a:endParaRPr lang="en-US" sz="1300" dirty="0"/>
          </a:p>
        </p:txBody>
      </p:sp>
      <p:sp>
        <p:nvSpPr>
          <p:cNvPr id="14" name="Text 12"/>
          <p:cNvSpPr txBox="1"/>
          <p:nvPr/>
        </p:nvSpPr>
        <p:spPr>
          <a:xfrm>
            <a:off x="6583680" y="3447288"/>
            <a:ext cx="4572000" cy="274320"/>
          </a:xfrm>
          <a:prstGeom prst="rect">
            <a:avLst/>
          </a:prstGeom>
          <a:noFill/>
          <a:ln/>
        </p:spPr>
        <p:txBody>
          <a:bodyPr wrap="square" lIns="0" tIns="0" rIns="0" bIns="0" rtlCol="0" anchor="ctr"/>
          <a:lstStyle/>
          <a:p>
            <a:pPr indent="0" marL="0">
              <a:buNone/>
            </a:pPr>
            <a:r>
              <a:rPr lang="en-US" sz="1150" dirty="0">
                <a:solidFill>
                  <a:srgbClr val="475663"/>
                </a:solidFill>
                <a:latin typeface="Calibri" pitchFamily="34" charset="0"/>
                <a:ea typeface="Calibri" pitchFamily="34" charset="-122"/>
                <a:cs typeface="Calibri" pitchFamily="34" charset="-120"/>
              </a:rPr>
              <a:t>Branded to your organisation.</a:t>
            </a:r>
            <a:endParaRPr lang="en-US" sz="1150" dirty="0"/>
          </a:p>
        </p:txBody>
      </p:sp>
      <p:sp>
        <p:nvSpPr>
          <p:cNvPr id="15" name="Shape 13"/>
          <p:cNvSpPr/>
          <p:nvPr/>
        </p:nvSpPr>
        <p:spPr>
          <a:xfrm>
            <a:off x="6263640" y="3931920"/>
            <a:ext cx="5166360" cy="621792"/>
          </a:xfrm>
          <a:prstGeom prst="roundRect">
            <a:avLst>
              <a:gd name="adj" fmla="val 11765"/>
            </a:avLst>
          </a:prstGeom>
          <a:solidFill>
            <a:srgbClr val="F4F7F9"/>
          </a:solidFill>
          <a:ln w="12700">
            <a:solidFill>
              <a:srgbClr val="F4F7F9"/>
            </a:solidFill>
            <a:prstDash val="solid"/>
          </a:ln>
          <a:effectLst>
            <a:outerShdw sx="100000" sy="100000" kx="0" ky="0" algn="bl" rotWithShape="0" blurRad="127000" dist="508" dir="5400000">
              <a:srgbClr val="9AA8B4">
                <a:alpha val="25000"/>
              </a:srgbClr>
            </a:outerShdw>
          </a:effectLst>
        </p:spPr>
      </p:sp>
      <p:sp>
        <p:nvSpPr>
          <p:cNvPr id="16" name="Text 14"/>
          <p:cNvSpPr txBox="1"/>
          <p:nvPr/>
        </p:nvSpPr>
        <p:spPr>
          <a:xfrm>
            <a:off x="6583680" y="4041648"/>
            <a:ext cx="4572000" cy="274320"/>
          </a:xfrm>
          <a:prstGeom prst="rect">
            <a:avLst/>
          </a:prstGeom>
          <a:noFill/>
          <a:ln/>
        </p:spPr>
        <p:txBody>
          <a:bodyPr wrap="square" lIns="0" tIns="0" rIns="0" bIns="0" rtlCol="0" anchor="ctr"/>
          <a:lstStyle/>
          <a:p>
            <a:pPr indent="0" marL="0">
              <a:buNone/>
            </a:pPr>
            <a:r>
              <a:rPr lang="en-US" sz="1300" b="1" dirty="0">
                <a:solidFill>
                  <a:srgbClr val="102A43"/>
                </a:solidFill>
                <a:latin typeface="Arial" pitchFamily="34" charset="0"/>
                <a:ea typeface="Arial" pitchFamily="34" charset="-122"/>
                <a:cs typeface="Arial" pitchFamily="34" charset="-120"/>
              </a:rPr>
              <a:t>Setup and integration support</a:t>
            </a:r>
            <a:endParaRPr lang="en-US" sz="1300" dirty="0"/>
          </a:p>
        </p:txBody>
      </p:sp>
      <p:sp>
        <p:nvSpPr>
          <p:cNvPr id="17" name="Text 15"/>
          <p:cNvSpPr txBox="1"/>
          <p:nvPr/>
        </p:nvSpPr>
        <p:spPr>
          <a:xfrm>
            <a:off x="6583680" y="4315968"/>
            <a:ext cx="4572000" cy="274320"/>
          </a:xfrm>
          <a:prstGeom prst="rect">
            <a:avLst/>
          </a:prstGeom>
          <a:noFill/>
          <a:ln/>
        </p:spPr>
        <p:txBody>
          <a:bodyPr wrap="square" lIns="0" tIns="0" rIns="0" bIns="0" rtlCol="0" anchor="ctr"/>
          <a:lstStyle/>
          <a:p>
            <a:pPr indent="0" marL="0">
              <a:buNone/>
            </a:pPr>
            <a:r>
              <a:rPr lang="en-US" sz="1150" dirty="0">
                <a:solidFill>
                  <a:srgbClr val="475663"/>
                </a:solidFill>
                <a:latin typeface="Calibri" pitchFamily="34" charset="0"/>
                <a:ea typeface="Calibri" pitchFamily="34" charset="-122"/>
                <a:cs typeface="Calibri" pitchFamily="34" charset="-120"/>
              </a:rPr>
              <a:t>Included in every contract.</a:t>
            </a:r>
            <a:endParaRPr lang="en-US" sz="1150" dirty="0"/>
          </a:p>
        </p:txBody>
      </p:sp>
      <p:sp>
        <p:nvSpPr>
          <p:cNvPr id="18" name="Shape 16"/>
          <p:cNvSpPr/>
          <p:nvPr/>
        </p:nvSpPr>
        <p:spPr>
          <a:xfrm>
            <a:off x="6263640" y="4800600"/>
            <a:ext cx="5166360" cy="621792"/>
          </a:xfrm>
          <a:prstGeom prst="roundRect">
            <a:avLst>
              <a:gd name="adj" fmla="val 11765"/>
            </a:avLst>
          </a:prstGeom>
          <a:solidFill>
            <a:srgbClr val="F4F7F9"/>
          </a:solidFill>
          <a:ln w="12700">
            <a:solidFill>
              <a:srgbClr val="F4F7F9"/>
            </a:solidFill>
            <a:prstDash val="solid"/>
          </a:ln>
          <a:effectLst>
            <a:outerShdw sx="100000" sy="100000" kx="0" ky="0" algn="bl" rotWithShape="0" blurRad="127000" dist="508" dir="5400000">
              <a:srgbClr val="9AA8B4">
                <a:alpha val="25000"/>
              </a:srgbClr>
            </a:outerShdw>
          </a:effectLst>
        </p:spPr>
      </p:sp>
      <p:sp>
        <p:nvSpPr>
          <p:cNvPr id="19" name="Text 17"/>
          <p:cNvSpPr txBox="1"/>
          <p:nvPr/>
        </p:nvSpPr>
        <p:spPr>
          <a:xfrm>
            <a:off x="6583680" y="4910328"/>
            <a:ext cx="4572000" cy="274320"/>
          </a:xfrm>
          <a:prstGeom prst="rect">
            <a:avLst/>
          </a:prstGeom>
          <a:noFill/>
          <a:ln/>
        </p:spPr>
        <p:txBody>
          <a:bodyPr wrap="square" lIns="0" tIns="0" rIns="0" bIns="0" rtlCol="0" anchor="ctr"/>
          <a:lstStyle/>
          <a:p>
            <a:pPr indent="0" marL="0">
              <a:buNone/>
            </a:pPr>
            <a:r>
              <a:rPr lang="en-US" sz="1300" b="1" dirty="0">
                <a:solidFill>
                  <a:srgbClr val="102A43"/>
                </a:solidFill>
                <a:latin typeface="Arial" pitchFamily="34" charset="0"/>
                <a:ea typeface="Arial" pitchFamily="34" charset="-122"/>
                <a:cs typeface="Arial" pitchFamily="34" charset="-120"/>
              </a:rPr>
              <a:t>Single sign-on and directory sync</a:t>
            </a:r>
            <a:endParaRPr lang="en-US" sz="1300" dirty="0"/>
          </a:p>
        </p:txBody>
      </p:sp>
      <p:sp>
        <p:nvSpPr>
          <p:cNvPr id="20" name="Text 18"/>
          <p:cNvSpPr txBox="1"/>
          <p:nvPr/>
        </p:nvSpPr>
        <p:spPr>
          <a:xfrm>
            <a:off x="6583680" y="5184648"/>
            <a:ext cx="4572000" cy="274320"/>
          </a:xfrm>
          <a:prstGeom prst="rect">
            <a:avLst/>
          </a:prstGeom>
          <a:noFill/>
          <a:ln/>
        </p:spPr>
        <p:txBody>
          <a:bodyPr wrap="square" lIns="0" tIns="0" rIns="0" bIns="0" rtlCol="0" anchor="ctr"/>
          <a:lstStyle/>
          <a:p>
            <a:pPr indent="0" marL="0">
              <a:buNone/>
            </a:pPr>
            <a:r>
              <a:rPr lang="en-US" sz="1150" dirty="0">
                <a:solidFill>
                  <a:srgbClr val="475663"/>
                </a:solidFill>
                <a:latin typeface="Calibri" pitchFamily="34" charset="0"/>
                <a:ea typeface="Calibri" pitchFamily="34" charset="-122"/>
                <a:cs typeface="Calibri" pitchFamily="34" charset="-120"/>
              </a:rPr>
              <a:t>Contracted, not yet built. Delivered inside the pilot.</a:t>
            </a:r>
            <a:endParaRPr lang="en-US" sz="1150" dirty="0"/>
          </a:p>
        </p:txBody>
      </p:sp>
      <p:sp>
        <p:nvSpPr>
          <p:cNvPr id="21" name="Text 19"/>
          <p:cNvSpPr txBox="1"/>
          <p:nvPr/>
        </p:nvSpPr>
        <p:spPr>
          <a:xfrm>
            <a:off x="731520" y="5623560"/>
            <a:ext cx="10698480" cy="548640"/>
          </a:xfrm>
          <a:prstGeom prst="rect">
            <a:avLst/>
          </a:prstGeom>
          <a:noFill/>
          <a:ln/>
        </p:spPr>
        <p:txBody>
          <a:bodyPr wrap="square" lIns="0" tIns="0" rIns="0" bIns="0" rtlCol="0" anchor="ctr"/>
          <a:lstStyle/>
          <a:p>
            <a:pPr indent="0" marL="0">
              <a:lnSpc>
                <a:spcPts val="1900"/>
              </a:lnSpc>
              <a:buNone/>
            </a:pPr>
            <a:r>
              <a:rPr lang="en-US" sz="1300" i="1" dirty="0">
                <a:solidFill>
                  <a:srgbClr val="00A99D"/>
                </a:solidFill>
                <a:latin typeface="Calibri" pitchFamily="34" charset="0"/>
                <a:ea typeface="Calibri" pitchFamily="34" charset="-122"/>
                <a:cs typeface="Calibri" pitchFamily="34" charset="-120"/>
              </a:rPr>
              <a:t>Design partners are priced at the floor for the first year, in exchange for feedback and a reference once there is something real to reference.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690372"/>
            <a:ext cx="118872" cy="118872"/>
          </a:xfrm>
          <a:prstGeom prst="ellipse">
            <a:avLst/>
          </a:prstGeom>
          <a:solidFill>
            <a:srgbClr val="00A99D"/>
          </a:solidFill>
          <a:ln/>
        </p:spPr>
      </p:sp>
      <p:sp>
        <p:nvSpPr>
          <p:cNvPr id="3" name="Text 1"/>
          <p:cNvSpPr txBox="1"/>
          <p:nvPr/>
        </p:nvSpPr>
        <p:spPr>
          <a:xfrm>
            <a:off x="969264" y="640080"/>
            <a:ext cx="7315200" cy="274320"/>
          </a:xfrm>
          <a:prstGeom prst="rect">
            <a:avLst/>
          </a:prstGeom>
          <a:noFill/>
          <a:ln/>
        </p:spPr>
        <p:txBody>
          <a:bodyPr wrap="square" lIns="0" tIns="0" rIns="0" bIns="0" rtlCol="0" anchor="ctr"/>
          <a:lstStyle/>
          <a:p>
            <a:pPr indent="0" marL="0">
              <a:buNone/>
            </a:pPr>
            <a:r>
              <a:rPr lang="en-US" sz="1200" b="1" spc="200" kern="0" dirty="0">
                <a:solidFill>
                  <a:srgbClr val="00A99D"/>
                </a:solidFill>
                <a:latin typeface="Arial" pitchFamily="34" charset="0"/>
                <a:ea typeface="Arial" pitchFamily="34" charset="-122"/>
                <a:cs typeface="Arial" pitchFamily="34" charset="-120"/>
              </a:rPr>
              <a:t>THE ASK</a:t>
            </a:r>
            <a:endParaRPr lang="en-US" sz="1200" dirty="0"/>
          </a:p>
        </p:txBody>
      </p:sp>
      <p:sp>
        <p:nvSpPr>
          <p:cNvPr id="4" name="Text 2"/>
          <p:cNvSpPr txBox="1"/>
          <p:nvPr/>
        </p:nvSpPr>
        <p:spPr>
          <a:xfrm>
            <a:off x="731520" y="1051560"/>
            <a:ext cx="10698480" cy="1005840"/>
          </a:xfrm>
          <a:prstGeom prst="rect">
            <a:avLst/>
          </a:prstGeom>
          <a:noFill/>
          <a:ln/>
        </p:spPr>
        <p:txBody>
          <a:bodyPr wrap="square" lIns="0" tIns="0" rIns="0" bIns="0" rtlCol="0" anchor="ctr"/>
          <a:lstStyle/>
          <a:p>
            <a:pPr indent="0" marL="0">
              <a:buNone/>
            </a:pPr>
            <a:r>
              <a:rPr lang="en-US" sz="3400" b="1" dirty="0">
                <a:solidFill>
                  <a:srgbClr val="102A43"/>
                </a:solidFill>
                <a:latin typeface="Cambria" pitchFamily="34" charset="0"/>
                <a:ea typeface="Cambria" pitchFamily="34" charset="-122"/>
                <a:cs typeface="Cambria" pitchFamily="34" charset="-120"/>
              </a:rPr>
              <a:t>A twelve-week pilot,</a:t>
            </a:r>
            <a:endParaRPr lang="en-US" sz="3400" dirty="0"/>
          </a:p>
          <a:p>
            <a:pPr indent="0" marL="0">
              <a:buNone/>
            </a:pPr>
            <a:r>
              <a:rPr lang="en-US" sz="3400" b="1" dirty="0">
                <a:solidFill>
                  <a:srgbClr val="102A43"/>
                </a:solidFill>
                <a:latin typeface="Cambria" pitchFamily="34" charset="0"/>
                <a:ea typeface="Cambria" pitchFamily="34" charset="-122"/>
                <a:cs typeface="Cambria" pitchFamily="34" charset="-120"/>
              </a:rPr>
              <a:t>one team, no procurement epic.</a:t>
            </a:r>
            <a:endParaRPr lang="en-US" sz="3400" dirty="0"/>
          </a:p>
        </p:txBody>
      </p:sp>
      <p:sp>
        <p:nvSpPr>
          <p:cNvPr id="5" name="Shape 3"/>
          <p:cNvSpPr/>
          <p:nvPr/>
        </p:nvSpPr>
        <p:spPr>
          <a:xfrm>
            <a:off x="731520" y="2514600"/>
            <a:ext cx="3502152" cy="2377440"/>
          </a:xfrm>
          <a:prstGeom prst="roundRect">
            <a:avLst>
              <a:gd name="adj" fmla="val 3077"/>
            </a:avLst>
          </a:prstGeom>
          <a:solidFill>
            <a:srgbClr val="F4F7F9"/>
          </a:solidFill>
          <a:ln w="12700">
            <a:solidFill>
              <a:srgbClr val="F4F7F9"/>
            </a:solidFill>
            <a:prstDash val="solid"/>
          </a:ln>
          <a:effectLst>
            <a:outerShdw sx="100000" sy="100000" kx="0" ky="0" algn="bl" rotWithShape="0" blurRad="127000" dist="508" dir="5400000">
              <a:srgbClr val="9AA8B4">
                <a:alpha val="25000"/>
              </a:srgbClr>
            </a:outerShdw>
          </a:effectLst>
        </p:spPr>
      </p:sp>
      <p:sp>
        <p:nvSpPr>
          <p:cNvPr id="6" name="Shape 4"/>
          <p:cNvSpPr/>
          <p:nvPr/>
        </p:nvSpPr>
        <p:spPr>
          <a:xfrm>
            <a:off x="1051560" y="2743200"/>
            <a:ext cx="548640" cy="548640"/>
          </a:xfrm>
          <a:prstGeom prst="ellipse">
            <a:avLst/>
          </a:prstGeom>
          <a:solidFill>
            <a:srgbClr val="00A99D"/>
          </a:solidFill>
          <a:ln/>
        </p:spPr>
      </p:sp>
      <p:sp>
        <p:nvSpPr>
          <p:cNvPr id="7" name="Text 5"/>
          <p:cNvSpPr txBox="1"/>
          <p:nvPr/>
        </p:nvSpPr>
        <p:spPr>
          <a:xfrm>
            <a:off x="1051560" y="2816352"/>
            <a:ext cx="548640" cy="4114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Text 6"/>
          <p:cNvSpPr txBox="1"/>
          <p:nvPr/>
        </p:nvSpPr>
        <p:spPr>
          <a:xfrm>
            <a:off x="1051560" y="3456432"/>
            <a:ext cx="2834640" cy="320040"/>
          </a:xfrm>
          <a:prstGeom prst="rect">
            <a:avLst/>
          </a:prstGeom>
          <a:noFill/>
          <a:ln/>
        </p:spPr>
        <p:txBody>
          <a:bodyPr wrap="square" lIns="0" tIns="0" rIns="0" bIns="0" rtlCol="0" anchor="ctr"/>
          <a:lstStyle/>
          <a:p>
            <a:pPr indent="0" marL="0">
              <a:buNone/>
            </a:pPr>
            <a:r>
              <a:rPr lang="en-US" sz="1500" b="1" dirty="0">
                <a:solidFill>
                  <a:srgbClr val="102A43"/>
                </a:solidFill>
                <a:latin typeface="Arial" pitchFamily="34" charset="0"/>
                <a:ea typeface="Arial" pitchFamily="34" charset="-122"/>
                <a:cs typeface="Arial" pitchFamily="34" charset="-120"/>
              </a:rPr>
              <a:t>Week 0</a:t>
            </a:r>
            <a:endParaRPr lang="en-US" sz="1500" dirty="0"/>
          </a:p>
        </p:txBody>
      </p:sp>
      <p:sp>
        <p:nvSpPr>
          <p:cNvPr id="9" name="Text 7"/>
          <p:cNvSpPr txBox="1"/>
          <p:nvPr/>
        </p:nvSpPr>
        <p:spPr>
          <a:xfrm>
            <a:off x="1051560" y="3840480"/>
            <a:ext cx="2834640" cy="914400"/>
          </a:xfrm>
          <a:prstGeom prst="rect">
            <a:avLst/>
          </a:prstGeom>
          <a:noFill/>
          <a:ln/>
        </p:spPr>
        <p:txBody>
          <a:bodyPr wrap="square" lIns="0" tIns="0" rIns="0" bIns="0" rtlCol="0" anchor="ctr"/>
          <a:lstStyle/>
          <a:p>
            <a:pPr indent="0" marL="0">
              <a:lnSpc>
                <a:spcPts val="1800"/>
              </a:lnSpc>
              <a:buNone/>
            </a:pPr>
            <a:r>
              <a:rPr lang="en-US" sz="1250" dirty="0">
                <a:solidFill>
                  <a:srgbClr val="475663"/>
                </a:solidFill>
                <a:latin typeface="Calibri" pitchFamily="34" charset="0"/>
                <a:ea typeface="Calibri" pitchFamily="34" charset="-122"/>
                <a:cs typeface="Calibri" pitchFamily="34" charset="-120"/>
              </a:rPr>
              <a:t>One team, 10–100 people. Invited by email, and a named sponsor on your side and ours.</a:t>
            </a:r>
            <a:endParaRPr lang="en-US" sz="1250" dirty="0"/>
          </a:p>
        </p:txBody>
      </p:sp>
      <p:sp>
        <p:nvSpPr>
          <p:cNvPr id="10" name="Shape 8"/>
          <p:cNvSpPr/>
          <p:nvPr/>
        </p:nvSpPr>
        <p:spPr>
          <a:xfrm>
            <a:off x="4389120" y="2514600"/>
            <a:ext cx="3502152" cy="2377440"/>
          </a:xfrm>
          <a:prstGeom prst="roundRect">
            <a:avLst>
              <a:gd name="adj" fmla="val 3077"/>
            </a:avLst>
          </a:prstGeom>
          <a:solidFill>
            <a:srgbClr val="F4F7F9"/>
          </a:solidFill>
          <a:ln w="12700">
            <a:solidFill>
              <a:srgbClr val="F4F7F9"/>
            </a:solidFill>
            <a:prstDash val="solid"/>
          </a:ln>
          <a:effectLst>
            <a:outerShdw sx="100000" sy="100000" kx="0" ky="0" algn="bl" rotWithShape="0" blurRad="127000" dist="508" dir="5400000">
              <a:srgbClr val="9AA8B4">
                <a:alpha val="25000"/>
              </a:srgbClr>
            </a:outerShdw>
          </a:effectLst>
        </p:spPr>
      </p:sp>
      <p:sp>
        <p:nvSpPr>
          <p:cNvPr id="11" name="Shape 9"/>
          <p:cNvSpPr/>
          <p:nvPr/>
        </p:nvSpPr>
        <p:spPr>
          <a:xfrm>
            <a:off x="4709160" y="2743200"/>
            <a:ext cx="548640" cy="548640"/>
          </a:xfrm>
          <a:prstGeom prst="ellipse">
            <a:avLst/>
          </a:prstGeom>
          <a:solidFill>
            <a:srgbClr val="00A99D"/>
          </a:solidFill>
          <a:ln/>
        </p:spPr>
      </p:sp>
      <p:sp>
        <p:nvSpPr>
          <p:cNvPr id="12" name="Text 10"/>
          <p:cNvSpPr txBox="1"/>
          <p:nvPr/>
        </p:nvSpPr>
        <p:spPr>
          <a:xfrm>
            <a:off x="4709160" y="2816352"/>
            <a:ext cx="548640" cy="4114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3" name="Text 11"/>
          <p:cNvSpPr txBox="1"/>
          <p:nvPr/>
        </p:nvSpPr>
        <p:spPr>
          <a:xfrm>
            <a:off x="4709160" y="3456432"/>
            <a:ext cx="2834640" cy="320040"/>
          </a:xfrm>
          <a:prstGeom prst="rect">
            <a:avLst/>
          </a:prstGeom>
          <a:noFill/>
          <a:ln/>
        </p:spPr>
        <p:txBody>
          <a:bodyPr wrap="square" lIns="0" tIns="0" rIns="0" bIns="0" rtlCol="0" anchor="ctr"/>
          <a:lstStyle/>
          <a:p>
            <a:pPr indent="0" marL="0">
              <a:buNone/>
            </a:pPr>
            <a:r>
              <a:rPr lang="en-US" sz="1500" b="1" dirty="0">
                <a:solidFill>
                  <a:srgbClr val="102A43"/>
                </a:solidFill>
                <a:latin typeface="Arial" pitchFamily="34" charset="0"/>
                <a:ea typeface="Arial" pitchFamily="34" charset="-122"/>
                <a:cs typeface="Arial" pitchFamily="34" charset="-120"/>
              </a:rPr>
              <a:t>Weeks 1–8</a:t>
            </a:r>
            <a:endParaRPr lang="en-US" sz="1500" dirty="0"/>
          </a:p>
        </p:txBody>
      </p:sp>
      <p:sp>
        <p:nvSpPr>
          <p:cNvPr id="14" name="Text 12"/>
          <p:cNvSpPr txBox="1"/>
          <p:nvPr/>
        </p:nvSpPr>
        <p:spPr>
          <a:xfrm>
            <a:off x="4709160" y="3840480"/>
            <a:ext cx="2834640" cy="914400"/>
          </a:xfrm>
          <a:prstGeom prst="rect">
            <a:avLst/>
          </a:prstGeom>
          <a:noFill/>
          <a:ln/>
        </p:spPr>
        <p:txBody>
          <a:bodyPr wrap="square" lIns="0" tIns="0" rIns="0" bIns="0" rtlCol="0" anchor="ctr"/>
          <a:lstStyle/>
          <a:p>
            <a:pPr indent="0" marL="0">
              <a:lnSpc>
                <a:spcPts val="1800"/>
              </a:lnSpc>
              <a:buNone/>
            </a:pPr>
            <a:r>
              <a:rPr lang="en-US" sz="1250" dirty="0">
                <a:solidFill>
                  <a:srgbClr val="475663"/>
                </a:solidFill>
                <a:latin typeface="Calibri" pitchFamily="34" charset="0"/>
                <a:ea typeface="Calibri" pitchFamily="34" charset="-122"/>
                <a:cs typeface="Calibri" pitchFamily="34" charset="-120"/>
              </a:rPr>
              <a:t>People use it. We watch the held rate and completion, not the vanity numbers.</a:t>
            </a:r>
            <a:endParaRPr lang="en-US" sz="1250" dirty="0"/>
          </a:p>
        </p:txBody>
      </p:sp>
      <p:sp>
        <p:nvSpPr>
          <p:cNvPr id="15" name="Shape 13"/>
          <p:cNvSpPr/>
          <p:nvPr/>
        </p:nvSpPr>
        <p:spPr>
          <a:xfrm>
            <a:off x="8046720" y="2514600"/>
            <a:ext cx="3502152" cy="2377440"/>
          </a:xfrm>
          <a:prstGeom prst="roundRect">
            <a:avLst>
              <a:gd name="adj" fmla="val 3077"/>
            </a:avLst>
          </a:prstGeom>
          <a:solidFill>
            <a:srgbClr val="F4F7F9"/>
          </a:solidFill>
          <a:ln w="12700">
            <a:solidFill>
              <a:srgbClr val="F4F7F9"/>
            </a:solidFill>
            <a:prstDash val="solid"/>
          </a:ln>
          <a:effectLst>
            <a:outerShdw sx="100000" sy="100000" kx="0" ky="0" algn="bl" rotWithShape="0" blurRad="127000" dist="508" dir="5400000">
              <a:srgbClr val="9AA8B4">
                <a:alpha val="25000"/>
              </a:srgbClr>
            </a:outerShdw>
          </a:effectLst>
        </p:spPr>
      </p:sp>
      <p:sp>
        <p:nvSpPr>
          <p:cNvPr id="16" name="Shape 14"/>
          <p:cNvSpPr/>
          <p:nvPr/>
        </p:nvSpPr>
        <p:spPr>
          <a:xfrm>
            <a:off x="8366760" y="2743200"/>
            <a:ext cx="548640" cy="548640"/>
          </a:xfrm>
          <a:prstGeom prst="ellipse">
            <a:avLst/>
          </a:prstGeom>
          <a:solidFill>
            <a:srgbClr val="00A99D"/>
          </a:solidFill>
          <a:ln/>
        </p:spPr>
      </p:sp>
      <p:sp>
        <p:nvSpPr>
          <p:cNvPr id="17" name="Text 15"/>
          <p:cNvSpPr txBox="1"/>
          <p:nvPr/>
        </p:nvSpPr>
        <p:spPr>
          <a:xfrm>
            <a:off x="8366760" y="2816352"/>
            <a:ext cx="548640" cy="4114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8" name="Text 16"/>
          <p:cNvSpPr txBox="1"/>
          <p:nvPr/>
        </p:nvSpPr>
        <p:spPr>
          <a:xfrm>
            <a:off x="8366760" y="3456432"/>
            <a:ext cx="2834640" cy="320040"/>
          </a:xfrm>
          <a:prstGeom prst="rect">
            <a:avLst/>
          </a:prstGeom>
          <a:noFill/>
          <a:ln/>
        </p:spPr>
        <p:txBody>
          <a:bodyPr wrap="square" lIns="0" tIns="0" rIns="0" bIns="0" rtlCol="0" anchor="ctr"/>
          <a:lstStyle/>
          <a:p>
            <a:pPr indent="0" marL="0">
              <a:buNone/>
            </a:pPr>
            <a:r>
              <a:rPr lang="en-US" sz="1500" b="1" dirty="0">
                <a:solidFill>
                  <a:srgbClr val="102A43"/>
                </a:solidFill>
                <a:latin typeface="Arial" pitchFamily="34" charset="0"/>
                <a:ea typeface="Arial" pitchFamily="34" charset="-122"/>
                <a:cs typeface="Arial" pitchFamily="34" charset="-120"/>
              </a:rPr>
              <a:t>Weeks 9–12</a:t>
            </a:r>
            <a:endParaRPr lang="en-US" sz="1500" dirty="0"/>
          </a:p>
        </p:txBody>
      </p:sp>
      <p:sp>
        <p:nvSpPr>
          <p:cNvPr id="19" name="Text 17"/>
          <p:cNvSpPr txBox="1"/>
          <p:nvPr/>
        </p:nvSpPr>
        <p:spPr>
          <a:xfrm>
            <a:off x="8366760" y="3840480"/>
            <a:ext cx="2834640" cy="914400"/>
          </a:xfrm>
          <a:prstGeom prst="rect">
            <a:avLst/>
          </a:prstGeom>
          <a:noFill/>
          <a:ln/>
        </p:spPr>
        <p:txBody>
          <a:bodyPr wrap="square" lIns="0" tIns="0" rIns="0" bIns="0" rtlCol="0" anchor="ctr"/>
          <a:lstStyle/>
          <a:p>
            <a:pPr indent="0" marL="0">
              <a:lnSpc>
                <a:spcPts val="1800"/>
              </a:lnSpc>
              <a:buNone/>
            </a:pPr>
            <a:r>
              <a:rPr lang="en-US" sz="1250" dirty="0">
                <a:solidFill>
                  <a:srgbClr val="475663"/>
                </a:solidFill>
                <a:latin typeface="Calibri" pitchFamily="34" charset="0"/>
                <a:ea typeface="Calibri" pitchFamily="34" charset="-122"/>
                <a:cs typeface="Calibri" pitchFamily="34" charset="-120"/>
              </a:rPr>
              <a:t>Cohort report against baseline. Honest review — including whether it did nothing.</a:t>
            </a:r>
            <a:endParaRPr lang="en-US" sz="1250" dirty="0"/>
          </a:p>
        </p:txBody>
      </p:sp>
      <p:sp>
        <p:nvSpPr>
          <p:cNvPr id="20" name="Shape 18"/>
          <p:cNvSpPr/>
          <p:nvPr/>
        </p:nvSpPr>
        <p:spPr>
          <a:xfrm>
            <a:off x="731520" y="5120640"/>
            <a:ext cx="10698480" cy="960120"/>
          </a:xfrm>
          <a:prstGeom prst="roundRect">
            <a:avLst>
              <a:gd name="adj" fmla="val 7619"/>
            </a:avLst>
          </a:prstGeom>
          <a:solidFill>
            <a:srgbClr val="F4F7F9"/>
          </a:solidFill>
          <a:ln w="12700">
            <a:solidFill>
              <a:srgbClr val="F4F7F9"/>
            </a:solidFill>
            <a:prstDash val="solid"/>
          </a:ln>
          <a:effectLst>
            <a:outerShdw sx="100000" sy="100000" kx="0" ky="0" algn="bl" rotWithShape="0" blurRad="127000" dist="508" dir="5400000">
              <a:srgbClr val="9AA8B4">
                <a:alpha val="25000"/>
              </a:srgbClr>
            </a:outerShdw>
          </a:effectLst>
        </p:spPr>
      </p:sp>
      <p:sp>
        <p:nvSpPr>
          <p:cNvPr id="21" name="Text 19"/>
          <p:cNvSpPr txBox="1"/>
          <p:nvPr/>
        </p:nvSpPr>
        <p:spPr>
          <a:xfrm>
            <a:off x="1097280" y="5321808"/>
            <a:ext cx="9966960" cy="594360"/>
          </a:xfrm>
          <a:prstGeom prst="rect">
            <a:avLst/>
          </a:prstGeom>
          <a:noFill/>
          <a:ln/>
        </p:spPr>
        <p:txBody>
          <a:bodyPr wrap="square" lIns="0" tIns="0" rIns="0" bIns="0" rtlCol="0" anchor="ctr"/>
          <a:lstStyle/>
          <a:p>
            <a:pPr indent="0" marL="0">
              <a:lnSpc>
                <a:spcPts val="2000"/>
              </a:lnSpc>
              <a:buNone/>
            </a:pPr>
            <a:r>
              <a:rPr lang="en-US" sz="1350" i="1" dirty="0">
                <a:solidFill>
                  <a:srgbClr val="102A43"/>
                </a:solidFill>
                <a:latin typeface="Calibri" pitchFamily="34" charset="0"/>
                <a:ea typeface="Calibri" pitchFamily="34" charset="-122"/>
                <a:cs typeface="Calibri" pitchFamily="34" charset="-120"/>
              </a:rPr>
              <a:t>If the pilot shows it did not work, we would rather know at week twelve than sell you a second year. That is the whole basis of the programme.</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731520" y="1874520"/>
            <a:ext cx="201168" cy="201168"/>
          </a:xfrm>
          <a:prstGeom prst="ellipse">
            <a:avLst/>
          </a:prstGeom>
          <a:solidFill>
            <a:srgbClr val="00A99D"/>
          </a:solidFill>
          <a:ln/>
        </p:spPr>
      </p:sp>
      <p:sp>
        <p:nvSpPr>
          <p:cNvPr id="3" name="Text 1"/>
          <p:cNvSpPr txBox="1"/>
          <p:nvPr/>
        </p:nvSpPr>
        <p:spPr>
          <a:xfrm>
            <a:off x="1078992" y="1810512"/>
            <a:ext cx="7315200" cy="365760"/>
          </a:xfrm>
          <a:prstGeom prst="rect">
            <a:avLst/>
          </a:prstGeom>
          <a:noFill/>
          <a:ln/>
        </p:spPr>
        <p:txBody>
          <a:bodyPr wrap="square" lIns="0" tIns="0" rIns="0" bIns="0" rtlCol="0" anchor="ctr"/>
          <a:lstStyle/>
          <a:p>
            <a:pPr indent="0" marL="0">
              <a:buNone/>
            </a:pPr>
            <a:r>
              <a:rPr lang="en-US" sz="1700" b="1" spc="500" kern="0" dirty="0">
                <a:solidFill>
                  <a:srgbClr val="FFFFFF"/>
                </a:solidFill>
                <a:latin typeface="Arial" pitchFamily="34" charset="0"/>
                <a:ea typeface="Arial" pitchFamily="34" charset="-122"/>
                <a:cs typeface="Arial" pitchFamily="34" charset="-120"/>
              </a:rPr>
              <a:t>JESS MOVE</a:t>
            </a:r>
            <a:endParaRPr lang="en-US" sz="1700" dirty="0"/>
          </a:p>
        </p:txBody>
      </p:sp>
      <p:sp>
        <p:nvSpPr>
          <p:cNvPr id="4" name="Text 2"/>
          <p:cNvSpPr txBox="1"/>
          <p:nvPr/>
        </p:nvSpPr>
        <p:spPr>
          <a:xfrm>
            <a:off x="731520" y="2468880"/>
            <a:ext cx="8229600" cy="1737360"/>
          </a:xfrm>
          <a:prstGeom prst="rect">
            <a:avLst/>
          </a:prstGeom>
          <a:noFill/>
          <a:ln/>
        </p:spPr>
        <p:txBody>
          <a:bodyPr wrap="square" lIns="0" tIns="0" rIns="0" bIns="0" rtlCol="0" anchor="ctr"/>
          <a:lstStyle/>
          <a:p>
            <a:pPr indent="0" marL="0">
              <a:lnSpc>
                <a:spcPts val="5400"/>
              </a:lnSpc>
              <a:buNone/>
            </a:pPr>
            <a:r>
              <a:rPr lang="en-US" sz="5000" b="1" dirty="0">
                <a:solidFill>
                  <a:srgbClr val="FFFFFF"/>
                </a:solidFill>
                <a:latin typeface="Cambria" pitchFamily="34" charset="0"/>
                <a:ea typeface="Cambria" pitchFamily="34" charset="-122"/>
                <a:cs typeface="Cambria" pitchFamily="34" charset="-120"/>
              </a:rPr>
              <a:t>Two minutes is</a:t>
            </a:r>
            <a:endParaRPr lang="en-US" sz="5000" dirty="0"/>
          </a:p>
          <a:p>
            <a:pPr indent="0" marL="0">
              <a:lnSpc>
                <a:spcPts val="5400"/>
              </a:lnSpc>
              <a:buNone/>
            </a:pPr>
            <a:r>
              <a:rPr lang="en-US" sz="5000" b="1" dirty="0">
                <a:solidFill>
                  <a:srgbClr val="FFFFFF"/>
                </a:solidFill>
                <a:latin typeface="Cambria" pitchFamily="34" charset="0"/>
                <a:ea typeface="Cambria" pitchFamily="34" charset="-122"/>
                <a:cs typeface="Cambria" pitchFamily="34" charset="-120"/>
              </a:rPr>
              <a:t>the whole ask.</a:t>
            </a:r>
            <a:endParaRPr lang="en-US" sz="5000" dirty="0"/>
          </a:p>
        </p:txBody>
      </p:sp>
      <p:sp>
        <p:nvSpPr>
          <p:cNvPr id="5" name="Text 3"/>
          <p:cNvSpPr txBox="1"/>
          <p:nvPr/>
        </p:nvSpPr>
        <p:spPr>
          <a:xfrm>
            <a:off x="731520" y="4389120"/>
            <a:ext cx="6583680" cy="822960"/>
          </a:xfrm>
          <a:prstGeom prst="rect">
            <a:avLst/>
          </a:prstGeom>
          <a:noFill/>
          <a:ln/>
        </p:spPr>
        <p:txBody>
          <a:bodyPr wrap="square" lIns="0" tIns="0" rIns="0" bIns="0" rtlCol="0" anchor="ctr"/>
          <a:lstStyle/>
          <a:p>
            <a:pPr indent="0" marL="0">
              <a:lnSpc>
                <a:spcPts val="2300"/>
              </a:lnSpc>
              <a:buNone/>
            </a:pPr>
            <a:r>
              <a:rPr lang="en-US" sz="1500" dirty="0">
                <a:solidFill>
                  <a:srgbClr val="B8C6D1"/>
                </a:solidFill>
                <a:latin typeface="Calibri" pitchFamily="34" charset="0"/>
                <a:ea typeface="Calibri" pitchFamily="34" charset="-122"/>
                <a:cs typeface="Calibri" pitchFamily="34" charset="-120"/>
              </a:rPr>
              <a:t>Of an employee’s day, and of yours to decide whether a twelve-week pilot is worth running.</a:t>
            </a:r>
            <a:endParaRPr lang="en-US" sz="1500" dirty="0"/>
          </a:p>
        </p:txBody>
      </p:sp>
      <p:sp>
        <p:nvSpPr>
          <p:cNvPr id="6" name="Shape 4"/>
          <p:cNvSpPr/>
          <p:nvPr/>
        </p:nvSpPr>
        <p:spPr>
          <a:xfrm>
            <a:off x="7680960" y="2377440"/>
            <a:ext cx="3749040" cy="2286000"/>
          </a:xfrm>
          <a:prstGeom prst="roundRect">
            <a:avLst>
              <a:gd name="adj" fmla="val 3200"/>
            </a:avLst>
          </a:prstGeom>
          <a:solidFill>
            <a:srgbClr val="1B3A54"/>
          </a:solidFill>
          <a:ln w="12700">
            <a:solidFill>
              <a:srgbClr val="1B3A54"/>
            </a:solidFill>
            <a:prstDash val="solid"/>
          </a:ln>
          <a:effectLst>
            <a:outerShdw sx="100000" sy="100000" kx="0" ky="0" algn="bl" rotWithShape="0" blurRad="127000" dist="508" dir="5400000">
              <a:srgbClr val="9AA8B4">
                <a:alpha val="25000"/>
              </a:srgbClr>
            </a:outerShdw>
          </a:effectLst>
        </p:spPr>
      </p:sp>
      <p:sp>
        <p:nvSpPr>
          <p:cNvPr id="7" name="Text 5"/>
          <p:cNvSpPr txBox="1"/>
          <p:nvPr/>
        </p:nvSpPr>
        <p:spPr>
          <a:xfrm>
            <a:off x="8046720" y="2651760"/>
            <a:ext cx="3017520" cy="320040"/>
          </a:xfrm>
          <a:prstGeom prst="rect">
            <a:avLst/>
          </a:prstGeom>
          <a:noFill/>
          <a:ln/>
        </p:spPr>
        <p:txBody>
          <a:bodyPr wrap="square" lIns="0" tIns="0" rIns="0" bIns="0" rtlCol="0" anchor="ctr"/>
          <a:lstStyle/>
          <a:p>
            <a:pPr indent="0" marL="0">
              <a:buNone/>
            </a:pPr>
            <a:r>
              <a:rPr lang="en-US" sz="1400" b="1" dirty="0">
                <a:solidFill>
                  <a:srgbClr val="B7E436"/>
                </a:solidFill>
                <a:latin typeface="Arial" pitchFamily="34" charset="0"/>
                <a:ea typeface="Arial" pitchFamily="34" charset="-122"/>
                <a:cs typeface="Arial" pitchFamily="34" charset="-120"/>
              </a:rPr>
              <a:t>Next step</a:t>
            </a:r>
            <a:endParaRPr lang="en-US" sz="1400" dirty="0"/>
          </a:p>
        </p:txBody>
      </p:sp>
      <p:sp>
        <p:nvSpPr>
          <p:cNvPr id="8" name="Text 6"/>
          <p:cNvSpPr txBox="1"/>
          <p:nvPr/>
        </p:nvSpPr>
        <p:spPr>
          <a:xfrm>
            <a:off x="8046720" y="3108960"/>
            <a:ext cx="310896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jessmove.com/industries</a:t>
            </a:r>
            <a:endParaRPr lang="en-US" sz="1400" dirty="0"/>
          </a:p>
        </p:txBody>
      </p:sp>
      <p:sp>
        <p:nvSpPr>
          <p:cNvPr id="9" name="Text 7"/>
          <p:cNvSpPr txBox="1"/>
          <p:nvPr/>
        </p:nvSpPr>
        <p:spPr>
          <a:xfrm>
            <a:off x="8046720" y="3566160"/>
            <a:ext cx="3108960" cy="914400"/>
          </a:xfrm>
          <a:prstGeom prst="rect">
            <a:avLst/>
          </a:prstGeom>
          <a:noFill/>
          <a:ln/>
        </p:spPr>
        <p:txBody>
          <a:bodyPr wrap="square" lIns="0" tIns="0" rIns="0" bIns="0" rtlCol="0" anchor="ctr"/>
          <a:lstStyle/>
          <a:p>
            <a:pPr indent="0" marL="0">
              <a:lnSpc>
                <a:spcPts val="1800"/>
              </a:lnSpc>
              <a:buNone/>
            </a:pPr>
            <a:r>
              <a:rPr lang="en-US" sz="1200" dirty="0">
                <a:solidFill>
                  <a:srgbClr val="D6E2EA"/>
                </a:solidFill>
                <a:latin typeface="Calibri" pitchFamily="34" charset="0"/>
                <a:ea typeface="Calibri" pitchFamily="34" charset="-122"/>
                <a:cs typeface="Calibri" pitchFamily="34" charset="-120"/>
              </a:rPr>
              <a:t>A thirty-minute call, and we will run the verification endpoints live if your security team wants to watch.</a:t>
            </a:r>
            <a:endParaRPr lang="en-US" sz="1200" dirty="0"/>
          </a:p>
        </p:txBody>
      </p:sp>
      <p:sp>
        <p:nvSpPr>
          <p:cNvPr id="10" name="Text 8"/>
          <p:cNvSpPr txBox="1"/>
          <p:nvPr/>
        </p:nvSpPr>
        <p:spPr>
          <a:xfrm>
            <a:off x="731520" y="5943600"/>
            <a:ext cx="10698480" cy="457200"/>
          </a:xfrm>
          <a:prstGeom prst="rect">
            <a:avLst/>
          </a:prstGeom>
          <a:noFill/>
          <a:ln/>
        </p:spPr>
        <p:txBody>
          <a:bodyPr wrap="square" lIns="0" tIns="0" rIns="0" bIns="0" rtlCol="0" anchor="ctr"/>
          <a:lstStyle/>
          <a:p>
            <a:pPr indent="0" marL="0">
              <a:buNone/>
            </a:pPr>
            <a:r>
              <a:rPr lang="en-US" sz="1050" dirty="0">
                <a:solidFill>
                  <a:srgbClr val="A7B8C6"/>
                </a:solidFill>
                <a:latin typeface="Calibri" pitchFamily="34" charset="0"/>
                <a:ea typeface="Calibri" pitchFamily="34" charset="-122"/>
                <a:cs typeface="Calibri" pitchFamily="34" charset="-120"/>
              </a:rPr>
              <a:t>Jess Move does not diagnose any condition and never contacts emergency services. In the UK, call 999 for an emergency and 111 for urgent health advice.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JESS MOVE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JESS MOVE — for organisations</dc:title>
  <dc:subject>PptxGenJS Presentation</dc:subject>
  <dc:creator>JESS MOVE</dc:creator>
  <cp:lastModifiedBy>JESS MOVE</cp:lastModifiedBy>
  <cp:revision>1</cp:revision>
  <dcterms:created xsi:type="dcterms:W3CDTF">2026-09-12T11:47:50Z</dcterms:created>
  <dcterms:modified xsi:type="dcterms:W3CDTF">2026-09-12T11:47:50Z</dcterms:modified>
</cp:coreProperties>
</file>